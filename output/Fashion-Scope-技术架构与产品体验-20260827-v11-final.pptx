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0e2bbfbf9d42ba" /><Relationship Type="http://schemas.openxmlformats.org/officeDocument/2006/relationships/extended-properties" Target="/docProps/app.xml" Id="Rc18ebfcdc9dd4865" /><Relationship Type="http://schemas.openxmlformats.org/officeDocument/2006/relationships/officeDocument" Target="/ppt/presentation.xml" Id="R93d97d9fbaaa45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a071e1cc4c43b4"/>
  </p:sldMasterIdLst>
  <p:notesMasterIdLst>
    <p:notesMasterId xmlns:r="http://schemas.openxmlformats.org/officeDocument/2006/relationships" r:id="R6f49e7b8f61e4adb"/>
  </p:notesMasterIdLst>
  <p:sldIdLst>
    <p:sldId xmlns:r="http://schemas.openxmlformats.org/officeDocument/2006/relationships" id="256" r:id="Rbe99b9ba0d6e4c11"/>
    <p:sldId xmlns:r="http://schemas.openxmlformats.org/officeDocument/2006/relationships" id="257" r:id="Rd9a11556f1354998"/>
    <p:sldId xmlns:r="http://schemas.openxmlformats.org/officeDocument/2006/relationships" id="258" r:id="R8ca9d054617e4832"/>
    <p:sldId xmlns:r="http://schemas.openxmlformats.org/officeDocument/2006/relationships" id="259" r:id="R482655e9a1ea4193"/>
    <p:sldId xmlns:r="http://schemas.openxmlformats.org/officeDocument/2006/relationships" id="260" r:id="R2457662f1c07462d"/>
    <p:sldId xmlns:r="http://schemas.openxmlformats.org/officeDocument/2006/relationships" id="261" r:id="Ra6c14309edde4c45"/>
    <p:sldId xmlns:r="http://schemas.openxmlformats.org/officeDocument/2006/relationships" id="262" r:id="Rf5312244373c46aa"/>
    <p:sldId xmlns:r="http://schemas.openxmlformats.org/officeDocument/2006/relationships" id="263" r:id="Rfef19fbb981541ab"/>
    <p:sldId xmlns:r="http://schemas.openxmlformats.org/officeDocument/2006/relationships" id="264" r:id="R39d87bbe748b455c"/>
    <p:sldId xmlns:r="http://schemas.openxmlformats.org/officeDocument/2006/relationships" id="265" r:id="R82907088a23b408a"/>
    <p:sldId xmlns:r="http://schemas.openxmlformats.org/officeDocument/2006/relationships" id="266" r:id="Rb26dfb5d762a40fa"/>
    <p:sldId xmlns:r="http://schemas.openxmlformats.org/officeDocument/2006/relationships" id="267" r:id="R465f0b7367d14ca3"/>
    <p:sldId xmlns:r="http://schemas.openxmlformats.org/officeDocument/2006/relationships" id="268" r:id="Rbe43ca6a000c4508"/>
    <p:sldId xmlns:r="http://schemas.openxmlformats.org/officeDocument/2006/relationships" id="269" r:id="R688cd49108a641f8"/>
    <p:sldId xmlns:r="http://schemas.openxmlformats.org/officeDocument/2006/relationships" id="270" r:id="R457fe4efa9b746f5"/>
    <p:sldId xmlns:r="http://schemas.openxmlformats.org/officeDocument/2006/relationships" id="271" r:id="Raa802babede04b75"/>
    <p:sldId xmlns:r="http://schemas.openxmlformats.org/officeDocument/2006/relationships" id="272" r:id="R0f733093a12f4049"/>
    <p:sldId xmlns:r="http://schemas.openxmlformats.org/officeDocument/2006/relationships" id="273" r:id="Re45f960684774c1e"/>
    <p:sldId xmlns:r="http://schemas.openxmlformats.org/officeDocument/2006/relationships" id="274" r:id="Rda04a0c05a164a58"/>
    <p:sldId xmlns:r="http://schemas.openxmlformats.org/officeDocument/2006/relationships" id="275" r:id="Rc13fe13206344fb9"/>
    <p:sldId xmlns:r="http://schemas.openxmlformats.org/officeDocument/2006/relationships" id="276" r:id="R641927e11b344160"/>
    <p:sldId xmlns:r="http://schemas.openxmlformats.org/officeDocument/2006/relationships" id="277" r:id="R47288daa393d45af"/>
    <p:sldId xmlns:r="http://schemas.openxmlformats.org/officeDocument/2006/relationships" id="278" r:id="Ra51a775c073c4119"/>
    <p:sldId xmlns:r="http://schemas.openxmlformats.org/officeDocument/2006/relationships" id="279" r:id="Rb010265df0b34155"/>
    <p:sldId xmlns:r="http://schemas.openxmlformats.org/officeDocument/2006/relationships" id="280" r:id="Ref0647f97adf48bd"/>
    <p:sldId xmlns:r="http://schemas.openxmlformats.org/officeDocument/2006/relationships" id="281" r:id="R90cc1d5b47b74601"/>
    <p:sldId xmlns:r="http://schemas.openxmlformats.org/officeDocument/2006/relationships" id="282" r:id="R961566dee63b4d9b"/>
    <p:sldId xmlns:r="http://schemas.openxmlformats.org/officeDocument/2006/relationships" id="283" r:id="R08160c0b414c41dd"/>
    <p:sldId xmlns:r="http://schemas.openxmlformats.org/officeDocument/2006/relationships" id="284" r:id="R92ed7e5b13514459"/>
    <p:sldId xmlns:r="http://schemas.openxmlformats.org/officeDocument/2006/relationships" id="285" r:id="R4cf6a09d129d4373"/>
    <p:sldId xmlns:r="http://schemas.openxmlformats.org/officeDocument/2006/relationships" id="286" r:id="Rc9f8891a92cb43b6"/>
    <p:sldId xmlns:r="http://schemas.openxmlformats.org/officeDocument/2006/relationships" id="287" r:id="R44d712bbcd8b4c78"/>
    <p:sldId xmlns:r="http://schemas.openxmlformats.org/officeDocument/2006/relationships" id="288" r:id="R11cf8228af6045f9"/>
    <p:sldId xmlns:r="http://schemas.openxmlformats.org/officeDocument/2006/relationships" id="289" r:id="Rb04129febd6645fe"/>
    <p:sldId xmlns:r="http://schemas.openxmlformats.org/officeDocument/2006/relationships" id="290" r:id="R43a31360e29a4607"/>
    <p:sldId xmlns:r="http://schemas.openxmlformats.org/officeDocument/2006/relationships" id="291" r:id="Rd2c5d3e25cb74833"/>
    <p:sldId xmlns:r="http://schemas.openxmlformats.org/officeDocument/2006/relationships" id="292" r:id="Ref3a1d71d9184d73"/>
    <p:sldId xmlns:r="http://schemas.openxmlformats.org/officeDocument/2006/relationships" id="293" r:id="R4958354742894a93"/>
    <p:sldId xmlns:r="http://schemas.openxmlformats.org/officeDocument/2006/relationships" id="294" r:id="Re75c66601f7047ab"/>
    <p:sldId xmlns:r="http://schemas.openxmlformats.org/officeDocument/2006/relationships" id="295" r:id="Rbf09ec567a014548"/>
    <p:sldId xmlns:r="http://schemas.openxmlformats.org/officeDocument/2006/relationships" id="296" r:id="R44f9b91eff824210"/>
    <p:sldId xmlns:r="http://schemas.openxmlformats.org/officeDocument/2006/relationships" id="297" r:id="Ref9560fe1b1947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4c02aaf864cb6" /><Relationship Type="http://schemas.openxmlformats.org/officeDocument/2006/relationships/slideMaster" Target="/ppt/slideMasters/slideMaster1.xml" Id="Rc5a071e1cc4c43b4" /><Relationship Type="http://schemas.openxmlformats.org/officeDocument/2006/relationships/notesMaster" Target="/ppt/notesMasters/notesMaster1.xml" Id="R6f49e7b8f61e4adb" /><Relationship Type="http://schemas.openxmlformats.org/officeDocument/2006/relationships/presProps" Target="/ppt/presProps.xml" Id="R98a392a75fb34f57" /><Relationship Type="http://schemas.openxmlformats.org/officeDocument/2006/relationships/tableStyles" Target="/ppt/tableStyles.xml" Id="R6d01e8194bab4d8a" /><Relationship Type="http://schemas.openxmlformats.org/officeDocument/2006/relationships/slide" Target="/ppt/slides/slide1.xml" Id="Rbe99b9ba0d6e4c11" /><Relationship Type="http://schemas.openxmlformats.org/officeDocument/2006/relationships/slide" Target="/ppt/slides/slide2.xml" Id="Rd9a11556f1354998" /><Relationship Type="http://schemas.openxmlformats.org/officeDocument/2006/relationships/slide" Target="/ppt/slides/slide3.xml" Id="R8ca9d054617e4832" /><Relationship Type="http://schemas.openxmlformats.org/officeDocument/2006/relationships/slide" Target="/ppt/slides/slide4.xml" Id="R482655e9a1ea4193" /><Relationship Type="http://schemas.openxmlformats.org/officeDocument/2006/relationships/slide" Target="/ppt/slides/slide5.xml" Id="R2457662f1c07462d" /><Relationship Type="http://schemas.openxmlformats.org/officeDocument/2006/relationships/slide" Target="/ppt/slides/slide6.xml" Id="Ra6c14309edde4c45" /><Relationship Type="http://schemas.openxmlformats.org/officeDocument/2006/relationships/slide" Target="/ppt/slides/slide7.xml" Id="Rf5312244373c46aa" /><Relationship Type="http://schemas.openxmlformats.org/officeDocument/2006/relationships/slide" Target="/ppt/slides/slide8.xml" Id="Rfef19fbb981541ab" /><Relationship Type="http://schemas.openxmlformats.org/officeDocument/2006/relationships/slide" Target="/ppt/slides/slide9.xml" Id="R39d87bbe748b455c" /><Relationship Type="http://schemas.openxmlformats.org/officeDocument/2006/relationships/slide" Target="/ppt/slides/slide10.xml" Id="R82907088a23b408a" /><Relationship Type="http://schemas.openxmlformats.org/officeDocument/2006/relationships/slide" Target="/ppt/slides/slide11.xml" Id="Rb26dfb5d762a40fa" /><Relationship Type="http://schemas.openxmlformats.org/officeDocument/2006/relationships/slide" Target="/ppt/slides/slide12.xml" Id="R465f0b7367d14ca3" /><Relationship Type="http://schemas.openxmlformats.org/officeDocument/2006/relationships/slide" Target="/ppt/slides/slide13.xml" Id="Rbe43ca6a000c4508" /><Relationship Type="http://schemas.openxmlformats.org/officeDocument/2006/relationships/slide" Target="/ppt/slides/slide14.xml" Id="R688cd49108a641f8" /><Relationship Type="http://schemas.openxmlformats.org/officeDocument/2006/relationships/slide" Target="/ppt/slides/slide15.xml" Id="R457fe4efa9b746f5" /><Relationship Type="http://schemas.openxmlformats.org/officeDocument/2006/relationships/slide" Target="/ppt/slides/slide16.xml" Id="Raa802babede04b75" /><Relationship Type="http://schemas.openxmlformats.org/officeDocument/2006/relationships/slide" Target="/ppt/slides/slide17.xml" Id="R0f733093a12f4049" /><Relationship Type="http://schemas.openxmlformats.org/officeDocument/2006/relationships/slide" Target="/ppt/slides/slide18.xml" Id="Re45f960684774c1e" /><Relationship Type="http://schemas.openxmlformats.org/officeDocument/2006/relationships/slide" Target="/ppt/slides/slide19.xml" Id="Rda04a0c05a164a58" /><Relationship Type="http://schemas.openxmlformats.org/officeDocument/2006/relationships/slide" Target="/ppt/slides/slide20.xml" Id="Rc13fe13206344fb9" /><Relationship Type="http://schemas.openxmlformats.org/officeDocument/2006/relationships/slide" Target="/ppt/slides/slide21.xml" Id="R641927e11b344160" /><Relationship Type="http://schemas.openxmlformats.org/officeDocument/2006/relationships/slide" Target="/ppt/slides/slide22.xml" Id="R47288daa393d45af" /><Relationship Type="http://schemas.openxmlformats.org/officeDocument/2006/relationships/slide" Target="/ppt/slides/slide23.xml" Id="Ra51a775c073c4119" /><Relationship Type="http://schemas.openxmlformats.org/officeDocument/2006/relationships/slide" Target="/ppt/slides/slide24.xml" Id="Rb010265df0b34155" /><Relationship Type="http://schemas.openxmlformats.org/officeDocument/2006/relationships/slide" Target="/ppt/slides/slide25.xml" Id="Ref0647f97adf48bd" /><Relationship Type="http://schemas.openxmlformats.org/officeDocument/2006/relationships/slide" Target="/ppt/slides/slide26.xml" Id="R90cc1d5b47b74601" /><Relationship Type="http://schemas.openxmlformats.org/officeDocument/2006/relationships/slide" Target="/ppt/slides/slide27.xml" Id="R961566dee63b4d9b" /><Relationship Type="http://schemas.openxmlformats.org/officeDocument/2006/relationships/slide" Target="/ppt/slides/slide28.xml" Id="R08160c0b414c41dd" /><Relationship Type="http://schemas.openxmlformats.org/officeDocument/2006/relationships/slide" Target="/ppt/slides/slide29.xml" Id="R92ed7e5b13514459" /><Relationship Type="http://schemas.openxmlformats.org/officeDocument/2006/relationships/slide" Target="/ppt/slides/slide30.xml" Id="R4cf6a09d129d4373" /><Relationship Type="http://schemas.openxmlformats.org/officeDocument/2006/relationships/slide" Target="/ppt/slides/slide31.xml" Id="Rc9f8891a92cb43b6" /><Relationship Type="http://schemas.openxmlformats.org/officeDocument/2006/relationships/slide" Target="/ppt/slides/slide32.xml" Id="R44d712bbcd8b4c78" /><Relationship Type="http://schemas.openxmlformats.org/officeDocument/2006/relationships/slide" Target="/ppt/slides/slide33.xml" Id="R11cf8228af6045f9" /><Relationship Type="http://schemas.openxmlformats.org/officeDocument/2006/relationships/slide" Target="/ppt/slides/slide34.xml" Id="Rb04129febd6645fe" /><Relationship Type="http://schemas.openxmlformats.org/officeDocument/2006/relationships/slide" Target="/ppt/slides/slide35.xml" Id="R43a31360e29a4607" /><Relationship Type="http://schemas.openxmlformats.org/officeDocument/2006/relationships/slide" Target="/ppt/slides/slide36.xml" Id="Rd2c5d3e25cb74833" /><Relationship Type="http://schemas.openxmlformats.org/officeDocument/2006/relationships/slide" Target="/ppt/slides/slide37.xml" Id="Ref3a1d71d9184d73" /><Relationship Type="http://schemas.openxmlformats.org/officeDocument/2006/relationships/slide" Target="/ppt/slides/slide38.xml" Id="R4958354742894a93" /><Relationship Type="http://schemas.openxmlformats.org/officeDocument/2006/relationships/slide" Target="/ppt/slides/slide39.xml" Id="Re75c66601f7047ab" /><Relationship Type="http://schemas.openxmlformats.org/officeDocument/2006/relationships/slide" Target="/ppt/slides/slide40.xml" Id="Rbf09ec567a014548" /><Relationship Type="http://schemas.openxmlformats.org/officeDocument/2006/relationships/slide" Target="/ppt/slides/slide41.xml" Id="R44f9b91eff824210" /><Relationship Type="http://schemas.openxmlformats.org/officeDocument/2006/relationships/slide" Target="/ppt/slides/slide42.xml" Id="Ref9560fe1b1947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8e1458044d45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4eb5fa923645ba" /><Relationship Type="http://schemas.openxmlformats.org/officeDocument/2006/relationships/notesMaster" Target="/ppt/notesMasters/notesMaster1.xml" Id="Re43d4cbfa84c4e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ace51bc9eb4b6a" /><Relationship Type="http://schemas.openxmlformats.org/officeDocument/2006/relationships/notesMaster" Target="/ppt/notesMasters/notesMaster1.xml" Id="R2db4dcb2da0440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3bb4519b944643" /><Relationship Type="http://schemas.openxmlformats.org/officeDocument/2006/relationships/notesMaster" Target="/ppt/notesMasters/notesMaster1.xml" Id="R0e992e3e5ef941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c29af25f174409" /><Relationship Type="http://schemas.openxmlformats.org/officeDocument/2006/relationships/notesMaster" Target="/ppt/notesMasters/notesMaster1.xml" Id="Rd8ebb6bca11541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46633c371d4969" /><Relationship Type="http://schemas.openxmlformats.org/officeDocument/2006/relationships/notesMaster" Target="/ppt/notesMasters/notesMaster1.xml" Id="Rd7fe67b6c93146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63f555938b4ef0" /><Relationship Type="http://schemas.openxmlformats.org/officeDocument/2006/relationships/notesMaster" Target="/ppt/notesMasters/notesMaster1.xml" Id="Rb5a29eeac22246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b46d02e9f04917" /><Relationship Type="http://schemas.openxmlformats.org/officeDocument/2006/relationships/notesMaster" Target="/ppt/notesMasters/notesMaster1.xml" Id="R0790b98308e94d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019ad70b8a44f5" /><Relationship Type="http://schemas.openxmlformats.org/officeDocument/2006/relationships/notesMaster" Target="/ppt/notesMasters/notesMaster1.xml" Id="R724e05679a584b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3807775c504dc2" /><Relationship Type="http://schemas.openxmlformats.org/officeDocument/2006/relationships/notesMaster" Target="/ppt/notesMasters/notesMaster1.xml" Id="Ra9b3618b74ab4c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1b81e0c56c4356" /><Relationship Type="http://schemas.openxmlformats.org/officeDocument/2006/relationships/notesMaster" Target="/ppt/notesMasters/notesMaster1.xml" Id="R3ac78f4567024c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29dac2602144a3" /><Relationship Type="http://schemas.openxmlformats.org/officeDocument/2006/relationships/notesMaster" Target="/ppt/notesMasters/notesMaster1.xml" Id="R505e8f7758ea4e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1930f4361c4ba9" /><Relationship Type="http://schemas.openxmlformats.org/officeDocument/2006/relationships/notesMaster" Target="/ppt/notesMasters/notesMaster1.xml" Id="Rbe1c5e0e9ce44a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ab44a2f28245f7" /><Relationship Type="http://schemas.openxmlformats.org/officeDocument/2006/relationships/notesMaster" Target="/ppt/notesMasters/notesMaster1.xml" Id="R931dd987ee4e43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30c683ae504b59" /><Relationship Type="http://schemas.openxmlformats.org/officeDocument/2006/relationships/notesMaster" Target="/ppt/notesMasters/notesMaster1.xml" Id="R27c4b28f7a7347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1a1abd79df465b" /><Relationship Type="http://schemas.openxmlformats.org/officeDocument/2006/relationships/notesMaster" Target="/ppt/notesMasters/notesMaster1.xml" Id="Rd942e7f205994a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b0cfb0d1e04648" /><Relationship Type="http://schemas.openxmlformats.org/officeDocument/2006/relationships/notesMaster" Target="/ppt/notesMasters/notesMaster1.xml" Id="R1c6d977831df4d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24312e281d4c20" /><Relationship Type="http://schemas.openxmlformats.org/officeDocument/2006/relationships/notesMaster" Target="/ppt/notesMasters/notesMaster1.xml" Id="R68898796e9ce4d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2fc371ae11499c" /><Relationship Type="http://schemas.openxmlformats.org/officeDocument/2006/relationships/notesMaster" Target="/ppt/notesMasters/notesMaster1.xml" Id="Rd39bc80352cd4c3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7d730b55d54178" /><Relationship Type="http://schemas.openxmlformats.org/officeDocument/2006/relationships/notesMaster" Target="/ppt/notesMasters/notesMaster1.xml" Id="Rf51ec533ee0946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17ca98cd334a4e" /><Relationship Type="http://schemas.openxmlformats.org/officeDocument/2006/relationships/notesMaster" Target="/ppt/notesMasters/notesMaster1.xml" Id="R299a1f28815a4c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34151a9bfe49f1" /><Relationship Type="http://schemas.openxmlformats.org/officeDocument/2006/relationships/notesMaster" Target="/ppt/notesMasters/notesMaster1.xml" Id="R8a796f7d4aa94aa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a2714707024a47" /><Relationship Type="http://schemas.openxmlformats.org/officeDocument/2006/relationships/notesMaster" Target="/ppt/notesMasters/notesMaster1.xml" Id="Rd22668099c4f40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d13c6a1439489b" /><Relationship Type="http://schemas.openxmlformats.org/officeDocument/2006/relationships/notesMaster" Target="/ppt/notesMasters/notesMaster1.xml" Id="R097bb4caf83d40d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f72026024ca46c9" /><Relationship Type="http://schemas.openxmlformats.org/officeDocument/2006/relationships/notesMaster" Target="/ppt/notesMasters/notesMaster1.xml" Id="R5c082c95b409417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40bbe620a241eb" /><Relationship Type="http://schemas.openxmlformats.org/officeDocument/2006/relationships/notesMaster" Target="/ppt/notesMasters/notesMaster1.xml" Id="Rf44f54e4eb0e4d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36eca38ada4fa5" /><Relationship Type="http://schemas.openxmlformats.org/officeDocument/2006/relationships/notesMaster" Target="/ppt/notesMasters/notesMaster1.xml" Id="Raa1d54e04da64f8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9b3015e9414e09" /><Relationship Type="http://schemas.openxmlformats.org/officeDocument/2006/relationships/notesMaster" Target="/ppt/notesMasters/notesMaster1.xml" Id="R7abb1c1291804b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2fef99802684a83" /><Relationship Type="http://schemas.openxmlformats.org/officeDocument/2006/relationships/notesMaster" Target="/ppt/notesMasters/notesMaster1.xml" Id="R8a634c4dcbea40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0a530d97ddd4fbe" /><Relationship Type="http://schemas.openxmlformats.org/officeDocument/2006/relationships/notesMaster" Target="/ppt/notesMasters/notesMaster1.xml" Id="R6cb9b75077e5435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48c2a43890b4ac2" /><Relationship Type="http://schemas.openxmlformats.org/officeDocument/2006/relationships/notesMaster" Target="/ppt/notesMasters/notesMaster1.xml" Id="R7109c9018d82484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d2d079e35a44f71" /><Relationship Type="http://schemas.openxmlformats.org/officeDocument/2006/relationships/notesMaster" Target="/ppt/notesMasters/notesMaster1.xml" Id="R81ea88fef91a45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d6bd80e7a64258" /><Relationship Type="http://schemas.openxmlformats.org/officeDocument/2006/relationships/notesMaster" Target="/ppt/notesMasters/notesMaster1.xml" Id="R00efb4d4434548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e9d3ef3c5254eaf" /><Relationship Type="http://schemas.openxmlformats.org/officeDocument/2006/relationships/notesMaster" Target="/ppt/notesMasters/notesMaster1.xml" Id="R3119981c82c943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032efa66294ec6" /><Relationship Type="http://schemas.openxmlformats.org/officeDocument/2006/relationships/notesMaster" Target="/ppt/notesMasters/notesMaster1.xml" Id="Ref4d619b4be243b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618924439d94703" /><Relationship Type="http://schemas.openxmlformats.org/officeDocument/2006/relationships/notesMaster" Target="/ppt/notesMasters/notesMaster1.xml" Id="Rb178c5ab4a12481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0f9a107e53344c9" /><Relationship Type="http://schemas.openxmlformats.org/officeDocument/2006/relationships/notesMaster" Target="/ppt/notesMasters/notesMaster1.xml" Id="Rd04a8162732b4c7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7f61e4eb4bf408c" /><Relationship Type="http://schemas.openxmlformats.org/officeDocument/2006/relationships/notesMaster" Target="/ppt/notesMasters/notesMaster1.xml" Id="R75965accb508491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5d8ca92a854c1b" /><Relationship Type="http://schemas.openxmlformats.org/officeDocument/2006/relationships/notesMaster" Target="/ppt/notesMasters/notesMaster1.xml" Id="Ra3c3cfb8cfab407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dc231db370746dc" /><Relationship Type="http://schemas.openxmlformats.org/officeDocument/2006/relationships/notesMaster" Target="/ppt/notesMasters/notesMaster1.xml" Id="R95166598aae64b3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b3d722017a04af3" /><Relationship Type="http://schemas.openxmlformats.org/officeDocument/2006/relationships/notesMaster" Target="/ppt/notesMasters/notesMaster1.xml" Id="R0032b62e4f0b4ad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c0b5aedb20041a8" /><Relationship Type="http://schemas.openxmlformats.org/officeDocument/2006/relationships/notesMaster" Target="/ppt/notesMasters/notesMaster1.xml" Id="R4c236da6cf254ed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56982ba81b64d6b" /><Relationship Type="http://schemas.openxmlformats.org/officeDocument/2006/relationships/notesMaster" Target="/ppt/notesMasters/notesMaster1.xml" Id="R37dbab72395a48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./slides/fashion-scope/assets/page-53.jpg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./app/server.py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./app/deploy_kevindigital.sh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./app/explorer.db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Remote relabeled SQLite aggregate query executed 2026-08-27: 27,355 analyzed images and 650,411 tag rows.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./data/aloruh_shein_browser_export.json</a:t>
            </a:r>
          </a:p>
          <a:p xmlns:a="http://schemas.openxmlformats.org/drawingml/2006/main">
            <a:r>
              <a:t>- ./data/aloruh_shein_browser_export.recollect.partial.json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- User-confirmed Browser Use login and captcha workflow in current conversation, 2026-08-26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./pipelines/analysis/high_resolution_images.py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./app/src/imageAnalysis.js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./pipelines/analysis/analyze_explorer_images.py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./app/src/ImageDimensions.jsx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slides/fashion-scope/assets/experience1-step1-enter-dimensions.png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slides/fashion-scope/assets/experience1-step2-select-dimensions.png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slides/fashion-scope/assets/experience1-step3-and-filter.png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slides/fashion-scope/assets/experience1-step4-matched-results.png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slides/fashion-scope/assets/experience1-step5-select-for-analysis.png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slides/fashion-scope/assets/experience1-step6-analysis-running.png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slides/fashion-scope/assets/experience1-step7-analysis-result.png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./app/src/Reports.jsx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slides/fashion-scope/assets/experience2-step1-start-report-v9.png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slides/fashion-scope/assets/experience2-step2-completed-analysis.png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slides/fashion-scope/assets/experience2-step3-review-section.png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slides/fashion-scope/assets/experience2-step4-approve-section.png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slides/fashion-scope/assets/experience2-step5-final-pdf.png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./output/pdf/Aloruh店铺视觉诊断-内容驱动版-20260827.pdf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./output/pdf/Aloruh店铺视觉诊断-内容驱动版-20260827.pdf</a:t>
            </a:r>
          </a:p>
          <a:p xmlns:a="http://schemas.openxmlformats.org/drawingml/2006/main">
            <a:r>
              <a:t>- ./slides/fashion-scope/assets/page-53.jpg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 based on the verified Fashion Scope product and report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2e57c4a4e42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fefad9e574223" /><Relationship Type="http://schemas.openxmlformats.org/officeDocument/2006/relationships/slideLayout" Target="/ppt/slideLayouts/slideLayout1.xml" Id="Rb7e85a1fa4f943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e85a1fa4f943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dadddbc0f4cfa" /><Relationship Type="http://schemas.openxmlformats.org/officeDocument/2006/relationships/image" Target="/ppt/media/image.jpeg" Id="R0b232c4c190648eb" /><Relationship Type="http://schemas.openxmlformats.org/officeDocument/2006/relationships/notesSlide" Target="/ppt/notesSlides/notesSlide1.xml" Id="Rf99de373b76841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47a85f6f3478e" /><Relationship Type="http://schemas.openxmlformats.org/officeDocument/2006/relationships/notesSlide" Target="/ppt/notesSlides/notesSlide2.xml" Id="R6f1b17d78e2447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46d88a4ca41c3" /><Relationship Type="http://schemas.openxmlformats.org/officeDocument/2006/relationships/notesSlide" Target="/ppt/notesSlides/notesSlide3.xml" Id="Rd822ef8c229446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2c31f80d24259" /><Relationship Type="http://schemas.openxmlformats.org/officeDocument/2006/relationships/notesSlide" Target="/ppt/notesSlides/notesSlide4.xml" Id="R5c4c54c14eba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640d858a44367" /><Relationship Type="http://schemas.openxmlformats.org/officeDocument/2006/relationships/notesSlide" Target="/ppt/notesSlides/notesSlide5.xml" Id="Rca68b23f0a4644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3f73d9b764fd2" /><Relationship Type="http://schemas.openxmlformats.org/officeDocument/2006/relationships/notesSlide" Target="/ppt/notesSlides/notesSlide6.xml" Id="Rf2a02251c2a04f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aad1ab56b47c3" /><Relationship Type="http://schemas.openxmlformats.org/officeDocument/2006/relationships/notesSlide" Target="/ppt/notesSlides/notesSlide7.xml" Id="R1b6ac4e1e0bd44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e553bc3264f02" /><Relationship Type="http://schemas.openxmlformats.org/officeDocument/2006/relationships/notesSlide" Target="/ppt/notesSlides/notesSlide8.xml" Id="R3ada334525974b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0c276f7ff4309" /><Relationship Type="http://schemas.openxmlformats.org/officeDocument/2006/relationships/notesSlide" Target="/ppt/notesSlides/notesSlide9.xml" Id="Rf397f050515947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c6256b6534078" /><Relationship Type="http://schemas.openxmlformats.org/officeDocument/2006/relationships/notesSlide" Target="/ppt/notesSlides/notesSlide10.xml" Id="Rea96dfb5ccd243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7aeed41914829" /><Relationship Type="http://schemas.openxmlformats.org/officeDocument/2006/relationships/notesSlide" Target="/ppt/notesSlides/notesSlide11.xml" Id="R0e3bc6e2e68144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c7a4de7f74a5f" /><Relationship Type="http://schemas.openxmlformats.org/officeDocument/2006/relationships/notesSlide" Target="/ppt/notesSlides/notesSlide12.xml" Id="R214928073c444b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0947439614945" /><Relationship Type="http://schemas.openxmlformats.org/officeDocument/2006/relationships/notesSlide" Target="/ppt/notesSlides/notesSlide13.xml" Id="R4c53e0e3120147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49a6dbd2c4951" /><Relationship Type="http://schemas.openxmlformats.org/officeDocument/2006/relationships/notesSlide" Target="/ppt/notesSlides/notesSlide14.xml" Id="Rafb068d27cb74e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dbffa630466a" /><Relationship Type="http://schemas.openxmlformats.org/officeDocument/2006/relationships/image" Target="/ppt/media/image.png" Id="Reddc897561874a45" /><Relationship Type="http://schemas.openxmlformats.org/officeDocument/2006/relationships/notesSlide" Target="/ppt/notesSlides/notesSlide15.xml" Id="R4ec1eddd034e4c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b7584165741b8" /><Relationship Type="http://schemas.openxmlformats.org/officeDocument/2006/relationships/image" Target="/ppt/media/image2.png" Id="R3821c3e0a9244cca" /><Relationship Type="http://schemas.openxmlformats.org/officeDocument/2006/relationships/notesSlide" Target="/ppt/notesSlides/notesSlide16.xml" Id="R6548a467f3c94e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c6081388f458a" /><Relationship Type="http://schemas.openxmlformats.org/officeDocument/2006/relationships/image" Target="/ppt/media/image3.png" Id="R3a5215d0985041fd" /><Relationship Type="http://schemas.openxmlformats.org/officeDocument/2006/relationships/notesSlide" Target="/ppt/notesSlides/notesSlide17.xml" Id="Rb2cd8918406549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5eec4867b4574" /><Relationship Type="http://schemas.openxmlformats.org/officeDocument/2006/relationships/image" Target="/ppt/media/image4.png" Id="R1283dbcddb7f4519" /><Relationship Type="http://schemas.openxmlformats.org/officeDocument/2006/relationships/notesSlide" Target="/ppt/notesSlides/notesSlide18.xml" Id="R24dfd3d027e942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7d411ae7f4ce6" /><Relationship Type="http://schemas.openxmlformats.org/officeDocument/2006/relationships/image" Target="/ppt/media/image5.png" Id="Rfcc65087d6b245fd" /><Relationship Type="http://schemas.openxmlformats.org/officeDocument/2006/relationships/notesSlide" Target="/ppt/notesSlides/notesSlide19.xml" Id="R5a394e17891744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393174ab141fd" /><Relationship Type="http://schemas.openxmlformats.org/officeDocument/2006/relationships/image" Target="/ppt/media/image6.png" Id="R7fbf3758f7514dea" /><Relationship Type="http://schemas.openxmlformats.org/officeDocument/2006/relationships/notesSlide" Target="/ppt/notesSlides/notesSlide20.xml" Id="R534b2b42a76d44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3a3d5cad04858" /><Relationship Type="http://schemas.openxmlformats.org/officeDocument/2006/relationships/image" Target="/ppt/media/image7.png" Id="R4f8a7cbbb52e4350" /><Relationship Type="http://schemas.openxmlformats.org/officeDocument/2006/relationships/notesSlide" Target="/ppt/notesSlides/notesSlide21.xml" Id="R9b2dc7365caa4b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b035e800d4ceb" /><Relationship Type="http://schemas.openxmlformats.org/officeDocument/2006/relationships/notesSlide" Target="/ppt/notesSlides/notesSlide22.xml" Id="R912114bba25a47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0f6e670504641" /><Relationship Type="http://schemas.openxmlformats.org/officeDocument/2006/relationships/notesSlide" Target="/ppt/notesSlides/notesSlide23.xml" Id="Rc7cf73be50314f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c4836a2904302" /><Relationship Type="http://schemas.openxmlformats.org/officeDocument/2006/relationships/notesSlide" Target="/ppt/notesSlides/notesSlide24.xml" Id="Ra0eca0c9d3974b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f4708c7b9436c" /><Relationship Type="http://schemas.openxmlformats.org/officeDocument/2006/relationships/notesSlide" Target="/ppt/notesSlides/notesSlide25.xml" Id="Rc65500a8956443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0e6d8ad724785" /><Relationship Type="http://schemas.openxmlformats.org/officeDocument/2006/relationships/image" Target="/ppt/media/image8.png" Id="Rf867d981750c4956" /><Relationship Type="http://schemas.openxmlformats.org/officeDocument/2006/relationships/notesSlide" Target="/ppt/notesSlides/notesSlide26.xml" Id="Rde816d0efecd4ee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744ad68b24623" /><Relationship Type="http://schemas.openxmlformats.org/officeDocument/2006/relationships/image" Target="/ppt/media/image9.png" Id="R3cc4c4cf99904d83" /><Relationship Type="http://schemas.openxmlformats.org/officeDocument/2006/relationships/notesSlide" Target="/ppt/notesSlides/notesSlide27.xml" Id="R1107df50a34446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82c9f00ec478b" /><Relationship Type="http://schemas.openxmlformats.org/officeDocument/2006/relationships/image" Target="/ppt/media/image10.png" Id="R0da1c4f1124643d7" /><Relationship Type="http://schemas.openxmlformats.org/officeDocument/2006/relationships/notesSlide" Target="/ppt/notesSlides/notesSlide28.xml" Id="Radb8658c512a4c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d9e051b8d47ab" /><Relationship Type="http://schemas.openxmlformats.org/officeDocument/2006/relationships/image" Target="/ppt/media/image11.png" Id="R2e6cff1c75324ee6" /><Relationship Type="http://schemas.openxmlformats.org/officeDocument/2006/relationships/notesSlide" Target="/ppt/notesSlides/notesSlide29.xml" Id="Rb8f11bcc43c749d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cb0b8219d49d7" /><Relationship Type="http://schemas.openxmlformats.org/officeDocument/2006/relationships/image" Target="/ppt/media/image12.png" Id="Rf5882d3b9b484152" /><Relationship Type="http://schemas.openxmlformats.org/officeDocument/2006/relationships/notesSlide" Target="/ppt/notesSlides/notesSlide30.xml" Id="R3f21e664a52f467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e3698a96a44bc" /><Relationship Type="http://schemas.openxmlformats.org/officeDocument/2006/relationships/image" Target="/ppt/media/image2.jpeg" Id="Rb8d5f394e01f4884" /><Relationship Type="http://schemas.openxmlformats.org/officeDocument/2006/relationships/image" Target="/ppt/media/image3.jpeg" Id="R5303a51471ae465b" /><Relationship Type="http://schemas.openxmlformats.org/officeDocument/2006/relationships/image" Target="/ppt/media/image4.jpeg" Id="R60e3098238e34f8e" /><Relationship Type="http://schemas.openxmlformats.org/officeDocument/2006/relationships/image" Target="/ppt/media/image5.jpeg" Id="R30d205abaec1439f" /><Relationship Type="http://schemas.openxmlformats.org/officeDocument/2006/relationships/image" Target="/ppt/media/image6.jpeg" Id="R301d0400386e4d76" /><Relationship Type="http://schemas.openxmlformats.org/officeDocument/2006/relationships/notesSlide" Target="/ppt/notesSlides/notesSlide31.xml" Id="R0a9d623103d340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dd280773f424a" /><Relationship Type="http://schemas.openxmlformats.org/officeDocument/2006/relationships/image" Target="/ppt/media/image7.jpeg" Id="Rb440d75d16db4287" /><Relationship Type="http://schemas.openxmlformats.org/officeDocument/2006/relationships/image" Target="/ppt/media/image8.jpeg" Id="Rc56c6467e7904c1c" /><Relationship Type="http://schemas.openxmlformats.org/officeDocument/2006/relationships/image" Target="/ppt/media/image9.jpeg" Id="R859eefa66086450a" /><Relationship Type="http://schemas.openxmlformats.org/officeDocument/2006/relationships/image" Target="/ppt/media/image10.jpeg" Id="R1b2eebcd041f465c" /><Relationship Type="http://schemas.openxmlformats.org/officeDocument/2006/relationships/notesSlide" Target="/ppt/notesSlides/notesSlide32.xml" Id="R517c16f1cf7b47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1ca112404444a" /><Relationship Type="http://schemas.openxmlformats.org/officeDocument/2006/relationships/notesSlide" Target="/ppt/notesSlides/notesSlide33.xml" Id="R6dbdd61130564b5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9ef9bfa614540" /><Relationship Type="http://schemas.openxmlformats.org/officeDocument/2006/relationships/notesSlide" Target="/ppt/notesSlides/notesSlide34.xml" Id="R5275672e2351418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fcbcc133a44dc" /><Relationship Type="http://schemas.openxmlformats.org/officeDocument/2006/relationships/notesSlide" Target="/ppt/notesSlides/notesSlide35.xml" Id="R8bc8b180116c4fe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2179838c0494f" /><Relationship Type="http://schemas.openxmlformats.org/officeDocument/2006/relationships/notesSlide" Target="/ppt/notesSlides/notesSlide36.xml" Id="R518a700cbdce414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e0bd123f14ca6" /><Relationship Type="http://schemas.openxmlformats.org/officeDocument/2006/relationships/notesSlide" Target="/ppt/notesSlides/notesSlide37.xml" Id="R99ab802ed2b14ce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eded633874965" /><Relationship Type="http://schemas.openxmlformats.org/officeDocument/2006/relationships/notesSlide" Target="/ppt/notesSlides/notesSlide38.xml" Id="R5d89254defec4ae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75672cc774ec6" /><Relationship Type="http://schemas.openxmlformats.org/officeDocument/2006/relationships/notesSlide" Target="/ppt/notesSlides/notesSlide39.xml" Id="R61b64dace700482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939e33a7445a0" /><Relationship Type="http://schemas.openxmlformats.org/officeDocument/2006/relationships/notesSlide" Target="/ppt/notesSlides/notesSlide40.xml" Id="Rb4fcaadcc21b417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9345953c84feb" /><Relationship Type="http://schemas.openxmlformats.org/officeDocument/2006/relationships/notesSlide" Target="/ppt/notesSlides/notesSlide41.xml" Id="Re0afffde90704c7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81639412f415f" /><Relationship Type="http://schemas.openxmlformats.org/officeDocument/2006/relationships/notesSlide" Target="/ppt/notesSlides/notesSlide42.xml" Id="R2efed2c139874b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3DED47-0D07-470A-962C-36049F1D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494BC5D-F74F-4F1E-A2B5-1E0DC59A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商铺视觉数据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如何变成可交付结论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1348650-4778-4F20-9126-1F00077C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外部数据源 → Aloruh首图15维（竞品12维） → 两种分析工作流 → 内容驱动PDF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96F075A-BDE8-4F7F-A3D2-B46F35F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0004D7-5BAC-45FF-8E5B-93070589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COLLECT  /  STANDARDIZE  /  ANALYZE  /  DELIVER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FA794B-DCE9-479E-9EDF-4DA90CED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D9198"/>
                </a:solidFill>
                <a:latin typeface="Arial"/>
                <a:ea typeface="Arial"/>
                <a:cs typeface="Arial"/>
              </a:rPr>
              <a:t>Discussion deck · 2026.08.27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CD8B51-6271-45A9-BB74-46B0E1EB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9198"/>
                </a:solidFill>
                <a:latin typeface="Arial"/>
                <a:ea typeface="Arial"/>
                <a:cs typeface="Arial"/>
              </a:rPr>
              <a:t>FINAL DELIVERY / PLAN B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8974CCF8-040C-4A82-968B-8FAAE853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14400"/>
            <a:ext cx="615315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32c4c190648eb"/>
          <a:stretch xmlns:a="http://schemas.openxmlformats.org/drawingml/2006/main"/>
        </p:blipFill>
        <p:spPr>
          <a:xfrm xmlns:a="http://schemas.openxmlformats.org/drawingml/2006/main">
            <a:off x="5772150" y="1896273"/>
            <a:ext cx="5772150" cy="32464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70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C45484AD-5AE7-4E75-8B25-4F24C203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FA1F22-0C13-488F-B569-864D0E00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架构核心是“批量数据底座＋按需视觉推理”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06CF41D-29C6-4955-B609-C58979A4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高频浏览与筛选由本地数据层承担；只有需要语义判断时才调用视觉模型。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012871-F2DB-4295-83C7-4F8D3C58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7413B6B2-E3C5-4D55-B99C-3297767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0488EF55-7302-4E3F-B852-68FF200A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EA05BF26-512F-4A7B-8D45-54B7631D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B435F569-9F32-45AA-BACD-21FF09F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F9E6E4-4F86-48B0-8075-F570E051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CD5194-DBFE-4249-B302-6C565D21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344D3A-146F-4D95-B0DF-41CBB47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Shopify /products.json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Algolia browse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WooCommerce Store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Use＋人工验证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F75821F5-AED6-44D7-8515-A818530C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C43A64-FC1B-4B24-8C72-01E63EC1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9B849ED-D499-47AC-92BA-1C0C45AA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838D9E-9283-46DD-89CB-1684DBDC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统一商品/图片 JSONL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稳定键＋URL/内容去重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1,782张首图15维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竞品12维可比分布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SQLite查询层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21C1DF2C-A658-4377-9F0C-622BFE07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13808D2-929A-4283-8AD4-5E34D2C7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E1A326E-B8AB-44B7-8439-72F8E40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分析与证据引擎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689181A-BC1A-4DCA-9E29-C260BADD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体验1：组合筛选＋精读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体验2：整体分析＋报告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Terra批量打标 / Sol精读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报告共享高清缓存与证据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104B251D-A89E-4404-857F-9339392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866784-6259-4208-9403-6D1EB49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132F1A6-E765-4601-8ECF-1DB7ED3C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产品与交付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48DE951-3F9C-4651-AAD4-D6686F2D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React 19 + Vite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Python HTTP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五个Section逐章审核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ReportLab/Pillow内容驱动PDF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9699A731-0F8A-4AB2-A6BA-0A938E7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F6DF43E-9D8C-48CE-AADF-7516F250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生产运行：Nginx 反向代理 → Azure VM 上的 systemd 服务 → 127.0.0.1:8603 → 持久化任务与报告目录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ECE854E4-D647-4F6D-A231-94D52226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5AA9A2CF-B639-42D8-9B23-E3D3E39A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4735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A7837CAE-B710-435E-B2AC-53BB00EC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B14361-8C65-453C-BB4B-D5B4D2CB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外部数据源：每个站点采用最适合它的采集入口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3952CC-2291-4333-AD77-12D114F0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这一页只看四种采集入口与统一入库过程；Aloruh（SHEIN）的人机协作细节在第5页单独展开。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F3FC1B-BF1C-4DE9-B76F-99EC4CA1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CAD56C13-280B-4FBF-8420-8475BFE3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B4AEA5-B642-47B7-938A-43EDE07A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SHOPIFY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2C7B5B-2457-4F13-85CC-1C2C813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 / Motel Rocks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C35346-D1C7-472B-A0BE-0B6B2DD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/products.json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250件/页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集合页补 new / best / sale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D463A7-7C18-4BA3-9126-39B5B150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变体 · 价格 · 图片URL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7E55ECE5-E69A-450A-AF21-BC3ED96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5964B9-D8A6-4121-9145-B0BAAC60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ALGOLIA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740DDE-E406-42B8-8CCA-AB4926A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F529A8-F44C-4D95-859E-74FB4ED2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 index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1,000件/批＋cursor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另查索引排名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E2B2565-63D1-4BF5-8F59-DFDAF659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库存 · 图片 · 热销标记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16628AD-E94C-46CA-8D10-58727FE4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B57A73-D188-402E-8D8D-9489EFE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WOOCOMMERCE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44ABB96-049F-4003-87B3-4EF00DD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94C2D92-FA32-4C8C-8FBD-597F9DD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Store API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per_page=100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保留robots/sitemap快照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846A999-47CF-4035-A75D-2A66172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本地商品 · 标签 · 图片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55ED3CAE-09F7-4ABF-90DF-89022586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70246CC-EDEE-48CC-BD82-1C7D48EF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BROWSER USE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B06B3F0-EE22-4197-8087-08E216FB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SHEIN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8C2A1B2-1685-4629-ABBA-B870054E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真实浏览器会话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目录与必要详情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完整流程见第5页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ADC43A1-567D-4805-A345-2215413B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品牌目录 · 商品详情 · 图片序列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5CB3A0B3-472D-49E8-B504-9FDED91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10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arrow">
            <a:extLst xmlns:a="http://schemas.openxmlformats.org/drawingml/2006/main">
              <a:ext uri="{FF2B5EF4-FFF2-40B4-BE49-F238E27FC236}">
                <a16:creationId xmlns:a16="http://schemas.microsoft.com/office/drawing/2014/main" id="{91983C57-01A8-4D7E-AD3F-A5EAE7F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405D8ACA-CA4C-4932-B55B-21E49B8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05D1EDB4-B701-4D41-A386-27337F99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21D2F232-CA69-4069-8C73-8B08BB2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A301D89-6ED1-484B-95CC-44BEDB4D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ALL SOURCES / SHARED LANDING PIPELINE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767CFD3-E0DC-4C53-B677-97FBC9DB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3C36AAE-3C85-45EC-A30E-3A167C43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分页读取来源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101DDA4-4690-419E-8C17-04E6F85A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84DCF18-510E-4437-A486-51EEA8D1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保存原始响应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CDB7CBEC-92CB-4BE7-8B82-8241415E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1C27283-FFB7-4B8D-85C6-A01939DA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展开商品与图片URL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191339D-DFEB-4B26-8765-5FC81BC1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D79ED86-9469-4FA0-A7B9-6E110447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生成稳定键＋去重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D9DC16B0-D28F-4AD3-8800-83FF151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6BF15D68-6504-49D0-87D7-2164F819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写入SQLite供UI查询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50F317D2-4784-4A35-BC2C-53CBDD22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FA100BB3-DA6D-4D67-834D-9F09450E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25034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1C293A34-8A2E-45F4-B7FB-93E526B7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4EBA80-480C-40F3-9AD9-A9575CAF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60,260个商品对应288,831条图片地址，先建索引再按需下载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C91262-56DC-4056-920A-990C5DB8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一条图片索引 = 一个图片URL＋所属店铺、商品和图片位置；它记录“去哪里取图”，本身不是图片文件。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058ED6-64CD-4B33-8AA4-FCA0E831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ventory-metric-0">
            <a:extLst xmlns:a="http://schemas.openxmlformats.org/drawingml/2006/main">
              <a:ext uri="{FF2B5EF4-FFF2-40B4-BE49-F238E27FC236}">
                <a16:creationId xmlns:a16="http://schemas.microsoft.com/office/drawing/2014/main" id="{BE09A0A4-C0B0-466B-8F7C-A83D81BD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6" name="inventory-metric-label-0">
            <a:extLst xmlns:a="http://schemas.openxmlformats.org/drawingml/2006/main">
              <a:ext uri="{FF2B5EF4-FFF2-40B4-BE49-F238E27FC236}">
                <a16:creationId xmlns:a16="http://schemas.microsoft.com/office/drawing/2014/main" id="{D4626AFB-635D-4B79-AD62-A945DC9F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7" name="inventory-metric-1">
            <a:extLst xmlns:a="http://schemas.openxmlformats.org/drawingml/2006/main">
              <a:ext uri="{FF2B5EF4-FFF2-40B4-BE49-F238E27FC236}">
                <a16:creationId xmlns:a16="http://schemas.microsoft.com/office/drawing/2014/main" id="{84FB3FD2-22AF-41CE-B96B-A86F9070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8" name="inventory-metric-label-1">
            <a:extLst xmlns:a="http://schemas.openxmlformats.org/drawingml/2006/main">
              <a:ext uri="{FF2B5EF4-FFF2-40B4-BE49-F238E27FC236}">
                <a16:creationId xmlns:a16="http://schemas.microsoft.com/office/drawing/2014/main" id="{8F4B071E-AB70-4034-8F73-E9622EFC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图片URL索引（非文件）</a:t>
            </a:r>
          </a:p>
        </p:txBody>
      </p:sp>
      <p:sp>
        <p:nvSpPr>
          <p:cNvPr id="9" name="inventory-metric-2">
            <a:extLst xmlns:a="http://schemas.openxmlformats.org/drawingml/2006/main">
              <a:ext uri="{FF2B5EF4-FFF2-40B4-BE49-F238E27FC236}">
                <a16:creationId xmlns:a16="http://schemas.microsoft.com/office/drawing/2014/main" id="{D35BB391-613D-45AC-B1C6-A809161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10" name="inventory-metric-label-2">
            <a:extLst xmlns:a="http://schemas.openxmlformats.org/drawingml/2006/main">
              <a:ext uri="{FF2B5EF4-FFF2-40B4-BE49-F238E27FC236}">
                <a16:creationId xmlns:a16="http://schemas.microsoft.com/office/drawing/2014/main" id="{F13831DA-5E5E-4A76-85F4-10114AD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已完成标签分析图片</a:t>
            </a:r>
          </a:p>
        </p:txBody>
      </p:sp>
      <p:sp>
        <p:nvSpPr>
          <p:cNvPr id="11" name="inventory-metric-3">
            <a:extLst xmlns:a="http://schemas.openxmlformats.org/drawingml/2006/main">
              <a:ext uri="{FF2B5EF4-FFF2-40B4-BE49-F238E27FC236}">
                <a16:creationId xmlns:a16="http://schemas.microsoft.com/office/drawing/2014/main" id="{D3B6262B-F210-45AC-8051-70EBD740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650,411</a:t>
            </a:r>
          </a:p>
        </p:txBody>
      </p:sp>
      <p:sp>
        <p:nvSpPr>
          <p:cNvPr id="12" name="inventory-metric-label-3">
            <a:extLst xmlns:a="http://schemas.openxmlformats.org/drawingml/2006/main">
              <a:ext uri="{FF2B5EF4-FFF2-40B4-BE49-F238E27FC236}">
                <a16:creationId xmlns:a16="http://schemas.microsoft.com/office/drawing/2014/main" id="{5600888C-F2F2-49E5-AE52-0E795D47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累计分析标签</a:t>
            </a:r>
          </a:p>
        </p:txBody>
      </p:sp>
      <p:sp>
        <p:nvSpPr>
          <p:cNvPr id="13" name="inventory-table-header">
            <a:extLst xmlns:a="http://schemas.openxmlformats.org/drawingml/2006/main">
              <a:ext uri="{FF2B5EF4-FFF2-40B4-BE49-F238E27FC236}">
                <a16:creationId xmlns:a16="http://schemas.microsoft.com/office/drawing/2014/main" id="{90536F51-9AAC-400C-88AC-B2BB1B9C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10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ventory-header-0">
            <a:extLst xmlns:a="http://schemas.openxmlformats.org/drawingml/2006/main">
              <a:ext uri="{FF2B5EF4-FFF2-40B4-BE49-F238E27FC236}">
                <a16:creationId xmlns:a16="http://schemas.microsoft.com/office/drawing/2014/main" id="{EA69706F-36A9-4DF0-AA1B-DDFCBEDF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</a:t>
            </a:r>
          </a:p>
        </p:txBody>
      </p:sp>
      <p:sp>
        <p:nvSpPr>
          <p:cNvPr id="15" name="inventory-header-1">
            <a:extLst xmlns:a="http://schemas.openxmlformats.org/drawingml/2006/main">
              <a:ext uri="{FF2B5EF4-FFF2-40B4-BE49-F238E27FC236}">
                <a16:creationId xmlns:a16="http://schemas.microsoft.com/office/drawing/2014/main" id="{3773282E-6C0B-41BD-BBC2-6A8676BD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16" name="inventory-header-2">
            <a:extLst xmlns:a="http://schemas.openxmlformats.org/drawingml/2006/main">
              <a:ext uri="{FF2B5EF4-FFF2-40B4-BE49-F238E27FC236}">
                <a16:creationId xmlns:a16="http://schemas.microsoft.com/office/drawing/2014/main" id="{7C90776C-5376-4F85-95A0-AEACED18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图片URL索引（条）</a:t>
            </a:r>
          </a:p>
        </p:txBody>
      </p:sp>
      <p:sp>
        <p:nvSpPr>
          <p:cNvPr id="17" name="inventory-header-3">
            <a:extLst xmlns:a="http://schemas.openxmlformats.org/drawingml/2006/main">
              <a:ext uri="{FF2B5EF4-FFF2-40B4-BE49-F238E27FC236}">
                <a16:creationId xmlns:a16="http://schemas.microsoft.com/office/drawing/2014/main" id="{27614E2C-CD62-4673-83E4-047480F2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已分析图片</a:t>
            </a:r>
          </a:p>
        </p:txBody>
      </p:sp>
      <p:sp>
        <p:nvSpPr>
          <p:cNvPr id="18" name="inventory-store-0">
            <a:extLst xmlns:a="http://schemas.openxmlformats.org/drawingml/2006/main">
              <a:ext uri="{FF2B5EF4-FFF2-40B4-BE49-F238E27FC236}">
                <a16:creationId xmlns:a16="http://schemas.microsoft.com/office/drawing/2014/main" id="{87B9EE5B-DE6E-4CC0-BAFB-F333D1C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</a:t>
            </a:r>
          </a:p>
        </p:txBody>
      </p:sp>
      <p:sp>
        <p:nvSpPr>
          <p:cNvPr id="19" name="inventory-products-0">
            <a:extLst xmlns:a="http://schemas.openxmlformats.org/drawingml/2006/main">
              <a:ext uri="{FF2B5EF4-FFF2-40B4-BE49-F238E27FC236}">
                <a16:creationId xmlns:a16="http://schemas.microsoft.com/office/drawing/2014/main" id="{6A5D16AD-32AB-4128-B61C-D97A887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20" name="inventory-images-0">
            <a:extLst xmlns:a="http://schemas.openxmlformats.org/drawingml/2006/main">
              <a:ext uri="{FF2B5EF4-FFF2-40B4-BE49-F238E27FC236}">
                <a16:creationId xmlns:a16="http://schemas.microsoft.com/office/drawing/2014/main" id="{610DC489-EDA4-481E-9070-0EC54301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4,352</a:t>
            </a:r>
          </a:p>
        </p:txBody>
      </p:sp>
      <p:sp>
        <p:nvSpPr>
          <p:cNvPr id="21" name="inventory-analyzed-0">
            <a:extLst xmlns:a="http://schemas.openxmlformats.org/drawingml/2006/main">
              <a:ext uri="{FF2B5EF4-FFF2-40B4-BE49-F238E27FC236}">
                <a16:creationId xmlns:a16="http://schemas.microsoft.com/office/drawing/2014/main" id="{8739B604-FDFA-4B94-9C0D-DBBA847E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1,782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91EB984B-D6F3-463D-BCBE-1333535E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ventory-row-bg-1">
            <a:extLst xmlns:a="http://schemas.openxmlformats.org/drawingml/2006/main">
              <a:ext uri="{FF2B5EF4-FFF2-40B4-BE49-F238E27FC236}">
                <a16:creationId xmlns:a16="http://schemas.microsoft.com/office/drawing/2014/main" id="{50FADF5D-896D-49AD-A015-9B5445F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ventory-store-1">
            <a:extLst xmlns:a="http://schemas.openxmlformats.org/drawingml/2006/main">
              <a:ext uri="{FF2B5EF4-FFF2-40B4-BE49-F238E27FC236}">
                <a16:creationId xmlns:a16="http://schemas.microsoft.com/office/drawing/2014/main" id="{8BA4C278-B792-435A-8BA2-261D10FF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25" name="inventory-products-1">
            <a:extLst xmlns:a="http://schemas.openxmlformats.org/drawingml/2006/main">
              <a:ext uri="{FF2B5EF4-FFF2-40B4-BE49-F238E27FC236}">
                <a16:creationId xmlns:a16="http://schemas.microsoft.com/office/drawing/2014/main" id="{3439C6A5-780B-417A-899E-BA9954A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10,487</a:t>
            </a:r>
          </a:p>
        </p:txBody>
      </p:sp>
      <p:sp>
        <p:nvSpPr>
          <p:cNvPr id="26" name="inventory-images-1">
            <a:extLst xmlns:a="http://schemas.openxmlformats.org/drawingml/2006/main">
              <a:ext uri="{FF2B5EF4-FFF2-40B4-BE49-F238E27FC236}">
                <a16:creationId xmlns:a16="http://schemas.microsoft.com/office/drawing/2014/main" id="{9F9F9287-E50B-4EB6-BBBB-C66262AC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10,771</a:t>
            </a:r>
          </a:p>
        </p:txBody>
      </p:sp>
      <p:sp>
        <p:nvSpPr>
          <p:cNvPr id="27" name="inventory-analyzed-1">
            <a:extLst xmlns:a="http://schemas.openxmlformats.org/drawingml/2006/main">
              <a:ext uri="{FF2B5EF4-FFF2-40B4-BE49-F238E27FC236}">
                <a16:creationId xmlns:a16="http://schemas.microsoft.com/office/drawing/2014/main" id="{B64ADE30-5FD8-45BA-9B3E-422366EF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10,466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F0E82481-4A22-40CC-8688-7A55522C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nventory-store-2">
            <a:extLst xmlns:a="http://schemas.openxmlformats.org/drawingml/2006/main">
              <a:ext uri="{FF2B5EF4-FFF2-40B4-BE49-F238E27FC236}">
                <a16:creationId xmlns:a16="http://schemas.microsoft.com/office/drawing/2014/main" id="{75243BBE-03E1-4AC6-96D4-3CCD3801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</a:t>
            </a:r>
          </a:p>
        </p:txBody>
      </p:sp>
      <p:sp>
        <p:nvSpPr>
          <p:cNvPr id="30" name="inventory-products-2">
            <a:extLst xmlns:a="http://schemas.openxmlformats.org/drawingml/2006/main">
              <a:ext uri="{FF2B5EF4-FFF2-40B4-BE49-F238E27FC236}">
                <a16:creationId xmlns:a16="http://schemas.microsoft.com/office/drawing/2014/main" id="{B9EB89C1-FF52-4FAE-A087-C6D8A649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17,008</a:t>
            </a:r>
          </a:p>
        </p:txBody>
      </p:sp>
      <p:sp>
        <p:nvSpPr>
          <p:cNvPr id="31" name="inventory-images-2">
            <a:extLst xmlns:a="http://schemas.openxmlformats.org/drawingml/2006/main">
              <a:ext uri="{FF2B5EF4-FFF2-40B4-BE49-F238E27FC236}">
                <a16:creationId xmlns:a16="http://schemas.microsoft.com/office/drawing/2014/main" id="{B76A993C-89EC-47E5-BADE-A0B686FD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119,205</a:t>
            </a:r>
          </a:p>
        </p:txBody>
      </p:sp>
      <p:sp>
        <p:nvSpPr>
          <p:cNvPr id="32" name="inventory-analyzed-2">
            <a:extLst xmlns:a="http://schemas.openxmlformats.org/drawingml/2006/main">
              <a:ext uri="{FF2B5EF4-FFF2-40B4-BE49-F238E27FC236}">
                <a16:creationId xmlns:a16="http://schemas.microsoft.com/office/drawing/2014/main" id="{F5412433-E1AF-416E-AB9E-C7EF5D5F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5,613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E9758E00-486C-430D-B7A5-A85FD3EE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ventory-row-bg-3">
            <a:extLst xmlns:a="http://schemas.openxmlformats.org/drawingml/2006/main">
              <a:ext uri="{FF2B5EF4-FFF2-40B4-BE49-F238E27FC236}">
                <a16:creationId xmlns:a16="http://schemas.microsoft.com/office/drawing/2014/main" id="{6AA65700-D23E-438C-95F2-1E22FCBB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nventory-store-3">
            <a:extLst xmlns:a="http://schemas.openxmlformats.org/drawingml/2006/main">
              <a:ext uri="{FF2B5EF4-FFF2-40B4-BE49-F238E27FC236}">
                <a16:creationId xmlns:a16="http://schemas.microsoft.com/office/drawing/2014/main" id="{E2D80554-9AEE-4F1B-8539-1FC2663E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Motel Rocks</a:t>
            </a:r>
          </a:p>
        </p:txBody>
      </p:sp>
      <p:sp>
        <p:nvSpPr>
          <p:cNvPr id="36" name="inventory-products-3">
            <a:extLst xmlns:a="http://schemas.openxmlformats.org/drawingml/2006/main">
              <a:ext uri="{FF2B5EF4-FFF2-40B4-BE49-F238E27FC236}">
                <a16:creationId xmlns:a16="http://schemas.microsoft.com/office/drawing/2014/main" id="{B83D3812-E74B-4094-8383-7856CC61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4,422</a:t>
            </a:r>
          </a:p>
        </p:txBody>
      </p:sp>
      <p:sp>
        <p:nvSpPr>
          <p:cNvPr id="37" name="inventory-images-3">
            <a:extLst xmlns:a="http://schemas.openxmlformats.org/drawingml/2006/main">
              <a:ext uri="{FF2B5EF4-FFF2-40B4-BE49-F238E27FC236}">
                <a16:creationId xmlns:a16="http://schemas.microsoft.com/office/drawing/2014/main" id="{92D83CBB-DD36-4E7C-978A-DCF58D96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26,676</a:t>
            </a:r>
          </a:p>
        </p:txBody>
      </p:sp>
      <p:sp>
        <p:nvSpPr>
          <p:cNvPr id="38" name="inventory-analyzed-3">
            <a:extLst xmlns:a="http://schemas.openxmlformats.org/drawingml/2006/main">
              <a:ext uri="{FF2B5EF4-FFF2-40B4-BE49-F238E27FC236}">
                <a16:creationId xmlns:a16="http://schemas.microsoft.com/office/drawing/2014/main" id="{E5296AC3-7BCC-4E5D-AA98-128BE2A9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2,141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25BB8427-F02D-4A58-B09A-8463607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ventory-store-4">
            <a:extLst xmlns:a="http://schemas.openxmlformats.org/drawingml/2006/main">
              <a:ext uri="{FF2B5EF4-FFF2-40B4-BE49-F238E27FC236}">
                <a16:creationId xmlns:a16="http://schemas.microsoft.com/office/drawing/2014/main" id="{BC189A5A-5F59-4490-9D3D-6B59BB5E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41" name="inventory-products-4">
            <a:extLst xmlns:a="http://schemas.openxmlformats.org/drawingml/2006/main">
              <a:ext uri="{FF2B5EF4-FFF2-40B4-BE49-F238E27FC236}">
                <a16:creationId xmlns:a16="http://schemas.microsoft.com/office/drawing/2014/main" id="{633C218D-1D09-4467-A65B-210BB0CE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25,495</a:t>
            </a:r>
          </a:p>
        </p:txBody>
      </p:sp>
      <p:sp>
        <p:nvSpPr>
          <p:cNvPr id="42" name="inventory-images-4">
            <a:extLst xmlns:a="http://schemas.openxmlformats.org/drawingml/2006/main">
              <a:ext uri="{FF2B5EF4-FFF2-40B4-BE49-F238E27FC236}">
                <a16:creationId xmlns:a16="http://schemas.microsoft.com/office/drawing/2014/main" id="{52700BD8-E763-44BD-A985-E5AA97C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127,827</a:t>
            </a:r>
          </a:p>
        </p:txBody>
      </p:sp>
      <p:sp>
        <p:nvSpPr>
          <p:cNvPr id="43" name="inventory-analyzed-4">
            <a:extLst xmlns:a="http://schemas.openxmlformats.org/drawingml/2006/main">
              <a:ext uri="{FF2B5EF4-FFF2-40B4-BE49-F238E27FC236}">
                <a16:creationId xmlns:a16="http://schemas.microsoft.com/office/drawing/2014/main" id="{8EB1BD26-E0EC-4C7A-BAAC-9EB1ADA3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7,353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14B088E5-DB7E-431B-90B5-9015395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nventory-total">
            <a:extLst xmlns:a="http://schemas.openxmlformats.org/drawingml/2006/main">
              <a:ext uri="{FF2B5EF4-FFF2-40B4-BE49-F238E27FC236}">
                <a16:creationId xmlns:a16="http://schemas.microsoft.com/office/drawing/2014/main" id="{F1E8198F-81EF-4112-9EEB-4D583631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10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inventory-total-label">
            <a:extLst xmlns:a="http://schemas.openxmlformats.org/drawingml/2006/main">
              <a:ext uri="{FF2B5EF4-FFF2-40B4-BE49-F238E27FC236}">
                <a16:creationId xmlns:a16="http://schemas.microsoft.com/office/drawing/2014/main" id="{FE278C1B-6D81-4079-A041-818438D6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全站合计</a:t>
            </a:r>
          </a:p>
        </p:txBody>
      </p:sp>
      <p:sp>
        <p:nvSpPr>
          <p:cNvPr id="47" name="inventory-total-products">
            <a:extLst xmlns:a="http://schemas.openxmlformats.org/drawingml/2006/main">
              <a:ext uri="{FF2B5EF4-FFF2-40B4-BE49-F238E27FC236}">
                <a16:creationId xmlns:a16="http://schemas.microsoft.com/office/drawing/2014/main" id="{E9BC6F0D-8BA6-4663-A66E-B3E85CD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48" name="inventory-total-images">
            <a:extLst xmlns:a="http://schemas.openxmlformats.org/drawingml/2006/main">
              <a:ext uri="{FF2B5EF4-FFF2-40B4-BE49-F238E27FC236}">
                <a16:creationId xmlns:a16="http://schemas.microsoft.com/office/drawing/2014/main" id="{CBE0C97A-E333-409E-88FF-41C77F2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49" name="inventory-total-analyzed">
            <a:extLst xmlns:a="http://schemas.openxmlformats.org/drawingml/2006/main">
              <a:ext uri="{FF2B5EF4-FFF2-40B4-BE49-F238E27FC236}">
                <a16:creationId xmlns:a16="http://schemas.microsoft.com/office/drawing/2014/main" id="{D1E3EDEE-0046-418D-96D3-0866772B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50" name="inventory-method-note">
            <a:extLst xmlns:a="http://schemas.openxmlformats.org/drawingml/2006/main">
              <a:ext uri="{FF2B5EF4-FFF2-40B4-BE49-F238E27FC236}">
                <a16:creationId xmlns:a16="http://schemas.microsoft.com/office/drawing/2014/main" id="{9D19F83F-48E4-4FED-A19E-EB2BFCA9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读法：1个商品若有5张图，就产生5条图片URL索引；Aloruh 1,782张首图已完成15维，竞品仍为12维。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CF83FD8C-1A2E-48BE-A30B-2387737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">
            <a:extLst xmlns:a="http://schemas.openxmlformats.org/drawingml/2006/main">
              <a:ext uri="{FF2B5EF4-FFF2-40B4-BE49-F238E27FC236}">
                <a16:creationId xmlns:a16="http://schemas.microsoft.com/office/drawing/2014/main" id="{CEC262B3-E90C-49F3-A80A-3F568E27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explorer.db live inventory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916782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831BE42B-2F3E-4E78-A546-B6B2FD6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SHEIN DEEP DIVE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6DC8A4-C057-453B-BD6F-C0E22F17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Aloruh（SHEIN）的采集核心是可暂停、可恢复的人机协同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22E42A-0260-45C7-9270-6A56C28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Use负责操作真实浏览器；用户本人负责登录与验证码；采集器只导出公开商品卡片和必要详情。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D737F7-7570-4846-B1F0-3F6721AB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metric-目录页完成">
            <a:extLst xmlns:a="http://schemas.openxmlformats.org/drawingml/2006/main">
              <a:ext uri="{FF2B5EF4-FFF2-40B4-BE49-F238E27FC236}">
                <a16:creationId xmlns:a16="http://schemas.microsoft.com/office/drawing/2014/main" id="{2F40789C-EBE4-4080-AD10-90400986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6" name="metric-label-目录页完成">
            <a:extLst xmlns:a="http://schemas.openxmlformats.org/drawingml/2006/main">
              <a:ext uri="{FF2B5EF4-FFF2-40B4-BE49-F238E27FC236}">
                <a16:creationId xmlns:a16="http://schemas.microsoft.com/office/drawing/2014/main" id="{84A2C63E-F0F6-4CF6-9C09-DE38A022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目录页完成</a:t>
            </a:r>
          </a:p>
        </p:txBody>
      </p:sp>
      <p:sp>
        <p:nvSpPr>
          <p:cNvPr id="7" name="metric-原始商品卡片">
            <a:extLst xmlns:a="http://schemas.openxmlformats.org/drawingml/2006/main">
              <a:ext uri="{FF2B5EF4-FFF2-40B4-BE49-F238E27FC236}">
                <a16:creationId xmlns:a16="http://schemas.microsoft.com/office/drawing/2014/main" id="{46CF005A-8A37-4C48-BC28-E2A44F8D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3,006</a:t>
            </a:r>
          </a:p>
        </p:txBody>
      </p:sp>
      <p:sp>
        <p:nvSpPr>
          <p:cNvPr id="8" name="metric-label-原始商品卡片">
            <a:extLst xmlns:a="http://schemas.openxmlformats.org/drawingml/2006/main">
              <a:ext uri="{FF2B5EF4-FFF2-40B4-BE49-F238E27FC236}">
                <a16:creationId xmlns:a16="http://schemas.microsoft.com/office/drawing/2014/main" id="{DEFEA4CF-2AD1-44ED-AAE2-05C2AB2B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原始商品卡片</a:t>
            </a:r>
          </a:p>
        </p:txBody>
      </p:sp>
      <p:sp>
        <p:nvSpPr>
          <p:cNvPr id="9" name="metric-抽样商品详情">
            <a:extLst xmlns:a="http://schemas.openxmlformats.org/drawingml/2006/main">
              <a:ext uri="{FF2B5EF4-FFF2-40B4-BE49-F238E27FC236}">
                <a16:creationId xmlns:a16="http://schemas.microsoft.com/office/drawing/2014/main" id="{04CADF64-1FA7-4BBB-A519-4C5F2C82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metric-label-抽样商品详情">
            <a:extLst xmlns:a="http://schemas.openxmlformats.org/drawingml/2006/main">
              <a:ext uri="{FF2B5EF4-FFF2-40B4-BE49-F238E27FC236}">
                <a16:creationId xmlns:a16="http://schemas.microsoft.com/office/drawing/2014/main" id="{79DD8B38-493F-47A5-A408-78CD15F9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抽样商品详情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395C69-5F5D-42D1-B36D-2D0E5411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导出文件明确不包含 cookies、tokens、headers、credentials 或风险参数。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5156A4DE-8B94-494D-B5FA-AD1E2E2E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2FEA7840-CBEE-4FC2-99CE-870C64F1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FE2690D5-0F9C-4954-8495-C67B5257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473772F9-376A-4358-8E00-CC476041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1949E423-F75E-470C-98F2-569BD54C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ein-step-0">
            <a:extLst xmlns:a="http://schemas.openxmlformats.org/drawingml/2006/main">
              <a:ext uri="{FF2B5EF4-FFF2-40B4-BE49-F238E27FC236}">
                <a16:creationId xmlns:a16="http://schemas.microsoft.com/office/drawing/2014/main" id="{8DBFF733-3B3F-450C-A304-619C7CF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2818E17-B40A-4255-87D1-606945DB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34D8187-CF4B-44DF-8915-1507E2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打开真实会话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BCB1F5E-FFD0-4748-8159-96C632E4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Use进入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SHEIN SG Aloruh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品牌排序页</a:t>
            </a:r>
          </a:p>
        </p:txBody>
      </p:sp>
      <p:sp>
        <p:nvSpPr>
          <p:cNvPr id="21" name="shein-step-1">
            <a:extLst xmlns:a="http://schemas.openxmlformats.org/drawingml/2006/main">
              <a:ext uri="{FF2B5EF4-FFF2-40B4-BE49-F238E27FC236}">
                <a16:creationId xmlns:a16="http://schemas.microsoft.com/office/drawing/2014/main" id="{6FC3B007-4E8F-4AF1-B090-BB611FB6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38FAA09-A6CC-41BA-B29B-D542D236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BC22754-81FF-4280-AE03-C3A71817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人工过验证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8B10F34-C766-4315-B918-88C9226B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用户本人登录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并处理验证码/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5" name="shein-step-2">
            <a:extLst xmlns:a="http://schemas.openxmlformats.org/drawingml/2006/main">
              <a:ext uri="{FF2B5EF4-FFF2-40B4-BE49-F238E27FC236}">
                <a16:creationId xmlns:a16="http://schemas.microsoft.com/office/drawing/2014/main" id="{F565F370-83FB-4B37-8182-D6D95665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E68934C-D40D-4D7E-8AED-EEFE7C8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5F46ED6-C368-4A5D-B36B-77265B32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逐页取卡片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A2572DF-59D6-47E2-A0B0-47578FB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page=1…26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提取商品ID、价格、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分类、销量文案、图片URL</a:t>
            </a:r>
          </a:p>
        </p:txBody>
      </p:sp>
      <p:sp>
        <p:nvSpPr>
          <p:cNvPr id="29" name="shein-step-3">
            <a:extLst xmlns:a="http://schemas.openxmlformats.org/drawingml/2006/main">
              <a:ext uri="{FF2B5EF4-FFF2-40B4-BE49-F238E27FC236}">
                <a16:creationId xmlns:a16="http://schemas.microsoft.com/office/drawing/2014/main" id="{7D1BB49E-012C-4144-84B6-A3787A1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3D7CF98-AE72-43DC-A8B6-79DA6F97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F80D0EF-D892-4053-AA06-00207EBA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每页写检查点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3FD9D93-1F80-4B8B-BBFC-606BC9F4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记录已完成页码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遇风险拦截即停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保留partial文件</a:t>
            </a:r>
          </a:p>
        </p:txBody>
      </p:sp>
      <p:sp>
        <p:nvSpPr>
          <p:cNvPr id="33" name="shein-step-4">
            <a:extLst xmlns:a="http://schemas.openxmlformats.org/drawingml/2006/main">
              <a:ext uri="{FF2B5EF4-FFF2-40B4-BE49-F238E27FC236}">
                <a16:creationId xmlns:a16="http://schemas.microsoft.com/office/drawing/2014/main" id="{B1A71455-0BF5-4E58-BB52-24D80C97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87722E1-76BD-41C4-A48D-B0CA09CB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20EBC1DC-BC92-4A62-B75D-CA05399A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补必要详情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E5319A2-4BC3-4F4E-A808-85098BCE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对150个目标商品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读取尺码、颜色、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更完整图片序列</a:t>
            </a:r>
          </a:p>
        </p:txBody>
      </p:sp>
      <p:sp>
        <p:nvSpPr>
          <p:cNvPr id="37" name="shein-step-5">
            <a:extLst xmlns:a="http://schemas.openxmlformats.org/drawingml/2006/main">
              <a:ext uri="{FF2B5EF4-FFF2-40B4-BE49-F238E27FC236}">
                <a16:creationId xmlns:a16="http://schemas.microsoft.com/office/drawing/2014/main" id="{6C229C3B-EFDB-4CB4-8995-7FFA0E63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0CC414F2-83D6-440E-8727-C402DA1C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0D41147-C82A-4D9A-8E83-BD04E8BF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导出可审计原始层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7B38019-558D-48A7-9BC6-D5E203E7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目录页、商品组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失败记录、采集状态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5E5CB280-2E51-47FD-B1ED-103BE49B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144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1B7EDA3A-78A2-4A17-BBD5-5DAE9AF7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恢复策略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D0929449-B3E6-4EAA-8EFE-9DA6B72D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风险拦截时不伪装成功：保留最后完成页、失败页和原因；人工解除验证后从检查点继续，再合并新旧卡片。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9AC0209A-06D2-487F-89AE-08DD236A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E6706C35-F1CB-4951-95D2-ECC7A861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5223676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B221BB1E-1F50-4BF5-92FC-873F844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→ 2 · DATA MOVEMENT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F6CF49-671A-405D-8785-2891AAAC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快的是URL索引；高清下载与AI推理只在需要时发生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1DA6BC-0AF7-40A1-AFF3-CB04CEB7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把“商品元数据、图片URL、图片文件、AI结果”拆成不同层，才能快速更新、精确去重并控制费用。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373AC3-6722-423D-9F69-BF5D5952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8DB93140-44C2-4F65-9BF9-F63F5AEB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5C90DD0-91D1-4320-8B09-4BB4D16E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data-lane-0">
            <a:extLst xmlns:a="http://schemas.openxmlformats.org/drawingml/2006/main">
              <a:ext uri="{FF2B5EF4-FFF2-40B4-BE49-F238E27FC236}">
                <a16:creationId xmlns:a16="http://schemas.microsoft.com/office/drawing/2014/main" id="{74B102E3-6F03-4D8B-9DFB-0054F972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D286C2-1237-4BB5-B0E7-D16B514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 / URL INDEX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E1FDDD-B68B-4BB9-BC38-C80F27C7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官方响应已经带 image_urls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13544BE-3FE5-41CF-A61E-B649B6BE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527DD1-7414-4FC8-A584-21E3A64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本地展开为 images_*.jsonl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键：store_id＋product_id＋position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计算 url_sha256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不下载图片文件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因此可以快速形成全量索引</a:t>
            </a:r>
          </a:p>
        </p:txBody>
      </p:sp>
      <p:sp>
        <p:nvSpPr>
          <p:cNvPr id="12" name="data-lane-1">
            <a:extLst xmlns:a="http://schemas.openxmlformats.org/drawingml/2006/main">
              <a:ext uri="{FF2B5EF4-FFF2-40B4-BE49-F238E27FC236}">
                <a16:creationId xmlns:a16="http://schemas.microsoft.com/office/drawing/2014/main" id="{3727CE15-56F7-476B-BAC6-5E06C1AE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70FDD2A-BE41-41C8-875A-5E63388E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 / NORMALIZED DB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EE78C70-E640-48DF-887E-6C289CFA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去重后进入SQLite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4F3B8054-7EAC-4436-BD06-93A6A009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A7746AA-5FFB-4F0F-8896-1C839B73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商品ID去重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店铺内 source_url 唯一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同URL分析一次并复用结果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Aloruh首图写入15维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竞品保留12维可比分布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UI只分页读取需要的行</a:t>
            </a:r>
          </a:p>
        </p:txBody>
      </p:sp>
      <p:sp>
        <p:nvSpPr>
          <p:cNvPr id="17" name="data-lane-2">
            <a:extLst xmlns:a="http://schemas.openxmlformats.org/drawingml/2006/main">
              <a:ext uri="{FF2B5EF4-FFF2-40B4-BE49-F238E27FC236}">
                <a16:creationId xmlns:a16="http://schemas.microsoft.com/office/drawing/2014/main" id="{FCF9AAB3-079B-450E-8D7A-4A59A3F2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786EA44-C1A3-44BF-813A-71DB9C81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HD + AI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159F0C3-D314-4599-A175-4461A8A4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付费分析才取高清字节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C6AD0085-14E0-43B1-8F2B-244EBF5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EDB2E0-CFAF-418E-88EF-85270500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尝试去缩略图URL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校验公网主机、格式、尺寸和SHA256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整体报告任务共享 _image_cache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缓存损坏或不达高清门槛才重下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随后由Sol读取detail=high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79DC5D22-7FE3-48CD-B30F-EBF6214C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12D0C75-C6AE-45A3-8598-AD33651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关键边界：url_sha256只证明“URL已索引”；content_sha256或缓存SHA256才证明“图片字节已下载并校验”。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BEF8F5B9-B66E-48EE-A147-83DE2A1C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5FFF68E2-E554-440E-87A7-17FA619A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3738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BA33E6C2-65FE-4FD4-B8B9-ECB992CC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NORMALIZATION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586A4-0FFF-4F40-B657-1E1641E4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标准化数据层：Aloruh 1,782张首图已完成15维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1E9FC9-9DBB-48F4-B5D9-0E97532B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每张图片保留 store_id / product_id / position / source_url；三家竞品继续用既有12维标签作为可比分布。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B6DD06-4E6D-48BA-AA54-47A5C934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0C6EF70-EC18-4CF3-AF84-44E902C6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1E8ED70-EB30-4C1C-B526-5FD0E0EF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8B8E2B72-4DD6-4379-B68D-B4D17194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774262B8-B0C1-492A-A982-83940A53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3EA98EFF-CC2B-4D88-8596-2E9C9F81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D7E16EC-18B6-40CE-8FB7-20CF83C3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原始来源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675E706E-0236-438C-8F03-B3EDA32B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0CD4F7E-01B0-4F84-BE6D-820EC275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商品JSONL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3972FA2D-7F8C-450B-9659-22B4BDE6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ADF2228-BBB5-4582-BDC4-D22F0269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图片JSONL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F76CCC0-FC29-4878-80DD-89D219FE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F57A5EF-3955-4100-B535-0179A1B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URL/内容去重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FFE4F86A-36F5-498C-B85B-6F10BABA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DB2DFE0-18E4-4832-AC52-72D6CB18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SQLite索引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113FF24-52EC-47D1-806F-1A1FAB2A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 DIMENSIONS / FASHION-IMAGE-V2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73D44C2C-E7E6-44D5-A0A2-C973E864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43CDD40-8E39-4FD6-B109-5F7A00F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商品属性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A4C2928-D4E6-41B7-983B-94D08F99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01 商品类别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 廓形与版型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 设计元素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 穿着场合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 材质纹理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 色彩图案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5F88B920-CF94-46E3-93F6-5669D93B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4B8C391-7A31-4172-9BAE-9E12E12B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镜头与呈现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3C8B054-7C1C-46EC-88CA-6EA7BDF8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 构图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 视角动作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 卖点部位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 拍摄场景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13 光线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14 模特状态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D550668B-8967-4249-833B-CBDDEE19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FCE25B0-D35E-432F-851A-32ED3109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风格与版面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DDBDFD8-5A45-49A3-8EAA-D8CDCC6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11 视觉语言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 搭配方式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 图文叠加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E04C1A32-33F9-4CF6-9E55-28D549A9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87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EF58B0B-2546-4E55-8A03-2B86089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Aloruh：1,782张首图 × 15维完整，0个缺失 · 竞品：15,107张图片保留12维可比分布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C40F8536-4F30-49D8-8748-5C34ED88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22DD0E69-E658-40B5-BAA0-7D7FB65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824176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065FA14B-0955-4EF0-8834-834A41F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1/2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7E7336-4C43-4D35-B512-FBC771A0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15维不是抽象概念：前8维把商品与镜头变成可组合条件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527CF0-E61B-4032-B1F0-5B972E1A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15维已用于Aloruh 1,782张首图；每个例子都来自fashion-image-v2受控字典，UI显示中文，数据库保存英文代码。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CCCF01-5462-4E03-AEF2-883122D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mension-index-01">
            <a:extLst xmlns:a="http://schemas.openxmlformats.org/drawingml/2006/main">
              <a:ext uri="{FF2B5EF4-FFF2-40B4-BE49-F238E27FC236}">
                <a16:creationId xmlns:a16="http://schemas.microsoft.com/office/drawing/2014/main" id="{36856706-A459-4869-9CCB-8FC3A90C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mension-title-01">
            <a:extLst xmlns:a="http://schemas.openxmlformats.org/drawingml/2006/main">
              <a:ext uri="{FF2B5EF4-FFF2-40B4-BE49-F238E27FC236}">
                <a16:creationId xmlns:a16="http://schemas.microsoft.com/office/drawing/2014/main" id="{9E3C5628-8111-4284-B1E1-F2401074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 / product_category</a:t>
            </a:r>
          </a:p>
        </p:txBody>
      </p:sp>
      <p:sp>
        <p:nvSpPr>
          <p:cNvPr id="7" name="dimension-tags-01">
            <a:extLst xmlns:a="http://schemas.openxmlformats.org/drawingml/2006/main">
              <a:ext uri="{FF2B5EF4-FFF2-40B4-BE49-F238E27FC236}">
                <a16:creationId xmlns:a16="http://schemas.microsoft.com/office/drawing/2014/main" id="{1464BD86-06A8-48A5-B781-70BB3D33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上衣 · 半身裙 · 连衣裙 · 套装</a:t>
            </a:r>
          </a:p>
        </p:txBody>
      </p:sp>
      <p:sp>
        <p:nvSpPr>
          <p:cNvPr id="8" name="dimension-note-01">
            <a:extLst xmlns:a="http://schemas.openxmlformats.org/drawingml/2006/main">
              <a:ext uri="{FF2B5EF4-FFF2-40B4-BE49-F238E27FC236}">
                <a16:creationId xmlns:a16="http://schemas.microsoft.com/office/drawing/2014/main" id="{D84C9A7E-EB85-4606-9A72-0FC31014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先回答主售商品是什么；这是唯一必须单值的维度。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FA45F5D1-2564-4CCA-AE28-1EF43ACD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02">
            <a:extLst xmlns:a="http://schemas.openxmlformats.org/drawingml/2006/main">
              <a:ext uri="{FF2B5EF4-FFF2-40B4-BE49-F238E27FC236}">
                <a16:creationId xmlns:a16="http://schemas.microsoft.com/office/drawing/2014/main" id="{B74097F2-2619-4D7D-BD4A-63CAA14E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mension-title-02">
            <a:extLst xmlns:a="http://schemas.openxmlformats.org/drawingml/2006/main">
              <a:ext uri="{FF2B5EF4-FFF2-40B4-BE49-F238E27FC236}">
                <a16:creationId xmlns:a16="http://schemas.microsoft.com/office/drawing/2014/main" id="{74D424D6-3642-4CD5-BF1A-AB661C5C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廓形版型 / silhouette_fit</a:t>
            </a:r>
          </a:p>
        </p:txBody>
      </p:sp>
      <p:sp>
        <p:nvSpPr>
          <p:cNvPr id="12" name="dimension-tags-02">
            <a:extLst xmlns:a="http://schemas.openxmlformats.org/drawingml/2006/main">
              <a:ext uri="{FF2B5EF4-FFF2-40B4-BE49-F238E27FC236}">
                <a16:creationId xmlns:a16="http://schemas.microsoft.com/office/drawing/2014/main" id="{CD966091-6902-41B6-AAFB-20475634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修身包体 · 宽松 · A字廓形 · 紧身胸衣式</a:t>
            </a:r>
          </a:p>
        </p:txBody>
      </p:sp>
      <p:sp>
        <p:nvSpPr>
          <p:cNvPr id="13" name="dimension-note-02">
            <a:extLst xmlns:a="http://schemas.openxmlformats.org/drawingml/2006/main">
              <a:ext uri="{FF2B5EF4-FFF2-40B4-BE49-F238E27FC236}">
                <a16:creationId xmlns:a16="http://schemas.microsoft.com/office/drawing/2014/main" id="{367AD500-DFC5-479B-8AD9-9FFDEE1A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用于比较贴体、宽松、A字与结构塑形的展示差异。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552E123-8231-4763-8B98-128C53A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03">
            <a:extLst xmlns:a="http://schemas.openxmlformats.org/drawingml/2006/main">
              <a:ext uri="{FF2B5EF4-FFF2-40B4-BE49-F238E27FC236}">
                <a16:creationId xmlns:a16="http://schemas.microsoft.com/office/drawing/2014/main" id="{DFD4CB63-C290-4AA4-B9F6-81385E8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mension-title-03">
            <a:extLst xmlns:a="http://schemas.openxmlformats.org/drawingml/2006/main">
              <a:ext uri="{FF2B5EF4-FFF2-40B4-BE49-F238E27FC236}">
                <a16:creationId xmlns:a16="http://schemas.microsoft.com/office/drawing/2014/main" id="{2D303ED2-350C-438A-9740-78739678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设计元素 / design_elements</a:t>
            </a:r>
          </a:p>
        </p:txBody>
      </p:sp>
      <p:sp>
        <p:nvSpPr>
          <p:cNvPr id="17" name="dimension-tags-03">
            <a:extLst xmlns:a="http://schemas.openxmlformats.org/drawingml/2006/main">
              <a:ext uri="{FF2B5EF4-FFF2-40B4-BE49-F238E27FC236}">
                <a16:creationId xmlns:a16="http://schemas.microsoft.com/office/drawing/2014/main" id="{4A36EFB1-78A3-4A23-BC0F-FF2AA747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露背 · 镂空 · 褶皱 · 压褶</a:t>
            </a:r>
          </a:p>
        </p:txBody>
      </p:sp>
      <p:sp>
        <p:nvSpPr>
          <p:cNvPr id="18" name="dimension-note-03">
            <a:extLst xmlns:a="http://schemas.openxmlformats.org/drawingml/2006/main">
              <a:ext uri="{FF2B5EF4-FFF2-40B4-BE49-F238E27FC236}">
                <a16:creationId xmlns:a16="http://schemas.microsoft.com/office/drawing/2014/main" id="{9AEA79CE-1BAF-4BA0-B016-B754E652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把露背、挖空、褶皱、压褶等具体结构显式化。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8ABEF007-FE11-4ECD-8C4A-88A56279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04">
            <a:extLst xmlns:a="http://schemas.openxmlformats.org/drawingml/2006/main">
              <a:ext uri="{FF2B5EF4-FFF2-40B4-BE49-F238E27FC236}">
                <a16:creationId xmlns:a16="http://schemas.microsoft.com/office/drawing/2014/main" id="{E0870730-BAA7-4819-99A8-760C606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mension-title-04">
            <a:extLst xmlns:a="http://schemas.openxmlformats.org/drawingml/2006/main">
              <a:ext uri="{FF2B5EF4-FFF2-40B4-BE49-F238E27FC236}">
                <a16:creationId xmlns:a16="http://schemas.microsoft.com/office/drawing/2014/main" id="{22CE381F-2219-4803-B32D-AF2116AD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穿着场合 / occasion</a:t>
            </a:r>
          </a:p>
        </p:txBody>
      </p:sp>
      <p:sp>
        <p:nvSpPr>
          <p:cNvPr id="22" name="dimension-tags-04">
            <a:extLst xmlns:a="http://schemas.openxmlformats.org/drawingml/2006/main">
              <a:ext uri="{FF2B5EF4-FFF2-40B4-BE49-F238E27FC236}">
                <a16:creationId xmlns:a16="http://schemas.microsoft.com/office/drawing/2014/main" id="{E0694FB8-30FD-4BDE-BFFE-8FF7588F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日常 · 外出聚会 · 度假 · 婚礼宾客</a:t>
            </a:r>
          </a:p>
        </p:txBody>
      </p:sp>
      <p:sp>
        <p:nvSpPr>
          <p:cNvPr id="23" name="dimension-note-04">
            <a:extLst xmlns:a="http://schemas.openxmlformats.org/drawingml/2006/main">
              <a:ext uri="{FF2B5EF4-FFF2-40B4-BE49-F238E27FC236}">
                <a16:creationId xmlns:a16="http://schemas.microsoft.com/office/drawing/2014/main" id="{C939B631-B961-41D9-AA0E-5DC8FBD5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描述服装适用语境，不等于照片实际拍摄地点。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E049D2D4-5DE4-49C4-B72D-9ADF20E9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05">
            <a:extLst xmlns:a="http://schemas.openxmlformats.org/drawingml/2006/main">
              <a:ext uri="{FF2B5EF4-FFF2-40B4-BE49-F238E27FC236}">
                <a16:creationId xmlns:a16="http://schemas.microsoft.com/office/drawing/2014/main" id="{12FEF63A-6108-4F5D-ABE3-5AFB5A52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mension-title-05">
            <a:extLst xmlns:a="http://schemas.openxmlformats.org/drawingml/2006/main">
              <a:ext uri="{FF2B5EF4-FFF2-40B4-BE49-F238E27FC236}">
                <a16:creationId xmlns:a16="http://schemas.microsoft.com/office/drawing/2014/main" id="{F825FBC2-FC9E-46E1-AC19-4FD381F3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画面构图 / composition</a:t>
            </a:r>
          </a:p>
        </p:txBody>
      </p:sp>
      <p:sp>
        <p:nvSpPr>
          <p:cNvPr id="27" name="dimension-tags-05">
            <a:extLst xmlns:a="http://schemas.openxmlformats.org/drawingml/2006/main">
              <a:ext uri="{FF2B5EF4-FFF2-40B4-BE49-F238E27FC236}">
                <a16:creationId xmlns:a16="http://schemas.microsoft.com/office/drawing/2014/main" id="{77E3F27D-C9A2-4B48-97BD-2B8F491C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全身 · 近景 · 细节特写 · 纯商品图</a:t>
            </a:r>
          </a:p>
        </p:txBody>
      </p:sp>
      <p:sp>
        <p:nvSpPr>
          <p:cNvPr id="28" name="dimension-note-05">
            <a:extLst xmlns:a="http://schemas.openxmlformats.org/drawingml/2006/main">
              <a:ext uri="{FF2B5EF4-FFF2-40B4-BE49-F238E27FC236}">
                <a16:creationId xmlns:a16="http://schemas.microsoft.com/office/drawing/2014/main" id="{1473AE11-556D-461B-A968-B6D7665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区分全身、近景、细节与无模特商品图。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E346C5FB-65C9-454F-9CC2-501DC556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06">
            <a:extLst xmlns:a="http://schemas.openxmlformats.org/drawingml/2006/main">
              <a:ext uri="{FF2B5EF4-FFF2-40B4-BE49-F238E27FC236}">
                <a16:creationId xmlns:a16="http://schemas.microsoft.com/office/drawing/2014/main" id="{15B0FFAA-A3CC-4361-8D14-70BCC0BC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dimension-title-06">
            <a:extLst xmlns:a="http://schemas.openxmlformats.org/drawingml/2006/main">
              <a:ext uri="{FF2B5EF4-FFF2-40B4-BE49-F238E27FC236}">
                <a16:creationId xmlns:a16="http://schemas.microsoft.com/office/drawing/2014/main" id="{4F426F1F-5546-4213-B87F-5303602E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视角动作 / view_action</a:t>
            </a:r>
          </a:p>
        </p:txBody>
      </p:sp>
      <p:sp>
        <p:nvSpPr>
          <p:cNvPr id="32" name="dimension-tags-06">
            <a:extLst xmlns:a="http://schemas.openxmlformats.org/drawingml/2006/main">
              <a:ext uri="{FF2B5EF4-FFF2-40B4-BE49-F238E27FC236}">
                <a16:creationId xmlns:a16="http://schemas.microsoft.com/office/drawing/2014/main" id="{D1F89F23-D270-4A0C-A365-0A00CF9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正面 · 背面 · 行走 · 镜面自拍</a:t>
            </a:r>
          </a:p>
        </p:txBody>
      </p:sp>
      <p:sp>
        <p:nvSpPr>
          <p:cNvPr id="33" name="dimension-note-06">
            <a:extLst xmlns:a="http://schemas.openxmlformats.org/drawingml/2006/main">
              <a:ext uri="{FF2B5EF4-FFF2-40B4-BE49-F238E27FC236}">
                <a16:creationId xmlns:a16="http://schemas.microsoft.com/office/drawing/2014/main" id="{EC0F2FB1-B18F-41A4-9B4F-A084055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把正面、背面、行走与自拍等观看方式固定下来。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9486A9A6-21EC-4279-A355-8048DC5A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07">
            <a:extLst xmlns:a="http://schemas.openxmlformats.org/drawingml/2006/main">
              <a:ext uri="{FF2B5EF4-FFF2-40B4-BE49-F238E27FC236}">
                <a16:creationId xmlns:a16="http://schemas.microsoft.com/office/drawing/2014/main" id="{96BC3B13-02E3-42C2-8FB0-5C936E6E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dimension-title-07">
            <a:extLst xmlns:a="http://schemas.openxmlformats.org/drawingml/2006/main">
              <a:ext uri="{FF2B5EF4-FFF2-40B4-BE49-F238E27FC236}">
                <a16:creationId xmlns:a16="http://schemas.microsoft.com/office/drawing/2014/main" id="{C363E986-1EFD-4902-97E8-D7176C26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卖点部位 / selling_points</a:t>
            </a:r>
          </a:p>
        </p:txBody>
      </p:sp>
      <p:sp>
        <p:nvSpPr>
          <p:cNvPr id="37" name="dimension-tags-07">
            <a:extLst xmlns:a="http://schemas.openxmlformats.org/drawingml/2006/main">
              <a:ext uri="{FF2B5EF4-FFF2-40B4-BE49-F238E27FC236}">
                <a16:creationId xmlns:a16="http://schemas.microsoft.com/office/drawing/2014/main" id="{8FB18CB4-52B6-48E3-AE2A-72C4DD8C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领口 · 腰胯 · 面料纹理 · 整体造型</a:t>
            </a:r>
          </a:p>
        </p:txBody>
      </p:sp>
      <p:sp>
        <p:nvSpPr>
          <p:cNvPr id="38" name="dimension-note-07">
            <a:extLst xmlns:a="http://schemas.openxmlformats.org/drawingml/2006/main">
              <a:ext uri="{FF2B5EF4-FFF2-40B4-BE49-F238E27FC236}">
                <a16:creationId xmlns:a16="http://schemas.microsoft.com/office/drawing/2014/main" id="{082C2FDD-8A3C-4771-98E9-1A52D313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记录镜头主要在解释领口、腰胯、面料还是整套造型。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04A18285-D543-418D-9BDA-9F26B5C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mension-index-08">
            <a:extLst xmlns:a="http://schemas.openxmlformats.org/drawingml/2006/main">
              <a:ext uri="{FF2B5EF4-FFF2-40B4-BE49-F238E27FC236}">
                <a16:creationId xmlns:a16="http://schemas.microsoft.com/office/drawing/2014/main" id="{E3CE7695-15D4-462C-8FD0-5A3F936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dimension-title-08">
            <a:extLst xmlns:a="http://schemas.openxmlformats.org/drawingml/2006/main">
              <a:ext uri="{FF2B5EF4-FFF2-40B4-BE49-F238E27FC236}">
                <a16:creationId xmlns:a16="http://schemas.microsoft.com/office/drawing/2014/main" id="{8801C802-1B7D-482B-AE54-780C8A83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拍摄场景 / scene</a:t>
            </a:r>
          </a:p>
        </p:txBody>
      </p:sp>
      <p:sp>
        <p:nvSpPr>
          <p:cNvPr id="42" name="dimension-tags-08">
            <a:extLst xmlns:a="http://schemas.openxmlformats.org/drawingml/2006/main">
              <a:ext uri="{FF2B5EF4-FFF2-40B4-BE49-F238E27FC236}">
                <a16:creationId xmlns:a16="http://schemas.microsoft.com/office/drawing/2014/main" id="{3AFF547D-9C59-4626-8F5D-0A16210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中性棚拍 · 街道 · 海滩 · 建筑空间</a:t>
            </a:r>
          </a:p>
        </p:txBody>
      </p:sp>
      <p:sp>
        <p:nvSpPr>
          <p:cNvPr id="43" name="dimension-note-08">
            <a:extLst xmlns:a="http://schemas.openxmlformats.org/drawingml/2006/main">
              <a:ext uri="{FF2B5EF4-FFF2-40B4-BE49-F238E27FC236}">
                <a16:creationId xmlns:a16="http://schemas.microsoft.com/office/drawing/2014/main" id="{9A62E0BF-E52C-42D3-9794-2F003B7E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描述图片真实背景：棚拍、街道、海滩或建筑空间。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8F383587-72E9-4729-85FB-59EB3F36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FEC0E24C-BBB4-4803-BDE2-B1C17DAE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DA0E2CC3-BE64-4578-8560-76CAC9A2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70933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99C2C99C-8207-4952-A313-820DE619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2/2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CAB3B4-1ACB-4285-827C-46DA084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后7维补足材质、视觉语言与版面信号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DE77FF-69EB-45F9-986C-0945C366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Aloruh的09–15维均已完成；光线、模特状态和图文叠加让报告可覆盖白皮书中的拍摄与可见模特要求。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EEC340-CC92-4F09-B640-F6781D37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imension-index-09">
            <a:extLst xmlns:a="http://schemas.openxmlformats.org/drawingml/2006/main">
              <a:ext uri="{FF2B5EF4-FFF2-40B4-BE49-F238E27FC236}">
                <a16:creationId xmlns:a16="http://schemas.microsoft.com/office/drawing/2014/main" id="{BF4B6068-9BBF-4750-9964-A7EE4E1A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imension-title-09">
            <a:extLst xmlns:a="http://schemas.openxmlformats.org/drawingml/2006/main">
              <a:ext uri="{FF2B5EF4-FFF2-40B4-BE49-F238E27FC236}">
                <a16:creationId xmlns:a16="http://schemas.microsoft.com/office/drawing/2014/main" id="{3A54CBEC-D819-45ED-8151-74AE8725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材质纹理 / material_texture</a:t>
            </a:r>
          </a:p>
        </p:txBody>
      </p:sp>
      <p:sp>
        <p:nvSpPr>
          <p:cNvPr id="7" name="dimension-tags-09">
            <a:extLst xmlns:a="http://schemas.openxmlformats.org/drawingml/2006/main">
              <a:ext uri="{FF2B5EF4-FFF2-40B4-BE49-F238E27FC236}">
                <a16:creationId xmlns:a16="http://schemas.microsoft.com/office/drawing/2014/main" id="{CFB85C65-89F6-4409-8C87-0C0AD027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针织 · 蕾丝 · 缎面感 · 牛仔</a:t>
            </a:r>
          </a:p>
        </p:txBody>
      </p:sp>
      <p:sp>
        <p:nvSpPr>
          <p:cNvPr id="8" name="dimension-note-09">
            <a:extLst xmlns:a="http://schemas.openxmlformats.org/drawingml/2006/main">
              <a:ext uri="{FF2B5EF4-FFF2-40B4-BE49-F238E27FC236}">
                <a16:creationId xmlns:a16="http://schemas.microsoft.com/office/drawing/2014/main" id="{728162F6-B52C-4015-98D2-B5FE21B7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只标记肉眼可见或标题明确支持的纹理，不猜测纤维成分。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3DBB786-3F8F-4997-AEA1-0209CDD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10">
            <a:extLst xmlns:a="http://schemas.openxmlformats.org/drawingml/2006/main">
              <a:ext uri="{FF2B5EF4-FFF2-40B4-BE49-F238E27FC236}">
                <a16:creationId xmlns:a16="http://schemas.microsoft.com/office/drawing/2014/main" id="{94872945-BC33-48BD-96C6-A513A455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dimension-title-10">
            <a:extLst xmlns:a="http://schemas.openxmlformats.org/drawingml/2006/main">
              <a:ext uri="{FF2B5EF4-FFF2-40B4-BE49-F238E27FC236}">
                <a16:creationId xmlns:a16="http://schemas.microsoft.com/office/drawing/2014/main" id="{B69A84D4-BD4F-4739-AF68-9DD04C3F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色彩图案 / color_pattern</a:t>
            </a:r>
          </a:p>
        </p:txBody>
      </p:sp>
      <p:sp>
        <p:nvSpPr>
          <p:cNvPr id="12" name="dimension-tags-10">
            <a:extLst xmlns:a="http://schemas.openxmlformats.org/drawingml/2006/main">
              <a:ext uri="{FF2B5EF4-FFF2-40B4-BE49-F238E27FC236}">
                <a16:creationId xmlns:a16="http://schemas.microsoft.com/office/drawing/2014/main" id="{C0DB122A-BD72-44E6-B9B6-AC0249FC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黑色 · 红色 · 花卉图案 · 纯色</a:t>
            </a:r>
          </a:p>
        </p:txBody>
      </p:sp>
      <p:sp>
        <p:nvSpPr>
          <p:cNvPr id="13" name="dimension-note-10">
            <a:extLst xmlns:a="http://schemas.openxmlformats.org/drawingml/2006/main">
              <a:ext uri="{FF2B5EF4-FFF2-40B4-BE49-F238E27FC236}">
                <a16:creationId xmlns:a16="http://schemas.microsoft.com/office/drawing/2014/main" id="{67C9B7C7-D1FE-4807-B3C5-0FFBDFE7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颜色与图案可以并存，例如红色＋纯色。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83C8474E-CDEB-44F6-A356-DFBC6879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11">
            <a:extLst xmlns:a="http://schemas.openxmlformats.org/drawingml/2006/main">
              <a:ext uri="{FF2B5EF4-FFF2-40B4-BE49-F238E27FC236}">
                <a16:creationId xmlns:a16="http://schemas.microsoft.com/office/drawing/2014/main" id="{AF840B8A-F96A-4006-944A-028F924B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dimension-title-11">
            <a:extLst xmlns:a="http://schemas.openxmlformats.org/drawingml/2006/main">
              <a:ext uri="{FF2B5EF4-FFF2-40B4-BE49-F238E27FC236}">
                <a16:creationId xmlns:a16="http://schemas.microsoft.com/office/drawing/2014/main" id="{B0E62FBE-E128-41E3-8696-BDFE4F5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视觉语言 / visual_language</a:t>
            </a:r>
          </a:p>
        </p:txBody>
      </p:sp>
      <p:sp>
        <p:nvSpPr>
          <p:cNvPr id="17" name="dimension-tags-11">
            <a:extLst xmlns:a="http://schemas.openxmlformats.org/drawingml/2006/main">
              <a:ext uri="{FF2B5EF4-FFF2-40B4-BE49-F238E27FC236}">
                <a16:creationId xmlns:a16="http://schemas.microsoft.com/office/drawing/2014/main" id="{922A8A1E-2342-42DC-9EF8-08B585C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干净电商风 · 编辑大片感 · 社交UGC · 直接闪光</a:t>
            </a:r>
          </a:p>
        </p:txBody>
      </p:sp>
      <p:sp>
        <p:nvSpPr>
          <p:cNvPr id="18" name="dimension-note-11">
            <a:extLst xmlns:a="http://schemas.openxmlformats.org/drawingml/2006/main">
              <a:ext uri="{FF2B5EF4-FFF2-40B4-BE49-F238E27FC236}">
                <a16:creationId xmlns:a16="http://schemas.microsoft.com/office/drawing/2014/main" id="{C9D64804-D1B4-4138-AAFA-12931C2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描述商业棚拍、编辑感、社交UGC或直接闪光等表达。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E1A8320E-1FD3-417F-A558-7DBE8075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12">
            <a:extLst xmlns:a="http://schemas.openxmlformats.org/drawingml/2006/main">
              <a:ext uri="{FF2B5EF4-FFF2-40B4-BE49-F238E27FC236}">
                <a16:creationId xmlns:a16="http://schemas.microsoft.com/office/drawing/2014/main" id="{F9279796-7436-4746-8018-8D4184AD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dimension-title-12">
            <a:extLst xmlns:a="http://schemas.openxmlformats.org/drawingml/2006/main">
              <a:ext uri="{FF2B5EF4-FFF2-40B4-BE49-F238E27FC236}">
                <a16:creationId xmlns:a16="http://schemas.microsoft.com/office/drawing/2014/main" id="{CA4B5DAE-5DA7-4049-8174-A48596F7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搭配方式 / styling</a:t>
            </a:r>
          </a:p>
        </p:txBody>
      </p:sp>
      <p:sp>
        <p:nvSpPr>
          <p:cNvPr id="22" name="dimension-tags-12">
            <a:extLst xmlns:a="http://schemas.openxmlformats.org/drawingml/2006/main">
              <a:ext uri="{FF2B5EF4-FFF2-40B4-BE49-F238E27FC236}">
                <a16:creationId xmlns:a16="http://schemas.microsoft.com/office/drawing/2014/main" id="{4BDE47A1-E65F-4E3E-AF6E-EB9A69BC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单品展示 · 完整造型 · 叠穿 · 手袋</a:t>
            </a:r>
          </a:p>
        </p:txBody>
      </p:sp>
      <p:sp>
        <p:nvSpPr>
          <p:cNvPr id="23" name="dimension-note-12">
            <a:extLst xmlns:a="http://schemas.openxmlformats.org/drawingml/2006/main">
              <a:ext uri="{FF2B5EF4-FFF2-40B4-BE49-F238E27FC236}">
                <a16:creationId xmlns:a16="http://schemas.microsoft.com/office/drawing/2014/main" id="{FC2B3F15-6CE3-4D7F-AB80-B8F49483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记录单品、整套、叠穿以及可见配饰如何参与画面。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0CAA99E3-F62E-468C-AB0E-FA6BB5AC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13">
            <a:extLst xmlns:a="http://schemas.openxmlformats.org/drawingml/2006/main">
              <a:ext uri="{FF2B5EF4-FFF2-40B4-BE49-F238E27FC236}">
                <a16:creationId xmlns:a16="http://schemas.microsoft.com/office/drawing/2014/main" id="{82B9BE79-D2E6-4F0B-B060-E42DC69A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dimension-title-13">
            <a:extLst xmlns:a="http://schemas.openxmlformats.org/drawingml/2006/main">
              <a:ext uri="{FF2B5EF4-FFF2-40B4-BE49-F238E27FC236}">
                <a16:creationId xmlns:a16="http://schemas.microsoft.com/office/drawing/2014/main" id="{5964E579-352D-4C1D-AE95-49BE1E1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光线 / lighting</a:t>
            </a:r>
          </a:p>
        </p:txBody>
      </p:sp>
      <p:sp>
        <p:nvSpPr>
          <p:cNvPr id="27" name="dimension-tags-13">
            <a:extLst xmlns:a="http://schemas.openxmlformats.org/drawingml/2006/main">
              <a:ext uri="{FF2B5EF4-FFF2-40B4-BE49-F238E27FC236}">
                <a16:creationId xmlns:a16="http://schemas.microsoft.com/office/drawing/2014/main" id="{0C127CE4-D0F1-4ECA-AF5E-7197CF9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柔和漫射光 · 自然日光 · 直接闪光 · 低调暗光</a:t>
            </a:r>
          </a:p>
        </p:txBody>
      </p:sp>
      <p:sp>
        <p:nvSpPr>
          <p:cNvPr id="28" name="dimension-note-13">
            <a:extLst xmlns:a="http://schemas.openxmlformats.org/drawingml/2006/main">
              <a:ext uri="{FF2B5EF4-FFF2-40B4-BE49-F238E27FC236}">
                <a16:creationId xmlns:a16="http://schemas.microsoft.com/office/drawing/2014/main" id="{9341AE7D-DBF3-4E5C-AE6F-D8F7BE3F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把柔光、自然光、直闪和低调照明拆成独立可筛选信号。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83DC6617-AC47-4708-B61B-0334AAA8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14">
            <a:extLst xmlns:a="http://schemas.openxmlformats.org/drawingml/2006/main">
              <a:ext uri="{FF2B5EF4-FFF2-40B4-BE49-F238E27FC236}">
                <a16:creationId xmlns:a16="http://schemas.microsoft.com/office/drawing/2014/main" id="{6DD906E3-28D2-4BFE-86B4-C9D3F0CE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1" name="dimension-title-14">
            <a:extLst xmlns:a="http://schemas.openxmlformats.org/drawingml/2006/main">
              <a:ext uri="{FF2B5EF4-FFF2-40B4-BE49-F238E27FC236}">
                <a16:creationId xmlns:a16="http://schemas.microsoft.com/office/drawing/2014/main" id="{F1096D99-FB1A-4A8B-A889-3AD81B59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模特状态 / model_state</a:t>
            </a:r>
          </a:p>
        </p:txBody>
      </p:sp>
      <p:sp>
        <p:nvSpPr>
          <p:cNvPr id="32" name="dimension-tags-14">
            <a:extLst xmlns:a="http://schemas.openxmlformats.org/drawingml/2006/main">
              <a:ext uri="{FF2B5EF4-FFF2-40B4-BE49-F238E27FC236}">
                <a16:creationId xmlns:a16="http://schemas.microsoft.com/office/drawing/2014/main" id="{411B78D9-CFBC-47D9-9DA0-38DDEC0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无模特 · 站立姿势 · 视线偏离镜头 · 面部裁切</a:t>
            </a:r>
          </a:p>
        </p:txBody>
      </p:sp>
      <p:sp>
        <p:nvSpPr>
          <p:cNvPr id="33" name="dimension-note-14">
            <a:extLst xmlns:a="http://schemas.openxmlformats.org/drawingml/2006/main">
              <a:ext uri="{FF2B5EF4-FFF2-40B4-BE49-F238E27FC236}">
                <a16:creationId xmlns:a16="http://schemas.microsoft.com/office/drawing/2014/main" id="{CE115E82-74D5-4179-B07F-D73A9679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只记录姿态与可见状态，不推断身份、健康或吸引力。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AC7C6ACF-F5D9-4C9D-A6BF-F6489C70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15">
            <a:extLst xmlns:a="http://schemas.openxmlformats.org/drawingml/2006/main">
              <a:ext uri="{FF2B5EF4-FFF2-40B4-BE49-F238E27FC236}">
                <a16:creationId xmlns:a16="http://schemas.microsoft.com/office/drawing/2014/main" id="{6CAAE765-7244-4050-9864-11E7BD09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dimension-title-15">
            <a:extLst xmlns:a="http://schemas.openxmlformats.org/drawingml/2006/main">
              <a:ext uri="{FF2B5EF4-FFF2-40B4-BE49-F238E27FC236}">
                <a16:creationId xmlns:a16="http://schemas.microsoft.com/office/drawing/2014/main" id="{075025E0-4EDE-4D41-B5F4-ACD27CC6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图文叠加 / graphic_overlay</a:t>
            </a:r>
          </a:p>
        </p:txBody>
      </p:sp>
      <p:sp>
        <p:nvSpPr>
          <p:cNvPr id="37" name="dimension-tags-15">
            <a:extLst xmlns:a="http://schemas.openxmlformats.org/drawingml/2006/main">
              <a:ext uri="{FF2B5EF4-FFF2-40B4-BE49-F238E27FC236}">
                <a16:creationId xmlns:a16="http://schemas.microsoft.com/office/drawing/2014/main" id="{940E9635-06FC-4AA5-A410-D7B6371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无叠加 · 文字叠加 · 拼贴 · Logo水印</a:t>
            </a:r>
          </a:p>
        </p:txBody>
      </p:sp>
      <p:sp>
        <p:nvSpPr>
          <p:cNvPr id="38" name="dimension-note-15">
            <a:extLst xmlns:a="http://schemas.openxmlformats.org/drawingml/2006/main">
              <a:ext uri="{FF2B5EF4-FFF2-40B4-BE49-F238E27FC236}">
                <a16:creationId xmlns:a16="http://schemas.microsoft.com/office/drawing/2014/main" id="{91F59FB4-7DBD-4B38-B0D8-A2A843FE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识别纯图、文字、拼贴、Logo水印等版面处理。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7AC24E42-B9CB-4CA4-A722-34E44686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0097A838-1201-4666-A068-F66A139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032EE7F2-A925-4F2B-B69D-6921EF35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“无法判断”规则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4084C273-889B-4E73-BFD3-872FDCB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看不清就返回“无法判断”（UNKNOWN），不再返回其他标签。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漏图、重复图或非法标签会被程序拒绝。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AFFFC118-B45A-4864-88A0-3AE2100B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1CD7C030-ABE4-496B-8F51-E0D6964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56870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79C4A376-A2A5-480C-8D8E-3932B01D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→ 3 · AI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F1645A-B0A8-421C-A041-96AB36AB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Terra负责“可查询标签”，Sol负责“可交付结论”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4FC085-AAB0-40E3-95D4-76885CA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两层模型共享图片键与证据上下文，但输入清晰度、触发时机、输出结构和成本完全不同。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183729-26F8-4E48-9B2D-4B9984F9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odel-lane-0">
            <a:extLst xmlns:a="http://schemas.openxmlformats.org/drawingml/2006/main">
              <a:ext uri="{FF2B5EF4-FFF2-40B4-BE49-F238E27FC236}">
                <a16:creationId xmlns:a16="http://schemas.microsoft.com/office/drawing/2014/main" id="{36EB44A5-BD7A-4213-B58D-A6B82240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52F31C-25D0-4F60-AD00-09A3056A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GPT-5.6-TERRA / BATCH TAGGING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4583214-AB72-4144-AB92-4D3C13B0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v2已完成15维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CD4FB3-EDE6-4DF8-A22B-CCEF9B9A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49FDF69-D828-47B8-9CAC-38C264CA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图片URL＋标题＋当前分类＋位置；detail=low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010587-51FB-491C-82DF-65EE1AB3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D3BD509-F782-4AE0-A3D1-A2FEC652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默认8图/批、8个worker；只处理未分析且URL去重后的图片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A5181F-9881-46EF-A16A-5DE0C8B6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A4A174-D6FF-4706-9681-73252692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受控字典＋可见证据边界＋UNKNOWN＋主售商品规则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6F9AAFA-80FA-4E12-8185-CBC4F758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988FD00-10F2-4A99-83ED-09307F5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v2返回15组tags＋confidence；竞品v1保留12组；strict JSON Schema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67E8F73-9833-4ADF-83EF-DFC14BAD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216795C-8655-4C94-A934-A06B1A04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增量检查点、4次重试、策略拦截拆批、图片索引校验</a:t>
            </a:r>
          </a:p>
        </p:txBody>
      </p:sp>
      <p:sp>
        <p:nvSpPr>
          <p:cNvPr id="18" name="model-lane-1">
            <a:extLst xmlns:a="http://schemas.openxmlformats.org/drawingml/2006/main">
              <a:ext uri="{FF2B5EF4-FFF2-40B4-BE49-F238E27FC236}">
                <a16:creationId xmlns:a16="http://schemas.microsoft.com/office/drawing/2014/main" id="{567CA668-DDC9-4406-9DEE-7CD8422B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67AAD6E-62BE-4E7E-9024-2E225FDF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GPT-5.6-SOL / PAID DEEP ANALYSIS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C0AEEDF-339F-422B-84D4-15CD6E5D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按需高清精读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27CE54F-4B76-4D24-BC45-88F84232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F07F732-3EC9-4056-A086-98314299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高清文件＋店铺/商品/品类＋固定筛选条件；detail=high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18A8438-1DEA-4EBD-A175-855A6FDA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AAB6B5A-9E91-4F68-94D2-CF4F8072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体验1点击付费分析；体验2启动整体报告专项分析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897E704-22EA-4522-A96E-CBCF1068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6491144-C0B3-40F9-A409-215B1130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先写可见事实，再解释；每个判断必须有visible_cue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0F5BED7-22DA-4E7A-98B1-4E34B958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09B1450-48BB-4A91-A7F9-5851D21D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逐图观察、优缺点、建议、证据；再汇总店铺与Section结论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214D1F8-DEF4-4CE1-BB1A-58845DE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88F5E1B-88B2-4F7A-B6CF-389B3048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不写CTR/CVR因果；校验图片ID、品牌归属与Section数量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F3B1DB5B-33EE-4E25-801E-DD714DF2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A5E5F52-9AC0-456A-97A1-87A29A49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Terra已把27,355张图变成检索空间：Aloruh首图15维，其他店铺12维；Sol只在用户明确付费时读取高清图。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07132E13-86D8-4176-B77E-EFC2E17A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BC6A9077-F6D7-4C16-9B45-3F8178E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2156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6EC5E1F0-8EE2-4F71-8FD7-574CD029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TERRA ACTUAL PROMPT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830E15-81F9-48B3-9785-4A468BE9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第11页：维度相关部分是标签字典，不是15条判断Prompt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4EA5AA-46E5-4307-94E2-F9C2CE24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代码里只有一条统一判断规则；每个维度后面列出允许返回的受控代码。以下为真实维度行节选。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681220-C362-4AF8-865F-22A47889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850E46DF-E19C-421E-BE6F-9F04525F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CF4877F-055C-4B3F-9499-4C31A731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6CDD3FC0-4F42-4577-A535-8C56E18D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01">
            <a:extLst xmlns:a="http://schemas.openxmlformats.org/drawingml/2006/main">
              <a:ext uri="{FF2B5EF4-FFF2-40B4-BE49-F238E27FC236}">
                <a16:creationId xmlns:a16="http://schemas.microsoft.com/office/drawing/2014/main" id="{A0D4ACA6-942D-4822-90F6-D1D9A235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94F7E4-A99B-4392-B572-C54EAC30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C30ADD4-E73D-4DE6-8443-2C408365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每批图片＋上下文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A631ACC-9080-4DA3-9DDC-CBB6F243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 · 标题 · 已有品类 · 位置</a:t>
            </a:r>
          </a:p>
        </p:txBody>
      </p:sp>
      <p:sp>
        <p:nvSpPr>
          <p:cNvPr id="12" name="flow-02">
            <a:extLst xmlns:a="http://schemas.openxmlformats.org/drawingml/2006/main">
              <a:ext uri="{FF2B5EF4-FFF2-40B4-BE49-F238E27FC236}">
                <a16:creationId xmlns:a16="http://schemas.microsoft.com/office/drawing/2014/main" id="{4B7EBC9D-0E78-49A9-99D7-E18FC0FE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7870ED-105C-4828-AC09-E7693084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D16821F-F146-419F-830C-4D52C8C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统一可见证据规则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404F96-1B77-4F98-8CDE-8E6221B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看不清=UNKNOWN · 主售商品优先</a:t>
            </a:r>
          </a:p>
        </p:txBody>
      </p:sp>
      <p:sp>
        <p:nvSpPr>
          <p:cNvPr id="16" name="flow-03">
            <a:extLst xmlns:a="http://schemas.openxmlformats.org/drawingml/2006/main">
              <a:ext uri="{FF2B5EF4-FFF2-40B4-BE49-F238E27FC236}">
                <a16:creationId xmlns:a16="http://schemas.microsoft.com/office/drawing/2014/main" id="{4C59419F-0739-4B62-B15D-95536584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2C1932F-032A-499F-83EB-78633EE8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9328F7C-6AF5-4BD8-A0D3-B561EF83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15个受控字段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66C1961-1635-492D-B23E-472EB63F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同一次调用全部判断，不拆15次</a:t>
            </a:r>
          </a:p>
        </p:txBody>
      </p:sp>
      <p:sp>
        <p:nvSpPr>
          <p:cNvPr id="20" name="flow-04">
            <a:extLst xmlns:a="http://schemas.openxmlformats.org/drawingml/2006/main">
              <a:ext uri="{FF2B5EF4-FFF2-40B4-BE49-F238E27FC236}">
                <a16:creationId xmlns:a16="http://schemas.microsoft.com/office/drawing/2014/main" id="{E53B2594-F152-47B5-B60C-B198DD46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2F01E66-F3B2-4C3E-B614-9451273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C2F57B8-6574-4D7B-BD13-2D607153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严格JSON返回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0DF37F8-BBFD-4499-878D-A8BAD1A1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每维标签＋置信度 · 漏项失败</a:t>
            </a:r>
          </a:p>
        </p:txBody>
      </p:sp>
      <p:sp>
        <p:nvSpPr>
          <p:cNvPr id="24" name="cod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B5EB43B6-06BF-4B8F-A0E0-FC86B32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40957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de-titl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903608C8-7F19-4ACA-8910-BA2A5EB7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统一规则节选</a:t>
            </a:r>
          </a:p>
        </p:txBody>
      </p:sp>
      <p:sp>
        <p:nvSpPr>
          <p:cNvPr id="26" name="code-body-统一规则节选">
            <a:extLst xmlns:a="http://schemas.openxmlformats.org/drawingml/2006/main">
              <a:ext uri="{FF2B5EF4-FFF2-40B4-BE49-F238E27FC236}">
                <a16:creationId xmlns:a16="http://schemas.microsoft.com/office/drawing/2014/main" id="{AC1B47DD-4EDE-4FB2-B172-E2E1DFC3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3714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Use visible evidence and the supplied title/category only.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and never combine UNKNOWN with another code.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must have exactly one value.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Other dimensions may have up to five values.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Focus on the primary item sold; accessories belong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in styling unless they are the primary product.</a:t>
            </a:r>
          </a:p>
        </p:txBody>
      </p:sp>
      <p:sp>
        <p:nvSpPr>
          <p:cNvPr id="27" name="cod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C1347B66-AF23-4C9B-8237-65C0DC2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67056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de-titl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E0820FA5-9AF2-44FA-B360-E2EC6C73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5个真实维度行节选（受控标签，不是独立指令）</a:t>
            </a:r>
          </a:p>
        </p:txBody>
      </p:sp>
      <p:sp>
        <p:nvSpPr>
          <p:cNvPr id="29" name="code-body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DC566898-DCD0-49E6-9E5D-ADBF88C2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7600"/>
            <a:ext cx="6324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product_category: DRESSES, TOPS, SKIRTS, TROUSERS,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...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... 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代码没有额外的“occasion判断句”或“scene判断句”；维度语义由字段名、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标签集合、统一可见证据规则与严格输出Schema共同限定。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F52A6EC1-C0D9-4883-BCD7-4355B914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2A8356F-0F05-42B7-86A0-E642154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完整通用规则＋15个标签字典逐字放在附录A1–A4；Sol主流程与修订Prompt见附录A5–A9。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8860ACD6-9F3A-46F0-B73F-9507DB1A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2DA17E4C-5271-4B65-848F-F1504C10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059136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23806E3-1B68-4424-80BB-F80AF88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 · SOL ACTUAL CALLS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963A9B-EF00-4A32-A160-802A8F0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真实实现：两种体验调用Sol的方式不同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EDA999-642C-4EE6-8175-D86D9C7D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体验1一次调用同时产出逐图观察和店铺比较；体验2先逐图观察，再进行第二次全量证据合成。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A2116E-BFAB-4C9C-A9D3-5D600C66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prompt-体验1 / 单次高精度分析">
            <a:extLst xmlns:a="http://schemas.openxmlformats.org/drawingml/2006/main">
              <a:ext uri="{FF2B5EF4-FFF2-40B4-BE49-F238E27FC236}">
                <a16:creationId xmlns:a16="http://schemas.microsoft.com/office/drawing/2014/main" id="{23F126AF-0C39-48DA-9EE6-B1747256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08570E-9CD3-42FC-8F60-EB013706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体验1 / 单次高精度分析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AAF9A9-E2A9-4F67-90C1-21AB7CE0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输入：固定筛选条件＋用户选中的高清图片（最多24张）。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真实Prompt要求：先写肉眼可见事实，再写解释；比较场景、景别、动作、光线、色彩、搭配、服装结构、视觉意图与店铺一致性。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同一次返回：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每张图的可见观察、优缺点、建议和证据线索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共同模式、店铺差异、各店总结、拍摄规则、A/B假设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边界：只代表本次选图，不代表各店全量分布。</a:t>
            </a:r>
          </a:p>
        </p:txBody>
      </p:sp>
      <p:sp>
        <p:nvSpPr>
          <p:cNvPr id="8" name="prompt-体验2 / 两阶段报告分析">
            <a:extLst xmlns:a="http://schemas.openxmlformats.org/drawingml/2006/main">
              <a:ext uri="{FF2B5EF4-FFF2-40B4-BE49-F238E27FC236}">
                <a16:creationId xmlns:a16="http://schemas.microsoft.com/office/drawing/2014/main" id="{885F5F6E-8B2C-4643-B578-558FE187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8BEB63-FDDA-46DE-B865-720F292F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/ 两阶段报告分析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0AFB565-3621-4B86-91E7-D2186316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57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阶段A：每8张高清图调用一次Sol，逐图输出10项可见观察、优缺点、证据线索和候选模式。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阶段B：把全部逐图观察、图片—店铺映射、竞品全量分布和分析范围交给Sol，再生成五个Section。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每条结论必须返回：推导、样本数、筛选条件、观察字段、支持图、反例图和代表图。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边界：比例来自全量分布；高清证据图只负责复核。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942A2443-9BBC-45F4-9665-9076D30C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D42703-11DF-4E70-9B41-E1C095B4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Terra先把图片变成可筛选标签；Sol再把指定范围内的图片证据变成解释、比较和建议。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F055C96C-8166-4801-85AE-BDD98B72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765BDA3F-29CB-4597-A2FC-A11866D9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41979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68AA6867-1C76-47EB-82CF-8B702882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SELECTION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E7D7D-66E4-413C-AC0D-E18358EA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体验1流程①：AND筛选后，手动选图与自动选图走两条真实路径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A1C51B8-4642-4EF2-BA75-222997A3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Terra标签只负责缩小候选范围；最终送入Sol的图片由用户明确选择，或由系统按店铺均衡随机选取。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BA2548-3D6E-4C80-9EA1-0270534B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low-01">
            <a:extLst xmlns:a="http://schemas.openxmlformats.org/drawingml/2006/main">
              <a:ext uri="{FF2B5EF4-FFF2-40B4-BE49-F238E27FC236}">
                <a16:creationId xmlns:a16="http://schemas.microsoft.com/office/drawing/2014/main" id="{2885F9A6-6D2A-4200-8585-59A3B59B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DB495B-71BB-4907-BFED-3AA2660F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65D1344-AFB0-40E3-8DAD-1B60D6AB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校验筛选条件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72E50E-68CD-40A3-B6A6-1842FCC9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维度必须已有生产数据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标签必须在受控字典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4A9461FF-999B-4942-82FB-49949694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2">
            <a:extLst xmlns:a="http://schemas.openxmlformats.org/drawingml/2006/main">
              <a:ext uri="{FF2B5EF4-FFF2-40B4-BE49-F238E27FC236}">
                <a16:creationId xmlns:a16="http://schemas.microsoft.com/office/drawing/2014/main" id="{20367E04-2F53-41CA-8DD9-B2A63B3F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1F7331-04F8-49E7-BC35-CD1C7045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C7EC64-597E-475B-AD3D-D87DF230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SQLite执行AND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99EB50-CFAF-4E9B-9B32-78B0880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每一维都必须命中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source_url全局去重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BF63D469-7F30-41EE-A630-9724AC7E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55446DE9-81DD-4354-A3D7-1250020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16" name="manual-lane">
            <a:extLst xmlns:a="http://schemas.openxmlformats.org/drawingml/2006/main">
              <a:ext uri="{FF2B5EF4-FFF2-40B4-BE49-F238E27FC236}">
                <a16:creationId xmlns:a16="http://schemas.microsoft.com/office/drawing/2014/main" id="{B43731A9-0F1D-4603-8EBA-416E152C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43050"/>
            <a:ext cx="5829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FA26383-5F9C-48D5-AF46-D9A68307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33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手动选图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5ACA688-4BDE-4F2F-8524-02528FD1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5391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用户提交 store_id＋product_id＋position；后端再次检查：键唯一、店铺在范围内、图片存在、仍满足AND条件；保持用户选择顺序，最多24张。</a:t>
            </a:r>
          </a:p>
        </p:txBody>
      </p:sp>
      <p:sp>
        <p:nvSpPr>
          <p:cNvPr id="19" name="automatic-lane">
            <a:extLst xmlns:a="http://schemas.openxmlformats.org/drawingml/2006/main">
              <a:ext uri="{FF2B5EF4-FFF2-40B4-BE49-F238E27FC236}">
                <a16:creationId xmlns:a16="http://schemas.microsoft.com/office/drawing/2014/main" id="{9561DA41-BEC1-41D6-B7D9-BF02068C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5829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88D3734-D8D0-4EFC-97B7-BBFA23D1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自动选图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C717C00-ED49-40E3-A06E-F074A277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5391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先把每店候选池扩到目标数的8倍（单店12–32张、总池不超过160张），再用 SystemRandom 在各店内打乱；按店铺轮询取图，直到每店成功下载1–8张且总数≤24。</a:t>
            </a:r>
          </a:p>
        </p:txBody>
      </p:sp>
      <p:sp>
        <p:nvSpPr>
          <p:cNvPr id="22" name="flow-arrow">
            <a:extLst xmlns:a="http://schemas.openxmlformats.org/drawingml/2006/main">
              <a:ext uri="{FF2B5EF4-FFF2-40B4-BE49-F238E27FC236}">
                <a16:creationId xmlns:a16="http://schemas.microsoft.com/office/drawing/2014/main" id="{FFCF062F-356A-47F8-BD20-D69EA9D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3" name="flow-03">
            <a:extLst xmlns:a="http://schemas.openxmlformats.org/drawingml/2006/main">
              <a:ext uri="{FF2B5EF4-FFF2-40B4-BE49-F238E27FC236}">
                <a16:creationId xmlns:a16="http://schemas.microsoft.com/office/drawing/2014/main" id="{D07D8387-139F-4D75-8E77-B6DC1F60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705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D9A731F-B95E-4D77-9160-41178222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18C4176-2436-4880-AA73-872C34BE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下载高清图并明确记录失败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4F81B92-7E5D-4147-9A0B-97C1E771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逐个尝试候选图；达到每店配额后停止。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阈值：≥80万像素、长边≥1000、短边≥600。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失败不会静默替代为低清图。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896A180B-ADCD-4DF1-B1C7-83F3D159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4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7A9E85B-595E-4D56-A443-4FD90B11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送入Sol的不是全部命中图，而是最终成功下载并通过高清门槛的1–24张。体验1目前仍按任务下载，尚未接入整体报告的共享高清缓存。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9F4D79E6-8DC8-49F4-9686-58602110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307A0E22-B3E6-4AB8-ADC8-E3CAA3FE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71026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795F4287-C85C-4145-A19D-FF5FB6B7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CONCLUSION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DF9C1A-3FE7-406C-B8D1-79586D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体验1流程②：一次Sol调用同时返回逐图观察、跨店比较与建议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0C72C5-85F4-466D-8714-CC3B7B14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这不是先逐图调用、再额外汇总；1–24张高清图与筛选条件被放进同一个请求，由严格JSON一次返回完整结果。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03DE0F-9BAF-4B2B-8CE0-31B956B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xperience1-input">
            <a:extLst xmlns:a="http://schemas.openxmlformats.org/drawingml/2006/main">
              <a:ext uri="{FF2B5EF4-FFF2-40B4-BE49-F238E27FC236}">
                <a16:creationId xmlns:a16="http://schemas.microsoft.com/office/drawing/2014/main" id="{F2582F76-9D76-4CF3-8642-C43B5EA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200400" cy="40957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5A1CDF-C2D4-4687-9304-B03CBFE5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A6CB17-307D-4840-B403-981830A7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714B7A-504B-4EAA-9EDC-9148E64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例如 product_category=TOPS AND occasion=VACATION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3ADED9D-774B-4B0F-8FAE-0081BF1A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B21C19-9BD5-42F5-9540-735B5D2E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每张高清图上下文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743E3EE-6507-4F84-9293-CFB8B51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store · product · title · category · pixels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图片本体以 detail=high 发送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147FE0-7E79-4485-9BE7-B1682C3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数量：1–24张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6D60BE2C-1B25-410C-BA70-2465F97C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experience1-reasoning">
            <a:extLst xmlns:a="http://schemas.openxmlformats.org/drawingml/2006/main">
              <a:ext uri="{FF2B5EF4-FFF2-40B4-BE49-F238E27FC236}">
                <a16:creationId xmlns:a16="http://schemas.microsoft.com/office/drawing/2014/main" id="{2FC0E03E-4EFF-4FAB-BA9A-D6FCFB3E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3390900" cy="4095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959342B-4E07-4D6C-B6A5-908FDCB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SOL PROMPT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6118546-2CBA-42E6-B8EE-44781BAE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先事实，后解释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8ABDD6B-EE53-4070-AE09-784D8DE2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逐图观察：场景、景别、动作、光线、色彩、搭配、服装结构、视觉意图。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每个判断都要 visible_cue；不得推断敏感属性；不得把构图写成CTR/CVR因果。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6D8899A5-3CA3-4A0B-AD05-5237B75D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C2D9E38-E509-4E0D-9A30-4AA3351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同一请求内跨图比较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E7BE0E8-7A65-4138-AFAC-7B5930B1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共同模式 · 店铺差异 · 各店视觉定位 · 可复用拍摄规则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2FB70545-25AA-4184-B14E-320E240A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experience1-output">
            <a:extLst xmlns:a="http://schemas.openxmlformats.org/drawingml/2006/main">
              <a:ext uri="{FF2B5EF4-FFF2-40B4-BE49-F238E27FC236}">
                <a16:creationId xmlns:a16="http://schemas.microsoft.com/office/drawing/2014/main" id="{E9F65451-E602-4B5C-8BCF-70D74A03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505200" cy="4095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C5B2EFC-3A2E-4BCC-B764-0CA154A8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STRICT JSON OUTPUT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6C3F4B3-01B4-4BB2-B68E-ECA43217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逐图结果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F4E718A-8D8B-4CCC-9DCD-CA80A1F7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7项可见字段 · visual_intent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strengths · weaknesses · changes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evidence claim＋visible_cue 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44C2124-01BB-4E53-970A-B47C3435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跨图结果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E942149-E234-47DD-A891-59AFD570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selection thesis · shared patterns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cross-store differences · store summaries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shot system · A/B hypotheses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51124586-4524-47F5-9B8B-E5EA4A71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18A3847-0C39-4B52-8FD5-0D7E7780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结论只代表本次成功送入Sol的图片；没有全店分布，不得外推整店占比。图片索引和店铺摘要缺失或重复会直接失败。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20DBE27F-C419-4AA6-9AB5-13D6A9CA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A48AA95D-B6F2-4589-99B5-19400FDC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945106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627D14E-1398-4D9E-B065-527E0E97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1/7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F18884-D35F-45A3-B611-0440AD90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Demo：进入维度分析，先看可用范围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BC57EE-9744-45B1-BC66-311F9DF1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入口显示27,355张已分析图片；15个维度可筛，其中光线、模特状态、图文叠加目前仅Aloruh有值。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89EE10-6671-43F1-AC4B-4EE180F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5ECE5129-4DF9-4DA5-B028-795980DD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c897561874a45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09AD667C-3D73-4E4C-9D65-A5F2AB47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C1BA749C-0A1B-4BE7-9AEC-F5D2E39C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4E67E017-BF3E-439B-991F-4BC32531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进入图片维度分析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1E1BC29-3F00-459B-BF5D-47B0A675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CA400CE6-D740-4F9D-97E9-00200E3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6CB8981B-BF7A-4037-9DB6-3FEC33C4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确认已有分析图片规模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BB16927-8DC3-40E7-90D9-20B931AD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972BD97-7329-4DEF-8066-54E4F67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查看15个中文维度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FE6B87AE-7702-4A7C-8ADE-C3C539AB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5CA0F9F-4564-4AEA-A946-AEA58CA9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按店铺与维度真实覆盖筛选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AE8B720-F2CD-4513-BFE8-F29A7134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BD19B1E-9B8B-4B83-89D7-A497E4EB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1134247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8AA69C9-4BC1-439E-BBAF-2425F21E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2/7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91F8E3-44B8-42AF-B785-B07E1BE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Demo：选择需要组合的分析维度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5DAAE73-7877-4BF1-A9EE-B4D7EDDE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示例选择“商品类别”和“穿着场景”，页面同步生成两个标签下拉框。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6ECDCF-5460-486D-9484-4E7EE7FD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0121BB23-F064-4597-B71F-4459F995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1c3e0a9244cc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9A8CDBA1-8A8C-49C8-BCDF-C843BED6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466AA577-BD6E-45EB-B242-D0A38F95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F4876346-2DEF-498D-848B-7F427658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勾选两个维度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1A6EBD9-8868-43F9-9AFE-81E2E571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6ED606A3-87A3-4115-9D05-6163DE73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65ADBA1-AB91-47FD-BDF1-7B064CAD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688FEC35-A1A2-4B5D-A5A9-1C9E2626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5E26EE1E-D573-43D5-9F19-481030AB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穿着场景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ECC47D13-2A2A-47C4-9C33-377234C4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5B056EC2-79AC-4216-B446-6D69A26D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其余维度保持未选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5740CD6-50A0-422A-93C4-8572EEEC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A8D9A748-DD81-4EA8-B7E0-3084AB04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3209669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21CBAB8-BF48-4B69-8ADE-4978624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3/7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F7C02B-D466-46DA-B5A3-85F9C533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Demo：把标签组合成可解释的AND条件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42B446-8063-40C1-A50F-C8E53A67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商品类别=上衣，穿着场景=度假；只有同时满足两个标签的图片才会命中。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684FA7-B4E1-46F1-A18C-EF794F7B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9E04FBB6-6805-4261-A66F-47ABBC4B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215d0985041fd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58C5DDF8-0963-41A7-932F-34EC2844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F682E47E-BDC7-4E39-BD46-C94C0924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46F6584E-FCD8-44DF-9B4E-2476579F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设定“上衣 AND 度假”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B802769-DC32-4E6F-AAC8-9FFB74E8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422D47E-09EF-48D3-9642-015156F3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843981D-7ECA-4036-9AAA-732E1B08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每个维度只取一个标签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97D6DC7-C2F3-4115-B49D-1E3216F4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88EFCACA-4907-45C1-8A6F-0FB977ED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条件之间使用AND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EF0FD7D0-969C-40E4-BF03-68ADCFF4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B22A5BA3-5E26-48F8-A023-CE338E78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生产结果即时刷新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367C17A-6270-45CB-B18E-23C8F2A7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1319180-5C92-4D77-BDCC-6C34A3DA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3614998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BB01702-2672-4F34-93A1-904D98DB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4/7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D6809E-72BA-4E0B-BA33-4CF3CD6A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Demo：结果按店铺拆分，并保留商品证据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F1C104-B561-4027-951D-440DADF6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生产环境命中3,179张；每张卡片都保留店铺、商品ID、标签与原图。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0AFF09-36E5-472B-B272-77068478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A0D7A08-C1B3-49A1-B813-D1187009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3dbcddb7f4519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D97D5FD7-6A23-443C-9B01-2A15DB2C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861BDD2-0425-4404-9BC9-00B0EC3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10A4A752-95C9-45A5-85F2-160507A3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查看匹配结果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C616872-9110-42F1-ABDD-2662C30D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A72460FF-99B6-4FC3-8F41-82D2988D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DE83EF37-6388-4970-84FD-0D7D4123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命中3,179张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A3D3FCEB-6271-4481-98A1-CDF1E21B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54942771-8916-47D2-A20E-D1700A60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按5家店分别展示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ABD9B4CC-F2FC-449F-B42B-FD78BA0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D3D12A3-A31C-4324-86F4-777D34D2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可继续打开单图证据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AF5E77DE-0DE7-4F38-8443-3C9A352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D0177F3-8E1F-4FB7-A98C-70CBE6D3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2416440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E3BB8D6-9CEC-4A3F-B14D-28A49368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5/7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DC9E6A-B42E-4D7F-AEE0-B27143A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Demo：手动选图，确认付费分析范围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10F0D4-3E57-4051-A2E2-1005FB9F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勾选2张图并切换为手动选图；界面明确显示将分析1家店、2张高清图。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684B3F-32A8-4BBF-8B0F-0426DB81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3638E250-A643-4BEF-ADF8-2CB4AA3B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65087d6b245fd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B585D811-7F51-4054-92C8-A4A5A40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51E328D8-8685-45DA-BAC5-1F1B0C16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31B69971-7635-4775-96C6-4C3B5BD7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选择精读样本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98FFBA4-7CFB-4A6C-B1B1-0AB5212F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3F12507-5BA4-4214-A56F-E9758D7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5774152B-4AED-4255-9571-03E1F09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手动勾选2张图片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C1D2018-A69B-4A2A-8235-43173827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3BC0BF74-2E20-492D-9A57-0401F0BA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确认1家店、2张高清图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F88C24F-8AA2-4011-93CB-4A67D92C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06C8DE72-4F8D-408C-B72A-4E1BB303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费用提示在点击前可见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C5A1C25-7188-49F1-9E6D-A6E4EA11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4FCC8F3-D7DB-49C9-AF74-A6E60853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9103213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79CD86E-323B-45A8-A6FD-8D2C68A4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6/7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B19B92-E938-4F14-B426-E6E03EBF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Demo：点击付费分析，实时查看运行状态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F5BA7E-6571-4ACB-AFE7-C808063D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点击一次“开始精细视觉分析（付费）”后，按钮锁定并持续显示GPT-5.6 Sol任务进度。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E446FF-5052-4422-BDF0-4798721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BF59BE16-351A-462D-94EB-57B6C71D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f3758f7514dea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0D5E2706-A875-42D0-9275-22D85F47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9A8617F3-1FC1-4DBB-AA6C-B5BBDC25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06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73959235-71A8-4BB6-B7CA-9A49F90E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启动付费分析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05ED445-7A40-4288-9231-B945B729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E6A11A82-A145-45D8-9B5C-384C4076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AFCD3BA0-2D87-4080-A733-060FD088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付费按钮只触发一次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67458DA-E8CC-45DB-AA19-56B1AE53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A21814A5-68B7-4A8C-B086-55F7A13F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运行中按钮自动锁定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EC407ABC-EEC8-42D1-883B-C1F49A26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D7931E65-0ADB-4A9D-922E-37F16186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实时进度显示为55%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65C7F06-05D5-495F-9B44-830C07F2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8B13755-2ECD-4717-B3C4-5E9255B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871765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A08819F-EAD9-4F1D-B7F6-7CBC858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7/7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C5275C-479E-423C-9BA6-50AF0DCD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Demo：结果同时给出结论、Token与费用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11B0CC-FCE4-4C4D-8D6C-6406FCC2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2张高清图在81.3秒内完成；页面返回总体结论、共同模式、店铺差异和逐图可验证建议。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1399CC-C040-45D3-AFFC-D53EF1F7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869A3B7B-0224-4A80-BEEF-4457E0F7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a7cbbb52e4350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A41C6098-2402-48C2-A079-5ECA6919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FEA6FF93-7B44-4A25-8E71-1A13A0E7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07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133025DA-1BF4-4845-ABFA-1E10639C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查看精细分析结果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63152A2-EA5D-4217-9415-066B704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A2B56F38-2D36-4A99-8262-B966DAF5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8E8420A-515D-404B-8BF9-48EA765D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2/2图片成功、无失败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BA175E28-943C-4A84-8289-CAE6789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A6B9028-5DF7-4204-B166-E48BC66A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总Token 8,343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43BB819E-31B2-425E-9140-1A34C88B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E86F3F2F-73F8-4897-8842-F033D7CE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预估费用 $0.1897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2B52707-8B31-48F0-B06B-2985D17C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863201E-D85D-44DC-9B95-131C1A5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4031597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8E57F75D-8AB2-440C-9CBD-6C1B6BC5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SCOPE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AD6D9D-86DE-4ADB-A2CC-58D9D821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体验2流程①：先确定报告范围，再锁定证据池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C691B2-1A04-414C-A8D5-675D9687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用户只需选择目标店铺并确认范围；系统自动完成品类识别、竞品覆盖检查和证据选取。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41D6C0-D09B-4C36-8A39-19FB8063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B8FC0AF0-DEC5-4815-A336-3AA48505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4B34FF5A-A3AB-4682-9E11-41F14647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489B351F-CC60-4E87-8845-6A99960D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C1E2016C-7973-40EE-B077-36FCF1B1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6746BDAC-2A61-42D7-B83F-184A04D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9EDE150D-0C43-4881-A997-433A1690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BE708D9-528D-4C91-891C-F40E7A09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0B899B6-B973-4351-997D-4B61ED03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读取全店目录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BC528A-4700-4CDC-864A-42F64163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确认店铺规模、品类结构与可用图片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C8CC0975-2C2E-49B8-95C5-40C3F479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122FB8A-A4E8-4A8C-8098-5AEB9D0C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7098DE-6E5C-4F80-9884-A4C580E8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识别主品类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CE527BE-D1A2-47BC-B610-AEA67E99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按全店商品结构找出主要分析对象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78F03B31-5EC2-45FF-9B52-30EF229C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61D1D7F-81E2-429B-91B2-C61553E6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95951DA-92A0-4A76-9192-477522CE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补足重点品类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7DFF1DF-66A9-4312-B9CF-BECEE58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加入白皮书要求关注的补充品类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4D4D16E9-802C-43D8-9AF8-F73EEEA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029EDE7-4BA5-4247-9326-B6CD31EC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2F8DEDD-F29F-40BC-9B87-87911265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检查竞品覆盖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D4F3519-D135-4EBB-A682-77C66687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只保留标签口径完整的可比品类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CE81ADB3-F420-4B0D-A83F-8AAEBE3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2797C7C-7C18-4738-A405-55B0EEAF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FF0DF1B-BE60-45B7-98EC-692A6068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选择证据图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5571A57-DE0C-4222-92BC-D13583E6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兼顾典型表达与有效边界案例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8DD79706-FE51-4CCB-A1CA-7262F22D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60B5D45-D8C7-476D-AC83-0BCC8C6C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13132B8-9C71-452F-8714-F580848E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锁定任务范围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7643153-C6B7-45C3-8499-B6F936E6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保存店铺、商品、图片和竞品角色</a:t>
            </a:r>
          </a:p>
        </p:txBody>
      </p:sp>
      <p:sp>
        <p:nvSpPr>
          <p:cNvPr id="34" name="scope-user-view">
            <a:extLst xmlns:a="http://schemas.openxmlformats.org/drawingml/2006/main">
              <a:ext uri="{FF2B5EF4-FFF2-40B4-BE49-F238E27FC236}">
                <a16:creationId xmlns:a16="http://schemas.microsoft.com/office/drawing/2014/main" id="{6BA6A60D-7ECA-4349-9936-30764B9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5B95343-38D7-4FB8-9490-AD4B45D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用户确认什么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08F2BE2-D2D9-416D-B018-2AD9B9F4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目标店铺 · 自动识别的重点品类 · 竞品可比范围 · 费用提示</a:t>
            </a:r>
          </a:p>
        </p:txBody>
      </p:sp>
      <p:sp>
        <p:nvSpPr>
          <p:cNvPr id="37" name="scope-system-output">
            <a:extLst xmlns:a="http://schemas.openxmlformats.org/drawingml/2006/main">
              <a:ext uri="{FF2B5EF4-FFF2-40B4-BE49-F238E27FC236}">
                <a16:creationId xmlns:a16="http://schemas.microsoft.com/office/drawing/2014/main" id="{0AF528CB-C88B-4F4A-B706-DD62B857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29F193C5-2273-41B3-9D25-55E91A42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系统产出什么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826E4E33-9ADF-46CC-87D4-CF1ABA25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目标商品清单 · 图片位置清单 · 竞品证据清单 · 可追溯的范围快照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54E6979C-93BB-4141-A92E-0EF4724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1F313112-777B-48DB-86C2-D9FA1C1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范围确认后才启动付费分析；后续章节只能引用这次锁定的证据。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1B3F33A7-B608-41CE-9E52-712DE66A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112CEA61-0B47-49E8-9783-13B91532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336899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43689158-400C-4081-BB42-0DA2920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IMAGE ANALYSIS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5006FA-24B5-4ADE-9FE4-9545DDB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体验2流程②：把入选图片变成可复用的逐图事实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403C5F-9D5E-42E2-BF9B-607EE698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系统负责高清图解析、缓存复用、质量校验和逐图分析；用户不需要逐张操作。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A2B36E-A942-410B-8D1E-A8A2A6CF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B7C06BF8-6BE4-495D-B0C4-17357265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65A6F5B-688D-44E2-A332-95A624F6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229151B7-613F-40A7-A423-7A2628D4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37E15216-4304-4FAA-B294-43F897A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850E413F-FDBF-403D-9C21-EC6C1CDE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9E6C1AD7-C8DE-46BC-A04C-B921AA2D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1B73834-409A-4D2D-9D66-400DED4C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0ECBB6-6FDB-41E2-BC86-D96CFC6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读取图片记录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C321B3-CAD8-41E5-9FA0-4F16576C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带入店铺、商品、品类和图片位置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D6C119BC-87E3-4E9C-AD10-3BF8A6A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DC5C571-C4B1-4F8E-B922-0C9359A2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A319F23-B75E-49E1-99BD-41E58660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解析高清地址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5BB0F88-6E55-40A3-A6E7-1F94C15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从缩略图地址定位可用原图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6D885BD1-1B88-4052-82BF-A1210754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FCF23A-C80B-4140-9A15-E2EDD83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6278007-1213-4F44-B29B-269A6FB5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复用共享缓存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A306596-FFED-4696-AE28-B4DD7BB6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已有高清图直接使用，缺失项才下载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ADEB45F2-9B26-40D0-8514-257950D3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7D150C6-0CFB-4C7D-8695-D3B1150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9C606C2-CC52-48E2-AAB5-BD83A838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通过质量门槛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1F22CA2-C9B7-4B95-81C6-7AFECA5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检查尺寸、格式和文件完整性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2E79D24A-239C-4407-A366-60340873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4D7881D-CD5F-465D-B422-2E6AD111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F70F66D-6755-46B9-BC19-ACE2E5A0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分批调用Sol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7965FC8-4EFB-4472-AF25-999DB30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逐图读取画面，不依赖position猜朝向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634979E2-B0AD-48A8-AB4C-A2397783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11F406E-ECC9-4755-A8A6-9A1118EE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EA181A7-2FC2-4C8C-8A79-1817D5D9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保存结构化事实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A5F4615-B5D8-4E83-9255-1CEFC0CB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记录观察、证据线索、优缺点与置信度</a:t>
            </a:r>
          </a:p>
        </p:txBody>
      </p:sp>
      <p:sp>
        <p:nvSpPr>
          <p:cNvPr id="34" name="observation-fields">
            <a:extLst xmlns:a="http://schemas.openxmlformats.org/drawingml/2006/main">
              <a:ext uri="{FF2B5EF4-FFF2-40B4-BE49-F238E27FC236}">
                <a16:creationId xmlns:a16="http://schemas.microsoft.com/office/drawing/2014/main" id="{4C730615-908E-45B1-AF00-62E53925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5A5D21D-EBC8-49E3-B646-03652BE5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每张图输出什么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319F24E-07C4-4B48-BA33-A04389EB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场景与构图 · 光线与色盘 · 动作与搭配 · 服装结构与材质 · 品牌信号 · 可见模特特征</a:t>
            </a:r>
          </a:p>
        </p:txBody>
      </p:sp>
      <p:sp>
        <p:nvSpPr>
          <p:cNvPr id="37" name="observation-contract">
            <a:extLst xmlns:a="http://schemas.openxmlformats.org/drawingml/2006/main">
              <a:ext uri="{FF2B5EF4-FFF2-40B4-BE49-F238E27FC236}">
                <a16:creationId xmlns:a16="http://schemas.microsoft.com/office/drawing/2014/main" id="{11116EF9-7C9D-48B1-9CCD-6E947B3B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C80C77B-8BDB-441A-97A3-2D5C4D22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系统如何保证可复核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E12B1FD1-7A92-4C0E-A901-4B1E3C73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每个判断附可见线索 · 看不清就标未知 · 失败图片显式记录 · 输入图片ID必须完整返回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509FD459-019A-4D1A-9576-2C70B3A4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DEDA8B0B-6A01-4DD5-94D9-06E66BD2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图片只逐图分析一次；后续五个章节复用同一事实池，不重复下载、不重复看图。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E8BDA24E-78E8-4923-8860-BF678341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628EE862-26B9-4CE7-9423-BEDEC731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642455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">
            <a:extLst xmlns:a="http://schemas.openxmlformats.org/drawingml/2006/main">
              <a:ext uri="{FF2B5EF4-FFF2-40B4-BE49-F238E27FC236}">
                <a16:creationId xmlns:a16="http://schemas.microsoft.com/office/drawing/2014/main" id="{B11B973A-0055-45B5-A987-89EE56F0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SECTION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B81D7D-70D8-443E-87AA-52A0EA32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体验2流程③：同一事实池按章节裁剪，生成五章草稿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85DA71-579B-4B3A-832A-F3DB234C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每章只读取与问题相关的目录、逐图观察和竞品证据，再独立生成可审核草稿。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17DECB-7D30-4FC7-9923-6BF6DF7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5B552BBE-3458-47D5-A667-0B4461F8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408AE6-EAB2-4A91-95AD-4E9AA13D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E140F8D2-4C63-458E-8438-3B351646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62100"/>
            <a:ext cx="2324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5D599A-D703-4B8A-91E8-62152CE3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764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这一章回答什么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FF544097-0883-4F24-9E9C-E23CCF26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5C25E6-5AB8-4B1A-8748-6D185791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系统读取什么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9EC0970F-B575-4335-A54E-62FE43A7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21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01AC45-39DA-406E-9E42-240189BE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草稿产出什么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3609A22-FF8A-433C-87C8-FC2365C8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EFF33AD-3703-46C5-AA71-9AB14DBF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B5DAF57-305B-46EB-82BE-1BD332A4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DD8FE52-452F-427E-ABDB-C611D0F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店铺代表什么？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68DF004A-4620-4B13-A34A-4EA3F168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ABED369-F628-44CA-A49F-5207F8CE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全店品类结构＋目标店视觉事实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E8B58936-CB46-4C6A-9D02-2CA9F529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558DB18-D295-4478-9358-EED33E3A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品牌定位、核心风格与边界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D4A539C7-9C41-47D2-BD79-ED1C022E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F85208E-686D-4584-92E5-069E0A6F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EC5A7F53-CC53-47B7-9E65-6B588B9B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DAB3D3D-1B49-49DA-80BA-D382CBF4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商品怎样被展示？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651ACE4C-B38F-49DC-B947-017A8B94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F38D708-9A5F-4A72-9A6D-A7E0112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构图、动作、廓形、细节与材质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3C555C61-933C-495A-A3EF-CB5D7F7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9BDFD7C-329D-463B-BE9F-22FD01E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主品类结论＋补充品类验证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26D9FFA4-65FF-4217-84DB-9AD4F7CE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9CA810F-AD14-4F96-8146-9B192D62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73C79B21-29E9-4503-82B3-5FBE5EA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58A73B9-50BD-4D4B-9E65-7C1B699E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338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视觉体系哪里失序？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1262867C-7E2D-4D38-9E24-425B0FB7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4B18F9F-69DA-4204-8697-81859A44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33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场景、光线、版面与可见模特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9803B924-2C8C-4D62-B3E0-05939D8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F3F5EEB-59F4-49CC-AECF-92BFAD73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优势、问题与一致性风险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55902D41-AA07-4AB7-8399-0243F86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AF3E232D-7908-4EDE-929E-2E5E48F2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E5F83C2F-AA1D-451C-B11A-F3D9DEF4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005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32B45CE-F190-40AA-8BBF-D4C6C1EF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14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与竞品差在哪里？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95F3EAD1-2D0B-4A00-AD17-CF3B789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005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3F257A9B-008A-4500-B455-0631FFBF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可比分布＋对应品牌高清证据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3682F67D-C4F5-4F5F-A1D0-F77C0EA3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1822AF81-2BEE-4087-A13A-E9AFD03B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差距、机会点与适用边界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6261FE31-0DBE-410A-BA8A-F3D016B8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B14247B5-9900-4C02-9AD7-7539D5C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E8D3C597-B8B9-4CFC-A4E3-C8F3ADB6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816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2CC63C37-7EB6-4A76-8BF1-42AB1969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下一步具体怎么改？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250E8BA4-F6E0-42B5-905B-13466F0D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816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96E42645-275A-4E01-9A8D-E9DA408A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95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前四章已验证的问题和证据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E00F9508-A8BC-4C66-BAB4-3762C254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75580A05-8FAB-4931-9AD6-35A24A77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优先级、拍摄规则与PLAN A/B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D83C847D-70C7-4448-9A6C-0A8442F4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12F79B39-E34A-41FC-994C-06153CCF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每章独立保存草稿；五章完成后，执行摘要只整合已审核内容，不新增图片事实。</a:t>
            </a:r>
          </a:p>
        </p:txBody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4D8003A4-2071-4DC9-BB07-9585D96A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footer">
            <a:extLst xmlns:a="http://schemas.openxmlformats.org/drawingml/2006/main">
              <a:ext uri="{FF2B5EF4-FFF2-40B4-BE49-F238E27FC236}">
                <a16:creationId xmlns:a16="http://schemas.microsoft.com/office/drawing/2014/main" id="{5367207C-8DBC-4DAE-A718-F3C23800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760760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454FFCB2-20D3-4AE0-BBFC-68A25987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REVIEW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179A12-7FCA-43E4-809F-7528749D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体验2流程④：系统校验、用户审核，最后生成PDF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CADAA8-511B-4A08-B7D0-1092EFF5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系统先保证证据关系正确；用户再判断结论是否成立，不满意只重做对应章节。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C7E9DF-322E-4976-B40F-3B71A6E4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E66D3F4C-EB1D-4A7D-AB8A-EEE1F4A8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AC53AA80-E1D6-4EA4-B1C8-8D125E7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FC606E3D-0EF7-4663-9ED3-F1B7E8F2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A99203E2-E7BA-4C9E-83A0-65FF8734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65831F25-F666-48C0-83B7-8DBCAED2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2D34A0D0-D150-4610-9E9F-B692F4E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40AA1EF-7E2D-426A-937E-ADA55877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C8D80E-CF29-426E-A985-15AEA84C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读取逐图事实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85A3A0-4C2D-405F-97DD-C9316C21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使用已保存观察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不重新看图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7B985933-B967-40A4-AA11-2C3AFA3B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E8CCD05-4F1D-45E5-9BF0-7120542F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3F1BEA-26E6-43E2-AED8-4AC0153E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生成章节草稿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54E23C3-1F33-490D-8634-3F264654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结论＋推导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支持图＋反例图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B8B1A83F-F697-41EE-87E8-E2E77311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DFC7ABD-7091-4252-9679-60DC223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47882FA-E115-45A0-806A-9603C48F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程序校验证据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96C17E-931D-4DEE-9AA6-518AD4AF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检查图片ID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店铺和章节归属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F5B1F25D-DDFB-4ABB-9002-EDF05D3F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7FF6757-7E84-4B8E-9491-4F1544D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5504C0A-9894-4EDF-B3C1-10F4E57B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展示审核页面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33C6077-7A99-4DD0-A18F-7E5480FE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结论与图片同屏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范围可以回查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C9148FE6-2E28-4EE1-8844-BA499BBF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DE547DF-66CF-4666-BC68-B1977FC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EE37222-C6E5-4F0D-BDF3-3726965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用户通过或退回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02F86D6-9A5B-491E-A14B-39AB904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满意则锁定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不满意只重做本章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4FA49A5C-A5A3-497A-924B-AB49FBB1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FF6818D-DFD9-4B3B-84FE-71A9C15B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D324852-1D34-431F-BE40-57979122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生成最终PDF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AD9E8A1-D889-4140-84A7-803A087C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全部通过后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本地排版输出</a:t>
            </a:r>
          </a:p>
        </p:txBody>
      </p:sp>
      <p:sp>
        <p:nvSpPr>
          <p:cNvPr id="34" name="hard-validation">
            <a:extLst xmlns:a="http://schemas.openxmlformats.org/drawingml/2006/main">
              <a:ext uri="{FF2B5EF4-FFF2-40B4-BE49-F238E27FC236}">
                <a16:creationId xmlns:a16="http://schemas.microsoft.com/office/drawing/2014/main" id="{85223FFF-5775-41DB-ADA0-BB60E8CC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951725F4-13E0-4503-A6BE-428E3908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系统负责什么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0C55D59-8E35-4226-8D7C-D6CC992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检查图片ID是否来自本次任务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检查目标店与竞品归属是否正确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检查五个章节是否齐全且不重复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保存每章审核状态和修订版本</a:t>
            </a:r>
          </a:p>
        </p:txBody>
      </p:sp>
      <p:sp>
        <p:nvSpPr>
          <p:cNvPr id="37" name="soft-validation">
            <a:extLst xmlns:a="http://schemas.openxmlformats.org/drawingml/2006/main">
              <a:ext uri="{FF2B5EF4-FFF2-40B4-BE49-F238E27FC236}">
                <a16:creationId xmlns:a16="http://schemas.microsoft.com/office/drawing/2014/main" id="{1DAE8894-EA4C-41F5-AD7C-1AAB17D5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FE4E7FE-84F8-493F-AE68-84F4AC69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用户负责什么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F1ECF103-51E5-4CA7-BF80-08D35FA8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14850"/>
            <a:ext cx="5010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对照支持图和反例图检查结论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判断推导是否符合业务认知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通过可信章节，退回有问题章节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五章全部通过后生成并下载PDF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04550F80-BB1D-4056-9114-FC34BBA8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9A12641E-7339-400C-8769-241F12BE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6110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E828F06-DFD3-4EAD-8460-9859DDE8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1/5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11BFA9-83DC-4787-90AB-B739CC0F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Demo：先确认报告范围与证据契约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85AD05D-210C-4EB4-A961-F85EA7A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界面先说明目标店铺、品类选择方式、竞品可比边界与费用提示；用户确认后才启动分析。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5D9B36-28F3-468D-96B6-7710CC0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34D2D72A-FAC6-41DD-862B-0ADA20ED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7d981750c4956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4A3FD76B-D608-4FE0-9D6E-564A9149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F0C1EC12-BC16-4C6A-9A4E-56F0AFA0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A80374F3-E6B8-450E-AF41-3B2C5811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确认后再启动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45F16CF-0D9C-4E0B-9A31-CC6BB017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882556D-EF45-429D-92E7-3E2E98D4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B210C624-9E41-4006-A2F2-BA79927D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选择目标店铺与报告范围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75955740-3237-4303-9FF2-37EAFB2D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D19CFEC3-AC6A-48AA-ADB3-3A2924D4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确认系统自动选样方法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C53560B-6ABC-44A6-9CB2-1CD31334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B3BFE3F2-7A42-48EE-B162-3464CC5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理解竞品边界后启动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AD4AFC98-EE0D-4610-8E09-883F4E30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D6044580-9BE9-4BA3-BF6F-9F6AC99F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502804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5CBFB15-D230-45CF-B7F3-B66FF130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2/5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8E6DBE-FC86-44A3-8C5F-54D99561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Demo：分析完成后先看统计与草稿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A9EFE25-6FD2-4C01-BB76-8702905A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任务页汇总分析进度、证据覆盖、缓存复用、实际费用和五章草稿，便于进入逐章审核。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E81D99-2D64-4199-AA74-93A7EEDE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9242EC84-3199-4128-94D6-5A491990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4c4cf99904d83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64160A96-0327-4257-B4D4-539F256F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A1E3FCCD-5EC8-449B-8B8C-FC7DFD4B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34990C7D-8733-46CB-ACC8-A6372D45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打开已完成任务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7CE1859-209D-44E5-ABF6-9D94497C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DB0D092D-71C0-452A-ABD6-9F045DF8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496C3664-5A6D-475C-86CE-E0BD37B5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先确认任务已完整结束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32E95A6-1231-4E2F-A68C-89C6528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B33D2CC-0A47-4BB7-9905-86400964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检查证据覆盖与失败项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EB9EECA6-8AA7-40EF-9910-1A2CC6B4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D2113CB9-08A9-461C-A9D8-14B90D5A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打开五章草稿继续审核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EF12254-E868-440E-BB12-7B88422B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DC0B0891-ACBC-4B7D-A5AA-A1C64F7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685857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645CE9C-3E39-48D1-B6A9-36A0787B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3/5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E91331-56D7-4A2C-B6F5-8F428F48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Demo：逐条检查结论、推导与图片证据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6CC8BDE-B394-4795-A781-847CD9F6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每个Section展示结论、推导、样本范围、观察字段及直接可见的支持图与反例图。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D62DBB-B9B3-45D1-985D-4DBD15BC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29E30CF5-6407-421A-843B-47447227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1c4f1124643d7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7E30D2F2-5701-46C7-9350-E7682622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29D0F69-8B64-4A47-A1AC-38E9A767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566F559E-2AF2-4BA2-8DE5-91CA24CA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审核Section证据链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6553D26-62A5-42F7-BB36-512C8D97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4A94BD2-D16B-4C33-A74A-F7DE5337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169E1B3-D37D-410E-828E-257B1505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结论与推导同屏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CC90878-5419-445D-8208-7BD08234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403BC5C5-A9D3-48EA-B94B-0E618DBC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图片直接展示，不只显示ID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8CF3ADD4-E983-4611-A32C-2E8105F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E659892F-B4C4-4226-922A-D936753A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店铺归属与样本范围可回查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B6BA7FC-37B3-45BC-BBB9-1F87D511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62CE4A5-BFDD-4F48-A63A-6F57A65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2399484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0E7236A-2DC1-4861-85CA-0C0570B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4/5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6BD1D1-64F6-4ED8-9654-0170441F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Demo：每个Section独立通过或退回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0E9753-6D15-4F5E-ADF8-74F87CE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审核区同时保留“满意 / 不满意”入口；当前章节显示已通过，下一章节继续审核。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0F7A0D-4409-4BE9-B01B-1AF8FC93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1A8E4DE9-3A5A-407C-88FA-5CE9E1AA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cff1c75324ee6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92A7040B-9AFE-478C-AB52-78935CD1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64366284-C035-486B-9A2D-121163E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64035F76-8844-4D60-973C-62D2C8D1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逐章做人工判断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EA0E53A-9252-4BA8-9E6B-C761FC57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F73C95EA-B3E5-4226-8D55-C28468FD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8E1B526-DACC-4F6A-93A7-1F18CDF2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支持图与反例图已展开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FF80A8A0-63DE-4BC3-8A95-14106BA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53FDF6F7-F3F4-41F0-80A1-8AD2FB9C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审核状态显示已通过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DBE7510D-F222-4B3C-B661-5F72945F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5925E3F-F711-48CD-A815-E24850B4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未通过章节可单独修订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3DC87CE-5C37-4170-99AB-77C160E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3CFDAAE9-4940-4479-8D20-CCC73BB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332880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26F7050-A39E-4253-AC79-35675151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5/5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D31AA3-CD21-4AEC-B83C-820D796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Demo：五章通过后生成或下载最终PDF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915525-EF07-4266-B688-2388BC9E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五章通过后，系统只读取同一任务草稿本地排版；最终PDF沿用样片视觉语言，页数由实际内容决定。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CC01DE-A3C0-4E2E-BF0F-6C6E309C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15432077-09ED-4709-BE84-630C33AA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82d3b9b484152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FB675F2F-FA9F-4586-B458-8CE90E90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74788AEB-DD7E-4B60-91B8-452D39FF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2A274156-1C07-49C0-8FED-25AA68FB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交付最终PDF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EC6310F-414D-464B-93CF-A386E77D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0CC6EC49-CE60-43A0-94EA-835F740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4AD08D99-6C29-45C8-81A4-A63D4EEE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生成、浏览、下载三种动作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4CA5CFBB-09AA-488E-AF18-5D03D503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98ED9FDE-7317-4C21-A02B-003DD837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排版0 Token / 0模型费用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DC65A99C-57B3-467A-962A-AFDAC1DA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63B98BD2-1BCD-4CC8-AD99-C85AB2C5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结论与证据进入内容驱动版式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8BD1FDD-6CC8-4B33-8FFF-CB617CA3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C8D4DA2-FA1D-4046-8F1B-E8EEDECC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20736892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BE49DF0A-40C8-49C6-84FF-261CA526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PDF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77A0AC-9592-46A8-B7FC-0E720F29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内容驱动成品由五个 Section 逐层收敛到行动方案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25FF94-FC68-4827-9028-26CC27F7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章节和页数由实际可用的结论、证据、竞品与重点品类决定，不固定为某个页数。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A6DA69-07A2-426F-88B8-40E9ABBA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5f394e01f4884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AB060B-BC27-4FEC-9B48-7160ABF6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891458-33BE-4005-95FB-7B80C22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AFD474-ADBB-4BFA-9988-6CC2DCBB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店铺规模、重点品类与风格是什么？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3a51471ae465b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581A03-B25E-4C83-929C-50F05016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B4BBDB-E761-4FB5-865E-B5271E69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77162B-DD7C-403B-8449-44865F85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三类主分析＋六类交叉验证怎样展示商品？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3098238e34f8e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6E3D764-F0EB-4EA2-85D7-A703A5A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BC5AC55-DFA7-470F-9730-1EBC9C3B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A1A94CA-0B0D-4F44-898B-71DCACD4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布景、图法与可见模特哪里失序？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205abaec1439f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C710BE-514B-40E3-848B-6E63E660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C399011-06CF-4E34-86B5-F41E9ADF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859BCFE-7CCD-4544-9DB6-7C09F2E7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在TOPS与SKIRTS可比范围内差在哪里？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d0400386e4d76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CA2E112-3B98-4CD8-9D03-A2A854F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结论页＋PLAN A/B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CE52DA3-5CB0-4A20-94C9-0EA3923D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E652542-3E1B-4B2B-B510-7EF4411B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下一步怎么改？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51678669-E50F-4015-85C7-FA70D259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BDC34DB-2768-43A1-B2E2-4B3E838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共同证据契约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A71634E-7600-4881-BEAF-459273CB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范围与分母清楚 · 图片角色清楚 · 店铺归属清楚 · 结论能够回查到 image_id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15428294-C87D-47DC-BBC6-96D5D37C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2764F81D-A57B-465D-B547-6A4DBEA1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2629400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492CB6C4-5170-45CA-A413-F45FBD41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FINISHED ARTIFACT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5E1901-3628-4080-8134-C3A12250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最终PDF沿用样片版式，并绑定已审核证据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17911DA-6E37-4DC0-8578-4584235F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每一章都来自已锁定的图片事实、可比竞品范围和人工审核结果。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2C3978-1AA2-4DD8-BF0B-F9573C90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0d75d16db4287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85900"/>
            <a:ext cx="6953250" cy="39147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c6467e7904c1c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eefa66086450a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eebcd041f465c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09875"/>
            <a:ext cx="4191000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metric-页数按内容">
            <a:extLst xmlns:a="http://schemas.openxmlformats.org/drawingml/2006/main">
              <a:ext uri="{FF2B5EF4-FFF2-40B4-BE49-F238E27FC236}">
                <a16:creationId xmlns:a16="http://schemas.microsoft.com/office/drawing/2014/main" id="{467FE5C1-971F-418A-BE05-5A51A705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动态</a:t>
            </a:r>
          </a:p>
        </p:txBody>
      </p:sp>
      <p:sp>
        <p:nvSpPr>
          <p:cNvPr id="10" name="metric-label-页数按内容">
            <a:extLst xmlns:a="http://schemas.openxmlformats.org/drawingml/2006/main">
              <a:ext uri="{FF2B5EF4-FFF2-40B4-BE49-F238E27FC236}">
                <a16:creationId xmlns:a16="http://schemas.microsoft.com/office/drawing/2014/main" id="{FC73A4EB-56A8-4CF8-8549-8830D45B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页数按内容</a:t>
            </a:r>
          </a:p>
        </p:txBody>
      </p:sp>
      <p:sp>
        <p:nvSpPr>
          <p:cNvPr id="11" name="metric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7D73A120-6DA9-487E-9FF6-233D7499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label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33F80BE3-5D78-45F0-A9E0-539EFBCF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个可审核 Section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AA41496-F00A-4FDF-B87F-6BBB8A3B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成品文件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DA69AC-3692-497D-9035-2A5F1922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007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Aloruh店铺视觉诊断－内容驱动版－20260827.pdf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460BF9A-9198-437F-8254-EFD469E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D2F0968E-1F1C-4D7D-8013-817B9960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final report rendered and visually checked page by page</a:t>
            </a:r>
          </a:p>
        </p:txBody>
      </p:sp>
    </p:spTree>
    <p:extLst>
      <p:ext uri="{BB962C8B-B14F-4D97-AF65-F5344CB8AC3E}">
        <p14:creationId xmlns:p14="http://schemas.microsoft.com/office/powerpoint/2010/main" val="4497168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FDA648B7-B650-41DC-B1EB-C4B1BA34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D7C581-9B98-410A-8138-8258E4F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附录A1/9：Terra完整Prompt — 通用规则＋维度1–3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92E583-DAE8-4981-8014-0325DF5F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以下文本来自_taxonomy_prompt()；仅为适配页面人工换行，单词与标签未改写。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4AF408-3B20-424F-ABB7-EDB8ADED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cod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5C613E53-EC25-4E5C-8D91-9CBB7827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990DDD1A-E254-4C0F-8DE2-70EFCF3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统一规则（完整）</a:t>
            </a:r>
          </a:p>
        </p:txBody>
      </p:sp>
      <p:sp>
        <p:nvSpPr>
          <p:cNvPr id="7" name="code-body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FFACC021-09FE-4B46-8CB9-50DF46BB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Analyze every numbered fashion image using exactly the controlled codes below. Use visible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and the supplied title/category only. 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never combine UNKNOWN with another code. Do not infer ethnicity, health, attractiveness or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sensitive traits. product_category must have exactly one value. Other dimensions may have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 to five values. Focus on the primary item sold; accessories belong in styling unless they are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primary product. Return every image once.</a:t>
            </a:r>
          </a:p>
        </p:txBody>
      </p:sp>
      <p:sp>
        <p:nvSpPr>
          <p:cNvPr id="8" name="cod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653FD825-7B5E-4AD5-A969-DC154FA9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04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125A4378-A665-4D08-BA88-7B260ED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受控标签字典 01–03 / 15</a:t>
            </a:r>
          </a:p>
        </p:txBody>
      </p:sp>
      <p:sp>
        <p:nvSpPr>
          <p:cNvPr id="10" name="code-body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639966E4-10AA-415C-A2D5-D911C94C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product_category: DRESSES, TOPS, SKIRTS, TROUSERS, SHORTS, SWIMWEAR, OUTERWEAR, JEANS, JUMPSUITS, PLAYSUITS, SETS, LINGERIE, ACCESSORIES, SHOES, OTHER,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silhouette_fit: BODYCON, FITTED, SLIM, REGULAR, RELAXED, OVERSIZED, A_LINE, STRAIGHT, FLARED, DRAPED, CORSETED,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design_elements: BACKLESS, CUTOUT, HALTER, OFF_SHOULDER, STRAPLESS, SPAGHETTI_STRAP, LACE_UP, SLIT, RUFFLE, TIE_DETAIL, RUCHED, ASYMMETRIC, SHEER_PANEL, EMBELLISHED, PLEATED, UNKNOWN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85E8E57F-E308-4981-A188-FB3BAED4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C3AF15C-ABE8-46FC-8307-03F0897C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184965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0E3FA10-D7C4-46F4-B124-E70CDB7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FCBBCD-C9E5-4790-82CC-978A7AE0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附录A2/9：Terra完整Prompt — 维度4–8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12975F-02A3-4280-85C7-8442F823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这些维度行紧接在统一规则后面；它们是允许返回的代码集合，不是五次独立请求。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7804C7-2F09-462F-B85F-00168316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cod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2391A102-D6E7-4118-BD57-E3D18CDF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ED6ACEBF-5E94-4443-A6A7-6EDCB17C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04–08 / 15</a:t>
            </a:r>
          </a:p>
        </p:txBody>
      </p:sp>
      <p:sp>
        <p:nvSpPr>
          <p:cNvPr id="7" name="code-body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AE8E168C-7A8E-4CDB-9DF5-ABAD69C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BEACH, POOL, WEDDING_GUEST, FESTIVAL, COMMUTE, FORMAL, HOME,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DETAIL, FLAT_LAY, PRODUCT_ONLY,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SITTING, STANDING, MIRROR_SELFIE, HAIR_MOVED, LOOKING_AWAY, INTERACTING_WITH_SCENE,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selling_points: NECKLINE, SHOULDERS, BACK, WAIST, WAIST_HIP, LEGS, HEMLINE, SLEEVES, FABRIC_TEXTURE, DRAPE, PRINT, FULL_OUTFIT,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BEACH, POOL, PARTY, NIGHT, ARCHITECTURE, NATURE, OTHER,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E281E32A-16F1-46D5-9F92-5F1F6029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7C90654-F4CB-4B9E-9134-DB5282BB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027070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DEAB7D8-1200-4F60-B208-C73F2318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F2D503-33F2-4FAA-AEC0-CD790110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附录A3/9：Terra完整Prompt — 维度9–12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1A11BF-776E-461D-A024-5BDE6499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长标签行按页面宽度自动换行；标签拼写与代码完全一致。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1AC491-1A8A-472A-97C9-2CDAA490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cod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E182DAE1-9ABB-4DD7-9E18-81DE07A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E4266515-A964-4B86-8CA2-708EDECE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09–12 / 15</a:t>
            </a:r>
          </a:p>
        </p:txBody>
      </p:sp>
      <p:sp>
        <p:nvSpPr>
          <p:cNvPr id="7" name="code-body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B29DCC54-F4FD-40BD-AA8D-662DE18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material_texture: KNIT, LACE, SATIN_LIKE, SILK_LIKE, DENIM, COTTON_LIKE, CHIFFON, MESH, SEQUIN, LEATHER_LIKE, RIBBED, CROCHET, PLEATED,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color_pattern: COLOR_BLACK, COLOR_WHITE, COLOR_GREY, COLOR_BEIGE, COLOR_BROWN, COLOR_RED, COLOR_PINK, COLOR_ORANGE, COLOR_YELLOW, COLOR_GREEN, COLOR_BLUE, COLOR_PURPLE, COLOR_METALLIC, COLOR_MULTI, PATTERN_SOLID, PATTERN_FLORAL, PATTERN_STRIPE, PATTERN_CHECK, PATTERN_ANIMAL, PATTERN_ABSTRACT, PATTERN_GRAPHIC,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visual_language: ECOMMERCE_CLEAN, EDITORIAL, LIFESTYLE, SOCIAL_UGC, ROMANTIC, VINTAGE, Y2K, MINIMAL, GLAMOROUS, SOFT_LIGHT, NATURAL_LIGHT, DIRECT_FLASH, WARM_TONE, COOL_TONE,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styling: SINGLE_ITEM, FULL_LOOK, LAYERED, ACCESSORIES_VISIBLE, HANDBAG, SHOES_VISIBLE, JEWELRY, MATCHING_SET, SWIM_COVERUP,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5BE79FC-02E9-46B8-8546-80EE0BF4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17782B6-62AD-485E-B8D9-AB5DE01B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4625972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ACA46D55-8BBD-41FF-B42A-8CC8665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COMPLETE REQUEST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93CBF6-4721-4E77-83B8-A67F02DD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附录A4/9：Terra完整Prompt — 维度13–15＋请求封装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194A7C-DC9A-46C9-9443-54C1F2C2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至此通用规则与15个维度已完整列出；同一请求还会为每张图片追加上下文，并使用严格JSON Schema。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D804B2-4E9F-40BB-8E04-8EF8657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cod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8F394E18-C09D-4C9D-B79C-FB6AAEEA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DF405759-4A3F-49BE-A939-F2C8CE0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13–15 / 15</a:t>
            </a:r>
          </a:p>
        </p:txBody>
      </p:sp>
      <p:sp>
        <p:nvSpPr>
          <p:cNvPr id="7" name="code-body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A0FB84DB-61B6-447B-8F19-97515EE0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lighting: SOFT_DIFFUSED, NATURAL_DAYLIGHT, HARD_DIRECT, DIRECT_FLASH, WARM_AMBIENT, COOL_AMBIENT, LOW_KEY, HIGH_KEY, MIXED_LIGHT,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model_state: NO_MODEL, STANDING_POSE, WALKING_MOTION, SITTING_POSE, LOOKING_CAMERA, LOOKING_AWAY, FACE_CROPPED, MIRROR_SELFIE, INTERACTING,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graphic_overlay: NONE, TEXT_OVERLAY, PRICE_PROMOTION, LOGO_WATERMARK, COLLAGE, FRAME_BORDER, STICKER_GRAPHIC, UI_SCREENSHOT, UNKNOWN</a:t>
            </a:r>
          </a:p>
        </p:txBody>
      </p:sp>
      <p:sp>
        <p:nvSpPr>
          <p:cNvPr id="8" name="cod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C844DCC2-FB79-43D0-9FAE-CE51883A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372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F8DABD8C-3370-4F7F-9C54-FD0F2EE4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每图追加的真实上下文格式</a:t>
            </a:r>
          </a:p>
        </p:txBody>
      </p:sp>
      <p:sp>
        <p:nvSpPr>
          <p:cNvPr id="10" name="code-body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97626587-F7D0-4D88-AABA-FFCFDAE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91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key={item.key}; title={title|unknown};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current_category={category|unknown}; position={position}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input_image(detail=low)</a:t>
            </a:r>
          </a:p>
        </p:txBody>
      </p:sp>
      <p:sp>
        <p:nvSpPr>
          <p:cNvPr id="11" name="cod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53B40BBC-95A2-45FA-B502-FC696979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5448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de-titl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F5FDE345-2AA1-4F0E-A6D2-87927F5B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严格输出契约</a:t>
            </a:r>
          </a:p>
        </p:txBody>
      </p:sp>
      <p:sp>
        <p:nvSpPr>
          <p:cNvPr id="13" name="code-body-严格输出契约">
            <a:extLst xmlns:a="http://schemas.openxmlformats.org/drawingml/2006/main">
              <a:ext uri="{FF2B5EF4-FFF2-40B4-BE49-F238E27FC236}">
                <a16:creationId xmlns:a16="http://schemas.microsoft.com/office/drawing/2014/main" id="{2AE8FC27-23E0-4FDF-AD44-9E6FAB2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506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items[]: i + tags{15 dimensions} + confidence{15 dimensions}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exactly 1; other dimensions 1–5 values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每张输入图必须恰好返回一次；漏图、重复图、漏维度均失败。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A20BFE55-67E8-4CE3-B0D9-B2FEA50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F3FB35D5-3413-4638-829F-0AA2746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60849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2C5C6057-05B9-41D2-9EBC-DD3F06A5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AC8213-1650-40ED-8B1B-A102018E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附录A5/9：体验1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952B8F-70F2-4CC4-860A-EF1EF997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代码原文来自detailed_visual_analysis.py；固定筛选条件在末尾以JSON拼接。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68451B-2931-49B2-A1BE-C0F178C7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cod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A47E415F-726F-4BE3-AA86-294C842A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34E6A326-0588-4C1B-A38A-ECC98C91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_prompt(filters) 完整文本</a:t>
            </a:r>
          </a:p>
        </p:txBody>
      </p:sp>
      <p:sp>
        <p:nvSpPr>
          <p:cNvPr id="7" name="code-body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C67B3B15-C049-4B90-9251-5B7D270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你是一名电商女装视觉策略负责人。请对同一固定维度组合下的多店铺高清商品图做精细视觉分析，输出中文。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先写肉眼可见事实，再写解释；每个判断都要给 visible_cue。不要推断种族、健康、吸引力等敏感属性。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不要把构图相关性写成 CTR/CVR 因果；经营影响只能写成待 A/B 验证的假设。重点比较：场景、景别、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模特动作、光线、色彩、搭配、服装结构呈现、视觉意图、店铺一致性，并沉淀可复用的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构图-动作-卖点-场景 规则。固定筛选条件：{filters JSON}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7DE55906-F71F-4DB0-B363-92D3C9D9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04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BF01DC74-1F71-425E-8753-E393F857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734E4FB7-784E-4CB8-A630-E554F5F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store={store_id}; product={product_id}; title={title}; category={category}; pixels={width}x{height} ＋ input_image(detail=high)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71CDCF71-15A4-4A5A-80DB-D473A4E9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9E727961-0DC0-452F-A183-333C432D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1743540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2EFDE26-A55F-46B2-80EC-019010D0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2 OBSERVATIONS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E7CA7-43C6-4A62-A643-FA25E8BD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附录A6/9：体验2逐图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886B76F-23AB-4905-B5DB-2E62340A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该Prompt在每个8图批次重复使用；图片上下文保留角色、品牌和竞品证据入选原因。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CAFA91-9E6B-4D03-8D1B-81228A62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cod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7158B34A-07A8-4473-A013-333BDA6B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0C5D2475-84F7-492C-9B9A-473BE1B8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_image_prompt() 完整文本</a:t>
            </a:r>
          </a:p>
        </p:txBody>
      </p:sp>
      <p:sp>
        <p:nvSpPr>
          <p:cNvPr id="7" name="code-body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D7C2D327-7226-40C4-A8BA-856E74B9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你是女装品牌视觉诊断分析师。逐张分析高清商品图，先记录肉眼可见事实，再写优缺点。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不得使用销量、曝光、点击、转化或ROI，不得推断敏感属性。旧分类标签仅是上下文，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不能替代本次观察。证据线索必须能在图片中复核。竞品图只用于对照，不代表目标店铺。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竞品图只从已完成12维标签覆盖的可比品类全量分布中分层选出；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未覆盖品类不得推断。selection_reasons说明其典型或边界证据角色。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模特相关字段只记录实际可见的在场人数、面部可见性、发型、妆容表现、表情和视线；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不可见时写不可观察。禁止推断年龄、种族、国籍、身高、体型尺寸、健康或吸引力。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产品字段要分别记录廓形、可见设计细节、可见材质纹理和商品展示完整度。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C8FAF18C-2047-4CF1-909C-C3FAF879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13B981C7-B1C4-40B6-8ABC-23700CFB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A6385EB1-21B9-4442-B47D-1E647A7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{image_id, store_id, product_id, category, role, selection_reasons}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input_image(detail=high)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严格Schema要求每张图返回18项observable、visual_role、strengths、weaknesses、evidence_cues、confidence。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558204D5-80FC-4DDE-A213-81C0F6D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87ED59E-889E-4E51-9FA7-732BAD9B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065427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757634E-FC40-49FD-9CB0-6B64D13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ACTUAL SECTION SYNTHESIS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9CD625-CF11-4A50-B365-584396EC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附录A7/9：体验2实际单章汇总Prompt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02D9532-21D3-4A3C-932E-CAD7933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生产任务不再发送6MB总包；五章分别调用同一个基础Prompt，并各自追加章节要求和裁剪后的证据。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0C33BE-EA80-4B6E-9A87-9D96CBF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cod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A42F0CFF-DB86-4345-8CE2-CA77ABE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B078B10A-168F-4CB2-9F46-084926D7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_section_prompt(scope, section_id) 完整基础文本</a:t>
            </a:r>
          </a:p>
        </p:txBody>
      </p:sp>
      <p:sp>
        <p:nvSpPr>
          <p:cNvPr id="7" name="code-body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A513C331-AF5A-45A9-B182-6A074FB9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所有入选高清图已完成逐图观察。现在只生成一个视觉诊断章节，输出中文，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不得引用未提供的图片ID。每条结论必须说明推导方法，并列出支持图、反例图、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代表图、样本数、筛选条件和观察字段。不得写销量、曝光、点击、转化或ROI，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不得推断敏感属性、人群画像或代表红人。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章节={section_id}({SECTION_TITLES[section_id]})。要求：{requirements[section_id]}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范围：{scope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EVIDENCE:{按章节角色与字段裁剪后的 evidence JSON}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B96F527-036B-443B-A78C-02913605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7D9FDEB-8B6E-4984-B60F-024EFE3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5017121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FC950BAA-49F9-44C8-8E88-2734FBF9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REQUIREMENTS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33C387-4E07-462F-937B-84A3DB4A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附录A8/9：五章要求＋执行摘要Prompt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1EDB5FA-05FF-4785-B056-CCA6D616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这五段requirements是真实发送内容；章节完成后再用一个独立Prompt压缩为2–4条执行摘要。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166636-D94F-4AAC-ABB1-84A9CA7E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cod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AB0D4C98-79CF-4CCD-A791-15F985E1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60078DFE-7ECB-4C50-A9CA-1672F17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requirements[section_id]（生产原文）</a:t>
            </a:r>
          </a:p>
        </p:txBody>
      </p:sp>
      <p:sp>
        <p:nvSpPr>
          <p:cNvPr id="7" name="code-body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8AF1C6AD-DA2E-41FC-B5B2-72C78D4C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brand_positioning：说明店铺基本信息、全量重点品类、视觉风格划分与品牌信号；商品数和品类占比可引用全量目录，视觉判断只能引用目标店逐图证据。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product_display：分别覆盖前三重点品类，并用补充品类交叉验证产品卖点、动作、常见搭配、廓形、设计细节、材质纹理和图片位互补。不得按position顺序猜正背面。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store_visual_audit：覆盖拍摄布景、拍摄风格、光线、构图、图文叠加和可见模特画像；模特只记录人数、面部可见性、发型、妆容、表情和视线。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competitive_gap：分别写Princess Polly、Motel Rocks、PrettyLittleThing，至少每家一条独立结论；支持图或代表图必须属于该品牌。全量标签分布是统计分母，高清图只复核典型与边界。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visual_upgrade：只根据前四章已验证结论提出升级方向，并复用其有效图片ID；每条建议要说明对应问题、证据和预期视觉改进，不得杜撰新观察。</a:t>
            </a:r>
          </a:p>
        </p:txBody>
      </p:sp>
      <p:sp>
        <p:nvSpPr>
          <p:cNvPr id="8" name="cod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C6FB34DC-0C25-4F65-9B00-6155C5E6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BE232B5C-000C-4927-8437-72644E84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执行摘要Prompt（生产原文）</a:t>
            </a:r>
          </a:p>
        </p:txBody>
      </p:sp>
      <p:sp>
        <p:nvSpPr>
          <p:cNvPr id="10" name="code-body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177F06A9-9784-4DB3-8612-C302F8A6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根据五个已验证章节写2至4条中文执行摘要。不得增加新事实或图片ID。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SECTIONS={五个已完成section JSON}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E5FCE6B-6863-43EF-9E1A-8948B86A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E900B9A-A5F0-4693-8E6E-2E2DCF0A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705808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3F2EC70-9D79-4F43-AF58-BD0A522B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REVISION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18006-A170-4B41-AB27-04CBDC85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附录A9/9：单章修订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319207-04D9-46AC-86F2-32B572DE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用户判定某章不满意时，只重跑该section；其他四章不重新分析，已完成逐图观察也不重做。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F18FAB-FFCB-4859-BE7E-31207678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cod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C982A6A2-5DAD-44D0-9C82-D476527E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1BCBEF53-174F-4C79-9A65-4292246A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revise(section, suggestion, evidence, scope) 完整文本</a:t>
            </a:r>
          </a:p>
        </p:txBody>
      </p:sp>
      <p:sp>
        <p:nvSpPr>
          <p:cNvPr id="7" name="code-body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C7BEA813-B798-4C98-BC2F-11F74369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根据审核意见重新分析一个视觉诊断章节。只能使用给定证据，不得编造图片ID。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保留可支持的结论，修改证据不足或表达不清的部分。输出中文。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SECTION={current section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REVIEW={user suggestion}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SCOPE={scope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EVIDENCE={complete evidence JSON}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34A3733D-4585-4FF9-AF88-FFE0183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98785D-F9DF-4AA0-8ADC-1A1BF210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修订仍使用单章严格Schema，并再次检查图片ID；若修订competitive_gap，还会再次执行三品牌点名与品牌证据归属校验。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0B79E10-5A36-426E-AC5D-689499E0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C231818-B6D1-44F9-8F6D-2C9BE7A2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9297848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4DC3261-98D7-41F9-B170-729AB6B0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3D7349-BCF5-4F0E-B840-50E3630F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下一步，哪些投入值得做？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34FCBDA-45FE-4977-B5CD-A98FF950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8EB451-5DF1-429B-809B-391D1ABF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竞品覆盖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5BB426-28B5-4060-932C-BA2364A6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是否补齐三家竞品DRESSES、BLOUSES等品类的12维标签，再扩展同品类比较？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C822613-72CF-47A8-9056-9CD4388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137B11-9714-4140-BC58-3F5F7FD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210E15-0C8A-4507-83B8-CAD4F22F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样本规模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DA7636A-E28C-4A53-88AE-51D3FCA4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固定抽样是否足够，还是应根据品类规模、视觉差异和结论风险动态扩样？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13E8913-E8A2-402D-AAB3-AB60259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58E2E73-2ED7-49EF-927C-700EACA0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5C16D5-7F69-4FB7-BD7A-7A92F933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84238B7-B5A6-45B7-BF6F-AC59930C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PDF止于结论，还是继续连接拍摄brief、图序规范与选图验收？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C9918CD1-1BC4-4DCF-9A7A-A0944861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AD8A4E-A194-4673-A12E-7D3DC55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25C7A30-C691-4E51-B5FC-286BC2A7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效果验证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2DE1537-762F-4306-A90D-8CC780C8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如何把视觉规范版本与后续点击、转化或退货指标连接，形成可回看实验？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771972A-4F5B-45A3-ABFE-B113B095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B86B50-62F4-4CE3-9887-9C7415B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405919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2026-08-27T13:05:11.4300000Z</dcterms:created>
  <dcterms:modified xsi:type="dcterms:W3CDTF">2026-08-27T13:05:11.4310000Z</dcterms:modified>
</coreProperties>
</file>