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87faa45d954a06" /><Relationship Type="http://schemas.openxmlformats.org/officeDocument/2006/relationships/extended-properties" Target="/docProps/app.xml" Id="R18c6f28b1a714d36" /><Relationship Type="http://schemas.openxmlformats.org/officeDocument/2006/relationships/officeDocument" Target="/ppt/presentation.xml" Id="Rcd86f5f6d2b9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5e7fadec04850"/>
  </p:sldMasterIdLst>
  <p:notesMasterIdLst>
    <p:notesMasterId xmlns:r="http://schemas.openxmlformats.org/officeDocument/2006/relationships" r:id="Refecae9aea63427a"/>
  </p:notesMasterIdLst>
  <p:sldIdLst>
    <p:sldId xmlns:r="http://schemas.openxmlformats.org/officeDocument/2006/relationships" id="256" r:id="Rd31b9d7cee564486"/>
    <p:sldId xmlns:r="http://schemas.openxmlformats.org/officeDocument/2006/relationships" id="257" r:id="Rd0f33d1dd5d44c64"/>
    <p:sldId xmlns:r="http://schemas.openxmlformats.org/officeDocument/2006/relationships" id="258" r:id="Rb5045ee49e714ed4"/>
    <p:sldId xmlns:r="http://schemas.openxmlformats.org/officeDocument/2006/relationships" id="259" r:id="R54b2fd5ebda648fc"/>
    <p:sldId xmlns:r="http://schemas.openxmlformats.org/officeDocument/2006/relationships" id="260" r:id="R71f67623d8224d0a"/>
    <p:sldId xmlns:r="http://schemas.openxmlformats.org/officeDocument/2006/relationships" id="261" r:id="Recc23f7a11614671"/>
    <p:sldId xmlns:r="http://schemas.openxmlformats.org/officeDocument/2006/relationships" id="262" r:id="R8d29c8f529e24832"/>
    <p:sldId xmlns:r="http://schemas.openxmlformats.org/officeDocument/2006/relationships" id="263" r:id="Rb01a8746a0fb4e35"/>
    <p:sldId xmlns:r="http://schemas.openxmlformats.org/officeDocument/2006/relationships" id="264" r:id="Re45e323c874344cc"/>
    <p:sldId xmlns:r="http://schemas.openxmlformats.org/officeDocument/2006/relationships" id="265" r:id="R221a15c2afc54fe6"/>
    <p:sldId xmlns:r="http://schemas.openxmlformats.org/officeDocument/2006/relationships" id="266" r:id="R46a24aa11c7c4625"/>
    <p:sldId xmlns:r="http://schemas.openxmlformats.org/officeDocument/2006/relationships" id="267" r:id="Rffd0751e6b5d4c53"/>
    <p:sldId xmlns:r="http://schemas.openxmlformats.org/officeDocument/2006/relationships" id="268" r:id="R048490c75e9c4767"/>
    <p:sldId xmlns:r="http://schemas.openxmlformats.org/officeDocument/2006/relationships" id="269" r:id="R413bc80fa78e4585"/>
    <p:sldId xmlns:r="http://schemas.openxmlformats.org/officeDocument/2006/relationships" id="270" r:id="R1df4830ab5764863"/>
    <p:sldId xmlns:r="http://schemas.openxmlformats.org/officeDocument/2006/relationships" id="271" r:id="Rdb6887a0a37349ee"/>
    <p:sldId xmlns:r="http://schemas.openxmlformats.org/officeDocument/2006/relationships" id="272" r:id="R777e7975024d4d4c"/>
    <p:sldId xmlns:r="http://schemas.openxmlformats.org/officeDocument/2006/relationships" id="273" r:id="R8615655d62f54484"/>
    <p:sldId xmlns:r="http://schemas.openxmlformats.org/officeDocument/2006/relationships" id="274" r:id="R13a8ec35960b4283"/>
    <p:sldId xmlns:r="http://schemas.openxmlformats.org/officeDocument/2006/relationships" id="275" r:id="Rb76d6e280b8a4ebf"/>
    <p:sldId xmlns:r="http://schemas.openxmlformats.org/officeDocument/2006/relationships" id="276" r:id="R0a0861be85ab4771"/>
    <p:sldId xmlns:r="http://schemas.openxmlformats.org/officeDocument/2006/relationships" id="277" r:id="R0f19acee8c8a45d9"/>
    <p:sldId xmlns:r="http://schemas.openxmlformats.org/officeDocument/2006/relationships" id="278" r:id="Rf2a69167e0084c7e"/>
    <p:sldId xmlns:r="http://schemas.openxmlformats.org/officeDocument/2006/relationships" id="279" r:id="R0b243a4b8dd14641"/>
    <p:sldId xmlns:r="http://schemas.openxmlformats.org/officeDocument/2006/relationships" id="280" r:id="Rab78b947c4784841"/>
    <p:sldId xmlns:r="http://schemas.openxmlformats.org/officeDocument/2006/relationships" id="281" r:id="R3377fc9671f747d5"/>
    <p:sldId xmlns:r="http://schemas.openxmlformats.org/officeDocument/2006/relationships" id="282" r:id="R1f54831e445349f5"/>
    <p:sldId xmlns:r="http://schemas.openxmlformats.org/officeDocument/2006/relationships" id="283" r:id="R30977a5a311145a1"/>
    <p:sldId xmlns:r="http://schemas.openxmlformats.org/officeDocument/2006/relationships" id="284" r:id="R33df6631fc7e4e69"/>
    <p:sldId xmlns:r="http://schemas.openxmlformats.org/officeDocument/2006/relationships" id="285" r:id="R6b17eb5ed9644c2c"/>
    <p:sldId xmlns:r="http://schemas.openxmlformats.org/officeDocument/2006/relationships" id="286" r:id="Rf6a1647ea0b34782"/>
    <p:sldId xmlns:r="http://schemas.openxmlformats.org/officeDocument/2006/relationships" id="287" r:id="Re17d4ac5e0ed445c"/>
    <p:sldId xmlns:r="http://schemas.openxmlformats.org/officeDocument/2006/relationships" id="288" r:id="Rd703d5868eb1411a"/>
    <p:sldId xmlns:r="http://schemas.openxmlformats.org/officeDocument/2006/relationships" id="289" r:id="R3aa0370d1d404133"/>
    <p:sldId xmlns:r="http://schemas.openxmlformats.org/officeDocument/2006/relationships" id="290" r:id="R4f45bdcc307e4855"/>
    <p:sldId xmlns:r="http://schemas.openxmlformats.org/officeDocument/2006/relationships" id="291" r:id="Rc115b85dfe9f4fa6"/>
    <p:sldId xmlns:r="http://schemas.openxmlformats.org/officeDocument/2006/relationships" id="292" r:id="Ra3fb6d5b346040f0"/>
    <p:sldId xmlns:r="http://schemas.openxmlformats.org/officeDocument/2006/relationships" id="293" r:id="R519f03c4015d4fe1"/>
    <p:sldId xmlns:r="http://schemas.openxmlformats.org/officeDocument/2006/relationships" id="294" r:id="Rc510f5f249b74a5e"/>
    <p:sldId xmlns:r="http://schemas.openxmlformats.org/officeDocument/2006/relationships" id="295" r:id="R06e386e9ce704f17"/>
    <p:sldId xmlns:r="http://schemas.openxmlformats.org/officeDocument/2006/relationships" id="296" r:id="R0fdc5db341a046d0"/>
    <p:sldId xmlns:r="http://schemas.openxmlformats.org/officeDocument/2006/relationships" id="297" r:id="Rc83a68de7dfc4ae3"/>
    <p:sldId xmlns:r="http://schemas.openxmlformats.org/officeDocument/2006/relationships" id="298" r:id="Rddb98d019b9f4f05"/>
    <p:sldId xmlns:r="http://schemas.openxmlformats.org/officeDocument/2006/relationships" id="299" r:id="R64240e63b0164d84"/>
    <p:sldId xmlns:r="http://schemas.openxmlformats.org/officeDocument/2006/relationships" id="300" r:id="R522b1093f0b14f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a2f778b864b17" /><Relationship Type="http://schemas.openxmlformats.org/officeDocument/2006/relationships/slideMaster" Target="/ppt/slideMasters/slideMaster1.xml" Id="R1715e7fadec04850" /><Relationship Type="http://schemas.openxmlformats.org/officeDocument/2006/relationships/notesMaster" Target="/ppt/notesMasters/notesMaster1.xml" Id="Refecae9aea63427a" /><Relationship Type="http://schemas.openxmlformats.org/officeDocument/2006/relationships/presProps" Target="/ppt/presProps.xml" Id="Rf88438f06c4a4910" /><Relationship Type="http://schemas.openxmlformats.org/officeDocument/2006/relationships/tableStyles" Target="/ppt/tableStyles.xml" Id="Rb2a52c05f4c54a57" /><Relationship Type="http://schemas.openxmlformats.org/officeDocument/2006/relationships/slide" Target="/ppt/slides/slide1.xml" Id="Rd31b9d7cee564486" /><Relationship Type="http://schemas.openxmlformats.org/officeDocument/2006/relationships/slide" Target="/ppt/slides/slide2.xml" Id="Rd0f33d1dd5d44c64" /><Relationship Type="http://schemas.openxmlformats.org/officeDocument/2006/relationships/slide" Target="/ppt/slides/slide3.xml" Id="Rb5045ee49e714ed4" /><Relationship Type="http://schemas.openxmlformats.org/officeDocument/2006/relationships/slide" Target="/ppt/slides/slide4.xml" Id="R54b2fd5ebda648fc" /><Relationship Type="http://schemas.openxmlformats.org/officeDocument/2006/relationships/slide" Target="/ppt/slides/slide5.xml" Id="R71f67623d8224d0a" /><Relationship Type="http://schemas.openxmlformats.org/officeDocument/2006/relationships/slide" Target="/ppt/slides/slide6.xml" Id="Recc23f7a11614671" /><Relationship Type="http://schemas.openxmlformats.org/officeDocument/2006/relationships/slide" Target="/ppt/slides/slide7.xml" Id="R8d29c8f529e24832" /><Relationship Type="http://schemas.openxmlformats.org/officeDocument/2006/relationships/slide" Target="/ppt/slides/slide8.xml" Id="Rb01a8746a0fb4e35" /><Relationship Type="http://schemas.openxmlformats.org/officeDocument/2006/relationships/slide" Target="/ppt/slides/slide9.xml" Id="Re45e323c874344cc" /><Relationship Type="http://schemas.openxmlformats.org/officeDocument/2006/relationships/slide" Target="/ppt/slides/slide10.xml" Id="R221a15c2afc54fe6" /><Relationship Type="http://schemas.openxmlformats.org/officeDocument/2006/relationships/slide" Target="/ppt/slides/slide11.xml" Id="R46a24aa11c7c4625" /><Relationship Type="http://schemas.openxmlformats.org/officeDocument/2006/relationships/slide" Target="/ppt/slides/slide12.xml" Id="Rffd0751e6b5d4c53" /><Relationship Type="http://schemas.openxmlformats.org/officeDocument/2006/relationships/slide" Target="/ppt/slides/slide13.xml" Id="R048490c75e9c4767" /><Relationship Type="http://schemas.openxmlformats.org/officeDocument/2006/relationships/slide" Target="/ppt/slides/slide14.xml" Id="R413bc80fa78e4585" /><Relationship Type="http://schemas.openxmlformats.org/officeDocument/2006/relationships/slide" Target="/ppt/slides/slide15.xml" Id="R1df4830ab5764863" /><Relationship Type="http://schemas.openxmlformats.org/officeDocument/2006/relationships/slide" Target="/ppt/slides/slide16.xml" Id="Rdb6887a0a37349ee" /><Relationship Type="http://schemas.openxmlformats.org/officeDocument/2006/relationships/slide" Target="/ppt/slides/slide17.xml" Id="R777e7975024d4d4c" /><Relationship Type="http://schemas.openxmlformats.org/officeDocument/2006/relationships/slide" Target="/ppt/slides/slide18.xml" Id="R8615655d62f54484" /><Relationship Type="http://schemas.openxmlformats.org/officeDocument/2006/relationships/slide" Target="/ppt/slides/slide19.xml" Id="R13a8ec35960b4283" /><Relationship Type="http://schemas.openxmlformats.org/officeDocument/2006/relationships/slide" Target="/ppt/slides/slide20.xml" Id="Rb76d6e280b8a4ebf" /><Relationship Type="http://schemas.openxmlformats.org/officeDocument/2006/relationships/slide" Target="/ppt/slides/slide21.xml" Id="R0a0861be85ab4771" /><Relationship Type="http://schemas.openxmlformats.org/officeDocument/2006/relationships/slide" Target="/ppt/slides/slide22.xml" Id="R0f19acee8c8a45d9" /><Relationship Type="http://schemas.openxmlformats.org/officeDocument/2006/relationships/slide" Target="/ppt/slides/slide23.xml" Id="Rf2a69167e0084c7e" /><Relationship Type="http://schemas.openxmlformats.org/officeDocument/2006/relationships/slide" Target="/ppt/slides/slide24.xml" Id="R0b243a4b8dd14641" /><Relationship Type="http://schemas.openxmlformats.org/officeDocument/2006/relationships/slide" Target="/ppt/slides/slide25.xml" Id="Rab78b947c4784841" /><Relationship Type="http://schemas.openxmlformats.org/officeDocument/2006/relationships/slide" Target="/ppt/slides/slide26.xml" Id="R3377fc9671f747d5" /><Relationship Type="http://schemas.openxmlformats.org/officeDocument/2006/relationships/slide" Target="/ppt/slides/slide27.xml" Id="R1f54831e445349f5" /><Relationship Type="http://schemas.openxmlformats.org/officeDocument/2006/relationships/slide" Target="/ppt/slides/slide28.xml" Id="R30977a5a311145a1" /><Relationship Type="http://schemas.openxmlformats.org/officeDocument/2006/relationships/slide" Target="/ppt/slides/slide29.xml" Id="R33df6631fc7e4e69" /><Relationship Type="http://schemas.openxmlformats.org/officeDocument/2006/relationships/slide" Target="/ppt/slides/slide30.xml" Id="R6b17eb5ed9644c2c" /><Relationship Type="http://schemas.openxmlformats.org/officeDocument/2006/relationships/slide" Target="/ppt/slides/slide31.xml" Id="Rf6a1647ea0b34782" /><Relationship Type="http://schemas.openxmlformats.org/officeDocument/2006/relationships/slide" Target="/ppt/slides/slide32.xml" Id="Re17d4ac5e0ed445c" /><Relationship Type="http://schemas.openxmlformats.org/officeDocument/2006/relationships/slide" Target="/ppt/slides/slide33.xml" Id="Rd703d5868eb1411a" /><Relationship Type="http://schemas.openxmlformats.org/officeDocument/2006/relationships/slide" Target="/ppt/slides/slide34.xml" Id="R3aa0370d1d404133" /><Relationship Type="http://schemas.openxmlformats.org/officeDocument/2006/relationships/slide" Target="/ppt/slides/slide35.xml" Id="R4f45bdcc307e4855" /><Relationship Type="http://schemas.openxmlformats.org/officeDocument/2006/relationships/slide" Target="/ppt/slides/slide36.xml" Id="Rc115b85dfe9f4fa6" /><Relationship Type="http://schemas.openxmlformats.org/officeDocument/2006/relationships/slide" Target="/ppt/slides/slide37.xml" Id="Ra3fb6d5b346040f0" /><Relationship Type="http://schemas.openxmlformats.org/officeDocument/2006/relationships/slide" Target="/ppt/slides/slide38.xml" Id="R519f03c4015d4fe1" /><Relationship Type="http://schemas.openxmlformats.org/officeDocument/2006/relationships/slide" Target="/ppt/slides/slide39.xml" Id="Rc510f5f249b74a5e" /><Relationship Type="http://schemas.openxmlformats.org/officeDocument/2006/relationships/slide" Target="/ppt/slides/slide40.xml" Id="R06e386e9ce704f17" /><Relationship Type="http://schemas.openxmlformats.org/officeDocument/2006/relationships/slide" Target="/ppt/slides/slide41.xml" Id="R0fdc5db341a046d0" /><Relationship Type="http://schemas.openxmlformats.org/officeDocument/2006/relationships/slide" Target="/ppt/slides/slide42.xml" Id="Rc83a68de7dfc4ae3" /><Relationship Type="http://schemas.openxmlformats.org/officeDocument/2006/relationships/slide" Target="/ppt/slides/slide43.xml" Id="Rddb98d019b9f4f05" /><Relationship Type="http://schemas.openxmlformats.org/officeDocument/2006/relationships/slide" Target="/ppt/slides/slide44.xml" Id="R64240e63b0164d84" /><Relationship Type="http://schemas.openxmlformats.org/officeDocument/2006/relationships/slide" Target="/ppt/slides/slide45.xml" Id="R522b1093f0b14f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3d86d4f2b3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70672d85a64c08" /><Relationship Type="http://schemas.openxmlformats.org/officeDocument/2006/relationships/notesMaster" Target="/ppt/notesMasters/notesMaster1.xml" Id="R217983c88c7442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bc4bdbe17048c1" /><Relationship Type="http://schemas.openxmlformats.org/officeDocument/2006/relationships/notesMaster" Target="/ppt/notesMasters/notesMaster1.xml" Id="R8bfa89b924de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0b8bfaf9a14967" /><Relationship Type="http://schemas.openxmlformats.org/officeDocument/2006/relationships/notesMaster" Target="/ppt/notesMasters/notesMaster1.xml" Id="R86465295d14c4b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79f2a7d5264b86" /><Relationship Type="http://schemas.openxmlformats.org/officeDocument/2006/relationships/notesMaster" Target="/ppt/notesMasters/notesMaster1.xml" Id="R176e73c639b542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4167bb6cfd441d" /><Relationship Type="http://schemas.openxmlformats.org/officeDocument/2006/relationships/notesMaster" Target="/ppt/notesMasters/notesMaster1.xml" Id="R5004fc17f9564f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bea89e60964563" /><Relationship Type="http://schemas.openxmlformats.org/officeDocument/2006/relationships/notesMaster" Target="/ppt/notesMasters/notesMaster1.xml" Id="R4b50ef1564b242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18c8ace0a24420" /><Relationship Type="http://schemas.openxmlformats.org/officeDocument/2006/relationships/notesMaster" Target="/ppt/notesMasters/notesMaster1.xml" Id="R4ad0d1903a1c42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3b54eed7f24b8a" /><Relationship Type="http://schemas.openxmlformats.org/officeDocument/2006/relationships/notesMaster" Target="/ppt/notesMasters/notesMaster1.xml" Id="Ra458fca5fcf84e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e0cc58b914414e" /><Relationship Type="http://schemas.openxmlformats.org/officeDocument/2006/relationships/notesMaster" Target="/ppt/notesMasters/notesMaster1.xml" Id="R7141f6a1be9043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43bccd79e24452" /><Relationship Type="http://schemas.openxmlformats.org/officeDocument/2006/relationships/notesMaster" Target="/ppt/notesMasters/notesMaster1.xml" Id="R49972e82307943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ca7e8739724996" /><Relationship Type="http://schemas.openxmlformats.org/officeDocument/2006/relationships/notesMaster" Target="/ppt/notesMasters/notesMaster1.xml" Id="R8bebba834c4947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bd4f870ec249eb" /><Relationship Type="http://schemas.openxmlformats.org/officeDocument/2006/relationships/notesMaster" Target="/ppt/notesMasters/notesMaster1.xml" Id="R07f98f9e10a840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58c032307c41c3" /><Relationship Type="http://schemas.openxmlformats.org/officeDocument/2006/relationships/notesMaster" Target="/ppt/notesMasters/notesMaster1.xml" Id="R8672d73a3b8947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021953df084b21" /><Relationship Type="http://schemas.openxmlformats.org/officeDocument/2006/relationships/notesMaster" Target="/ppt/notesMasters/notesMaster1.xml" Id="R9b0456da44c54e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441628169b40f6" /><Relationship Type="http://schemas.openxmlformats.org/officeDocument/2006/relationships/notesMaster" Target="/ppt/notesMasters/notesMaster1.xml" Id="R9c2f4e16d4a149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70f344058d424f" /><Relationship Type="http://schemas.openxmlformats.org/officeDocument/2006/relationships/notesMaster" Target="/ppt/notesMasters/notesMaster1.xml" Id="R7696ebfcc57c4a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78518f6b744735" /><Relationship Type="http://schemas.openxmlformats.org/officeDocument/2006/relationships/notesMaster" Target="/ppt/notesMasters/notesMaster1.xml" Id="R5c171a84f2a142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49bcaebae94467" /><Relationship Type="http://schemas.openxmlformats.org/officeDocument/2006/relationships/notesMaster" Target="/ppt/notesMasters/notesMaster1.xml" Id="Rd4d10f9e25a34b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f43d40c4d44c71" /><Relationship Type="http://schemas.openxmlformats.org/officeDocument/2006/relationships/notesMaster" Target="/ppt/notesMasters/notesMaster1.xml" Id="Ra0c1317293624f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aacc66252a4449" /><Relationship Type="http://schemas.openxmlformats.org/officeDocument/2006/relationships/notesMaster" Target="/ppt/notesMasters/notesMaster1.xml" Id="R9e176187f01c4d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fdc496fea543ff" /><Relationship Type="http://schemas.openxmlformats.org/officeDocument/2006/relationships/notesMaster" Target="/ppt/notesMasters/notesMaster1.xml" Id="R7a03061e12dc46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09dafa68574fd8" /><Relationship Type="http://schemas.openxmlformats.org/officeDocument/2006/relationships/notesMaster" Target="/ppt/notesMasters/notesMaster1.xml" Id="R99e1f5ea3f1c47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30d3ac90b044b1" /><Relationship Type="http://schemas.openxmlformats.org/officeDocument/2006/relationships/notesMaster" Target="/ppt/notesMasters/notesMaster1.xml" Id="R85e54905a22240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b77947bd444a0a" /><Relationship Type="http://schemas.openxmlformats.org/officeDocument/2006/relationships/notesMaster" Target="/ppt/notesMasters/notesMaster1.xml" Id="R003542a0273e4fb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3a70425464c4464" /><Relationship Type="http://schemas.openxmlformats.org/officeDocument/2006/relationships/notesMaster" Target="/ppt/notesMasters/notesMaster1.xml" Id="Rcfc8db1bc23946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e3203d3a4e4bb5" /><Relationship Type="http://schemas.openxmlformats.org/officeDocument/2006/relationships/notesMaster" Target="/ppt/notesMasters/notesMaster1.xml" Id="R0032a63fa9b8488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e21c5dcfde471e" /><Relationship Type="http://schemas.openxmlformats.org/officeDocument/2006/relationships/notesMaster" Target="/ppt/notesMasters/notesMaster1.xml" Id="Rd5ecc92e94d645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5cd3449d4f4891" /><Relationship Type="http://schemas.openxmlformats.org/officeDocument/2006/relationships/notesMaster" Target="/ppt/notesMasters/notesMaster1.xml" Id="R063faa59a94944a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7b68d3047154c63" /><Relationship Type="http://schemas.openxmlformats.org/officeDocument/2006/relationships/notesMaster" Target="/ppt/notesMasters/notesMaster1.xml" Id="Rae5f2248fade43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49f1c2545784938" /><Relationship Type="http://schemas.openxmlformats.org/officeDocument/2006/relationships/notesMaster" Target="/ppt/notesMasters/notesMaster1.xml" Id="Re62d0f02299a4aa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c0e03f19bdf4937" /><Relationship Type="http://schemas.openxmlformats.org/officeDocument/2006/relationships/notesMaster" Target="/ppt/notesMasters/notesMaster1.xml" Id="Rcfabc8df12d1405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325d5ba6ae14e72" /><Relationship Type="http://schemas.openxmlformats.org/officeDocument/2006/relationships/notesMaster" Target="/ppt/notesMasters/notesMaster1.xml" Id="Ra37b434db1e849b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41bb3ec607e46f6" /><Relationship Type="http://schemas.openxmlformats.org/officeDocument/2006/relationships/notesMaster" Target="/ppt/notesMasters/notesMaster1.xml" Id="R82a1c6d9eb1042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f251cc4825c430f" /><Relationship Type="http://schemas.openxmlformats.org/officeDocument/2006/relationships/notesMaster" Target="/ppt/notesMasters/notesMaster1.xml" Id="R3e9945fcf0714e5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80f684803cf4c10" /><Relationship Type="http://schemas.openxmlformats.org/officeDocument/2006/relationships/notesMaster" Target="/ppt/notesMasters/notesMaster1.xml" Id="Rd8fdf71626a04aa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7f0fc83fd944d9e" /><Relationship Type="http://schemas.openxmlformats.org/officeDocument/2006/relationships/notesMaster" Target="/ppt/notesMasters/notesMaster1.xml" Id="R2505725a0f354a7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0a35c88a26b49ab" /><Relationship Type="http://schemas.openxmlformats.org/officeDocument/2006/relationships/notesMaster" Target="/ppt/notesMasters/notesMaster1.xml" Id="R373cc4107ea04bf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74a37771590479f" /><Relationship Type="http://schemas.openxmlformats.org/officeDocument/2006/relationships/notesMaster" Target="/ppt/notesMasters/notesMaster1.xml" Id="R7a823e155e6f421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677ebfc2b9b42d4" /><Relationship Type="http://schemas.openxmlformats.org/officeDocument/2006/relationships/notesMaster" Target="/ppt/notesMasters/notesMaster1.xml" Id="R2af783e44ad847c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26e0a9cdd8a45e4" /><Relationship Type="http://schemas.openxmlformats.org/officeDocument/2006/relationships/notesMaster" Target="/ppt/notesMasters/notesMaster1.xml" Id="R9f8d0430ac31417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0fe37cccf88457e" /><Relationship Type="http://schemas.openxmlformats.org/officeDocument/2006/relationships/notesMaster" Target="/ppt/notesMasters/notesMaster1.xml" Id="Reb6df6319599402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4f4e117136f48f1" /><Relationship Type="http://schemas.openxmlformats.org/officeDocument/2006/relationships/notesMaster" Target="/ppt/notesMasters/notesMaster1.xml" Id="R8d66d27ceb6f4d5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75c9fe5750e4692" /><Relationship Type="http://schemas.openxmlformats.org/officeDocument/2006/relationships/notesMaster" Target="/ppt/notesMasters/notesMaster1.xml" Id="Ra2e7a5742c0a47e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bd2822ae8174b94" /><Relationship Type="http://schemas.openxmlformats.org/officeDocument/2006/relationships/notesMaster" Target="/ppt/notesMasters/notesMaster1.xml" Id="R20e30b9f45bb4d8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1647a0c255348b7" /><Relationship Type="http://schemas.openxmlformats.org/officeDocument/2006/relationships/notesMaster" Target="/ppt/notesMasters/notesMaster1.xml" Id="R65066ffe92d048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./slides/fashion-scope/assets/page-53.jpg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./app/server.py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./app/deploy_kevindigital.sh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./app/explorer.db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Remote relabeled SQLite aggregate query executed 2026-08-27: 27,355 analyzed images and 650,411 tag rows.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./data/aloruh_shein_browser_export.json</a:t>
            </a:r>
          </a:p>
          <a:p xmlns:a="http://schemas.openxmlformats.org/drawingml/2006/main">
            <a:r>
              <a:t>- ./data/aloruh_shein_browser_export.recollect.partial.json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- User-confirmed Browser Use login and captcha workflow in current conversation, 2026-08-26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./pipelines/analysis/high_resolution_images.py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./app/src/imageAnalysis.js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./pipelines/analysis/analyze_explorer_images.py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./app/src/ImageDimensions.jsx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slides/fashion-scope/assets/experience1-step1-enter-dimensions.png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slides/fashion-scope/assets/experience1-step2-select-dimensions.png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slides/fashion-scope/assets/experience1-step3-and-filter.png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slides/fashion-scope/assets/experience1-step4-matched-results.png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slides/fashion-scope/assets/experience1-step5-select-for-analysis.png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slides/fashion-scope/assets/experience1-step6-analysis-running.png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slides/fashion-scope/assets/experience1-step7-analysis-result.png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./app/src/Reports.jsx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slides/fashion-scope/assets/experience2-step1-start-report-v9.png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slides/fashion-scope/assets/experience2-step2-completed-analysis.png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slides/fashion-scope/assets/experience2-step3-review-section.png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slides/fashion-scope/assets/experience2-step4-approve-section.png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slides/fashion-scope/assets/experience2-step5-final-pdf.png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./output/pdf/Aloruh店铺视觉诊断-内容驱动版-20260827.pdf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./output/pdf/Aloruh店铺视觉诊断-内容驱动版-20260827.pdf</a:t>
            </a:r>
          </a:p>
          <a:p xmlns:a="http://schemas.openxmlformats.org/drawingml/2006/main">
            <a:r>
              <a:t>- ./slides/fashion-scope/assets/page-53.jpg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./.tmp/whitepaper-20260827a-job.json</a:t>
            </a:r>
          </a:p>
          <a:p xmlns:a="http://schemas.openxmlformats.org/drawingml/2006/main">
            <a:r>
              <a:t>- Production UI generated PDF, 2026-08-27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./.tmp/whitepaper-20260827a-job.json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 UI: https://regardsjob.eastasia.cloudapp.azure.com/fashion-scope/#reports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./.tmp/whitepaper-20260827a-job.json</a:t>
            </a:r>
          </a:p>
          <a:p xmlns:a="http://schemas.openxmlformats.org/drawingml/2006/main">
            <a:r>
              <a:t>- UI-generated PDF SHA-256 2A52904C5B182C608BD20DA08B238ABD2D145446B48D32F17CFA15001E3C6932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 based on the verified Fashion Scope product and report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561c6e9e44f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a57fe7111b4ff2" /><Relationship Type="http://schemas.openxmlformats.org/officeDocument/2006/relationships/slideLayout" Target="/ppt/slideLayouts/slideLayout1.xml" Id="R27022c2dc10841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22c2dc10841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bea780a24d1a" /><Relationship Type="http://schemas.openxmlformats.org/officeDocument/2006/relationships/image" Target="/ppt/media/image.jpeg" Id="R28490bfb2ac64a45" /><Relationship Type="http://schemas.openxmlformats.org/officeDocument/2006/relationships/notesSlide" Target="/ppt/notesSlides/notesSlide1.xml" Id="R58f6bf1e3b0b4f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a2bfddbd04e74" /><Relationship Type="http://schemas.openxmlformats.org/officeDocument/2006/relationships/notesSlide" Target="/ppt/notesSlides/notesSlide2.xml" Id="R138864eb2cdb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5a7b9a6cf42c9" /><Relationship Type="http://schemas.openxmlformats.org/officeDocument/2006/relationships/notesSlide" Target="/ppt/notesSlides/notesSlide3.xml" Id="R29fac46f09a549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7f8c921ee4d02" /><Relationship Type="http://schemas.openxmlformats.org/officeDocument/2006/relationships/notesSlide" Target="/ppt/notesSlides/notesSlide4.xml" Id="R26796b62697647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a129d3ba544e2" /><Relationship Type="http://schemas.openxmlformats.org/officeDocument/2006/relationships/notesSlide" Target="/ppt/notesSlides/notesSlide5.xml" Id="R215565b0483544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f9365170c47e7" /><Relationship Type="http://schemas.openxmlformats.org/officeDocument/2006/relationships/notesSlide" Target="/ppt/notesSlides/notesSlide6.xml" Id="R6108a7ca98a1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2c2fc7efe463b" /><Relationship Type="http://schemas.openxmlformats.org/officeDocument/2006/relationships/notesSlide" Target="/ppt/notesSlides/notesSlide7.xml" Id="R326bffbfacfa46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ba3f183254584" /><Relationship Type="http://schemas.openxmlformats.org/officeDocument/2006/relationships/notesSlide" Target="/ppt/notesSlides/notesSlide8.xml" Id="R8357d62c89004d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665f3c0a4455f" /><Relationship Type="http://schemas.openxmlformats.org/officeDocument/2006/relationships/notesSlide" Target="/ppt/notesSlides/notesSlide9.xml" Id="R8084b87b4e2741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d05140b004fee" /><Relationship Type="http://schemas.openxmlformats.org/officeDocument/2006/relationships/notesSlide" Target="/ppt/notesSlides/notesSlide10.xml" Id="R8edc7cafe76a43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dbb302dd54587" /><Relationship Type="http://schemas.openxmlformats.org/officeDocument/2006/relationships/notesSlide" Target="/ppt/notesSlides/notesSlide11.xml" Id="R48ba037c3bae4b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4b671cfe14d42" /><Relationship Type="http://schemas.openxmlformats.org/officeDocument/2006/relationships/notesSlide" Target="/ppt/notesSlides/notesSlide12.xml" Id="R10e9d0e775d54f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5b1cbec544a57" /><Relationship Type="http://schemas.openxmlformats.org/officeDocument/2006/relationships/notesSlide" Target="/ppt/notesSlides/notesSlide13.xml" Id="R6f0cca07edfc4d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49aee47864529" /><Relationship Type="http://schemas.openxmlformats.org/officeDocument/2006/relationships/notesSlide" Target="/ppt/notesSlides/notesSlide14.xml" Id="R0e8125e3842146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71e34c1ca433c" /><Relationship Type="http://schemas.openxmlformats.org/officeDocument/2006/relationships/image" Target="/ppt/media/image.png" Id="R648b2c775d1440f7" /><Relationship Type="http://schemas.openxmlformats.org/officeDocument/2006/relationships/notesSlide" Target="/ppt/notesSlides/notesSlide15.xml" Id="R2faf8a4a476341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9153dc9947b5" /><Relationship Type="http://schemas.openxmlformats.org/officeDocument/2006/relationships/image" Target="/ppt/media/image2.png" Id="Rc7a5f79a80154257" /><Relationship Type="http://schemas.openxmlformats.org/officeDocument/2006/relationships/notesSlide" Target="/ppt/notesSlides/notesSlide16.xml" Id="Rf47e323d658749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945d3612642d8" /><Relationship Type="http://schemas.openxmlformats.org/officeDocument/2006/relationships/image" Target="/ppt/media/image3.png" Id="R44f2cafcf6964d13" /><Relationship Type="http://schemas.openxmlformats.org/officeDocument/2006/relationships/notesSlide" Target="/ppt/notesSlides/notesSlide17.xml" Id="R74f7e1382c4649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804eae0134610" /><Relationship Type="http://schemas.openxmlformats.org/officeDocument/2006/relationships/image" Target="/ppt/media/image4.png" Id="R750443b014aa4df9" /><Relationship Type="http://schemas.openxmlformats.org/officeDocument/2006/relationships/notesSlide" Target="/ppt/notesSlides/notesSlide18.xml" Id="R39220a014da34b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6aa985f284833" /><Relationship Type="http://schemas.openxmlformats.org/officeDocument/2006/relationships/image" Target="/ppt/media/image5.png" Id="R495429f33d7e44f3" /><Relationship Type="http://schemas.openxmlformats.org/officeDocument/2006/relationships/notesSlide" Target="/ppt/notesSlides/notesSlide19.xml" Id="Rdd3e74aac3da42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fa14c57e340cc" /><Relationship Type="http://schemas.openxmlformats.org/officeDocument/2006/relationships/image" Target="/ppt/media/image6.png" Id="R4e6fad39746a4d19" /><Relationship Type="http://schemas.openxmlformats.org/officeDocument/2006/relationships/notesSlide" Target="/ppt/notesSlides/notesSlide20.xml" Id="R40d596786d3e4c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bfd88d8574bc0" /><Relationship Type="http://schemas.openxmlformats.org/officeDocument/2006/relationships/image" Target="/ppt/media/image7.png" Id="R9c5f393655464f6e" /><Relationship Type="http://schemas.openxmlformats.org/officeDocument/2006/relationships/notesSlide" Target="/ppt/notesSlides/notesSlide21.xml" Id="Re538bf0e5ff0405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5c7525bb34244" /><Relationship Type="http://schemas.openxmlformats.org/officeDocument/2006/relationships/notesSlide" Target="/ppt/notesSlides/notesSlide22.xml" Id="R2a96ee2c01b249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7b7ddf61942f8" /><Relationship Type="http://schemas.openxmlformats.org/officeDocument/2006/relationships/notesSlide" Target="/ppt/notesSlides/notesSlide23.xml" Id="R059f06066b1e40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2bd559abd476b" /><Relationship Type="http://schemas.openxmlformats.org/officeDocument/2006/relationships/notesSlide" Target="/ppt/notesSlides/notesSlide24.xml" Id="Rb849c2922f5f44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95ea747e74b20" /><Relationship Type="http://schemas.openxmlformats.org/officeDocument/2006/relationships/notesSlide" Target="/ppt/notesSlides/notesSlide25.xml" Id="R16b0f7e097ed43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1e2b528fa4954" /><Relationship Type="http://schemas.openxmlformats.org/officeDocument/2006/relationships/image" Target="/ppt/media/image8.png" Id="Ra2203f37fee5428f" /><Relationship Type="http://schemas.openxmlformats.org/officeDocument/2006/relationships/notesSlide" Target="/ppt/notesSlides/notesSlide26.xml" Id="Ref97a1ee90924b2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2e02a275c4dd7" /><Relationship Type="http://schemas.openxmlformats.org/officeDocument/2006/relationships/image" Target="/ppt/media/image9.png" Id="R2ad29457c3594960" /><Relationship Type="http://schemas.openxmlformats.org/officeDocument/2006/relationships/notesSlide" Target="/ppt/notesSlides/notesSlide27.xml" Id="R501ed597da9745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6caa3fe214382" /><Relationship Type="http://schemas.openxmlformats.org/officeDocument/2006/relationships/image" Target="/ppt/media/image10.png" Id="Ra33d7e54d56940d6" /><Relationship Type="http://schemas.openxmlformats.org/officeDocument/2006/relationships/notesSlide" Target="/ppt/notesSlides/notesSlide28.xml" Id="Rb583c2cf4d1b4ad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01b53c61c4d0b" /><Relationship Type="http://schemas.openxmlformats.org/officeDocument/2006/relationships/image" Target="/ppt/media/image11.png" Id="Rdc74115a7a204a84" /><Relationship Type="http://schemas.openxmlformats.org/officeDocument/2006/relationships/notesSlide" Target="/ppt/notesSlides/notesSlide29.xml" Id="R3be6826bba914ed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b829f61114b45" /><Relationship Type="http://schemas.openxmlformats.org/officeDocument/2006/relationships/image" Target="/ppt/media/image12.png" Id="R22910990a30a41a5" /><Relationship Type="http://schemas.openxmlformats.org/officeDocument/2006/relationships/notesSlide" Target="/ppt/notesSlides/notesSlide30.xml" Id="Rc701a947efd9465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08bb906654f32" /><Relationship Type="http://schemas.openxmlformats.org/officeDocument/2006/relationships/image" Target="/ppt/media/image2.jpeg" Id="R4d83af5aaedd4aa1" /><Relationship Type="http://schemas.openxmlformats.org/officeDocument/2006/relationships/image" Target="/ppt/media/image3.jpeg" Id="R6d767373df6c47e9" /><Relationship Type="http://schemas.openxmlformats.org/officeDocument/2006/relationships/image" Target="/ppt/media/image4.jpeg" Id="R636e1864a73c405f" /><Relationship Type="http://schemas.openxmlformats.org/officeDocument/2006/relationships/image" Target="/ppt/media/image5.jpeg" Id="R07bc709d3c594937" /><Relationship Type="http://schemas.openxmlformats.org/officeDocument/2006/relationships/image" Target="/ppt/media/image6.jpeg" Id="R99a8a8400a774e3d" /><Relationship Type="http://schemas.openxmlformats.org/officeDocument/2006/relationships/notesSlide" Target="/ppt/notesSlides/notesSlide31.xml" Id="R57a94d80691f4f7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8d7d015054f92" /><Relationship Type="http://schemas.openxmlformats.org/officeDocument/2006/relationships/image" Target="/ppt/media/image7.jpeg" Id="R5644ef862ee34da8" /><Relationship Type="http://schemas.openxmlformats.org/officeDocument/2006/relationships/image" Target="/ppt/media/image8.jpeg" Id="R5dc30fb1ea134cf0" /><Relationship Type="http://schemas.openxmlformats.org/officeDocument/2006/relationships/image" Target="/ppt/media/image9.jpeg" Id="R84bf1b3ed7de4a3a" /><Relationship Type="http://schemas.openxmlformats.org/officeDocument/2006/relationships/image" Target="/ppt/media/image10.jpeg" Id="R67bdb2f644ed4a78" /><Relationship Type="http://schemas.openxmlformats.org/officeDocument/2006/relationships/notesSlide" Target="/ppt/notesSlides/notesSlide32.xml" Id="R4deedf09024a40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195efee714ac0" /><Relationship Type="http://schemas.openxmlformats.org/officeDocument/2006/relationships/notesSlide" Target="/ppt/notesSlides/notesSlide33.xml" Id="Rae63f7a43351487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c8818b2e6422c" /><Relationship Type="http://schemas.openxmlformats.org/officeDocument/2006/relationships/notesSlide" Target="/ppt/notesSlides/notesSlide34.xml" Id="R8629990fa4c24e3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dda08416347f1" /><Relationship Type="http://schemas.openxmlformats.org/officeDocument/2006/relationships/notesSlide" Target="/ppt/notesSlides/notesSlide35.xml" Id="R28f7745d5daa4bc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b8eb291024ce0" /><Relationship Type="http://schemas.openxmlformats.org/officeDocument/2006/relationships/notesSlide" Target="/ppt/notesSlides/notesSlide36.xml" Id="R0cba98888e594c3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e782fe8b24ee7" /><Relationship Type="http://schemas.openxmlformats.org/officeDocument/2006/relationships/notesSlide" Target="/ppt/notesSlides/notesSlide37.xml" Id="R64ab52f3ddc1460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e97ce95cf493e" /><Relationship Type="http://schemas.openxmlformats.org/officeDocument/2006/relationships/notesSlide" Target="/ppt/notesSlides/notesSlide38.xml" Id="Rbefda663bec445d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83b6db7eb4c1c" /><Relationship Type="http://schemas.openxmlformats.org/officeDocument/2006/relationships/notesSlide" Target="/ppt/notesSlides/notesSlide39.xml" Id="R3140371b3730495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46e10edfc4d8d" /><Relationship Type="http://schemas.openxmlformats.org/officeDocument/2006/relationships/notesSlide" Target="/ppt/notesSlides/notesSlide40.xml" Id="Rbc813d5c77114bb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8a862df544d9f" /><Relationship Type="http://schemas.openxmlformats.org/officeDocument/2006/relationships/notesSlide" Target="/ppt/notesSlides/notesSlide41.xml" Id="Rad07e729f33f4d6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eeb9e5a134c7f" /><Relationship Type="http://schemas.openxmlformats.org/officeDocument/2006/relationships/notesSlide" Target="/ppt/notesSlides/notesSlide42.xml" Id="Rf832767e49d246a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303a5aa0c4ab5" /><Relationship Type="http://schemas.openxmlformats.org/officeDocument/2006/relationships/notesSlide" Target="/ppt/notesSlides/notesSlide43.xml" Id="R4c4be2132c46440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207b0d4b94368" /><Relationship Type="http://schemas.openxmlformats.org/officeDocument/2006/relationships/notesSlide" Target="/ppt/notesSlides/notesSlide44.xml" Id="Ra14e600558b8468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8d4620c2f40cf" /><Relationship Type="http://schemas.openxmlformats.org/officeDocument/2006/relationships/notesSlide" Target="/ppt/notesSlides/notesSlide45.xml" Id="Rc7a48b2e161b40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2531D5-CD21-4223-82C7-A69DD182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8860CF9-B301-44C0-A064-C70D408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商铺视觉数据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如何变成可交付结论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2DA2467-0D1D-483A-BB84-381E9EE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外部数据源 → Aloruh首图15维（竞品12维） → 两种分析工作流 → 内容驱动PDF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B33FDE9-C37A-4F13-B81C-DE004444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8FA0B0-802D-4548-B661-B0A96D40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COLLECT  /  STANDARDIZE  /  ANALYZE  /  DELIVER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CA5C9C3-E156-42AA-A4E3-155E7CDD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D9198"/>
                </a:solidFill>
                <a:latin typeface="Arial"/>
                <a:ea typeface="Arial"/>
                <a:cs typeface="Arial"/>
              </a:rPr>
              <a:t>Discussion deck · 2026.08.27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4A7FBA-1F32-4611-832C-5CA0EE6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9198"/>
                </a:solidFill>
                <a:latin typeface="Arial"/>
                <a:ea typeface="Arial"/>
                <a:cs typeface="Arial"/>
              </a:rPr>
              <a:t>FINAL DELIVERY / PLAN B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FE54F5F8-BC30-422C-95EC-C91C64C0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14400"/>
            <a:ext cx="615315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90bfb2ac64a45"/>
          <a:stretch xmlns:a="http://schemas.openxmlformats.org/drawingml/2006/main"/>
        </p:blipFill>
        <p:spPr>
          <a:xfrm xmlns:a="http://schemas.openxmlformats.org/drawingml/2006/main">
            <a:off x="5772150" y="1896273"/>
            <a:ext cx="5772150" cy="32464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89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088C2C9F-0B86-452A-81D2-75F7BADA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FA95DD-2854-4F62-8F45-3CAB93C2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架构核心是“批量数据底座＋按需视觉推理”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DF15F8-B6AD-4BF1-8484-78BA1EC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高频浏览与筛选由本地数据层承担；只有需要语义判断时才调用视觉模型。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D5F4E7-7EC4-464C-840F-8B21C9E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4704CA4E-0B32-4506-BE66-D0DB509A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74F2AF92-2606-4AB4-B435-04A3545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6627EEEC-4CBD-4748-B737-369A8E17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3DF2F6EC-90A3-4B67-9DCC-0955B725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7E0801-D017-4713-9A62-6B401FA6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7D53FB-2291-4090-9719-2BE6F0FE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B37EA19-5D0A-4C8B-B46F-D6EAD55C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Shopify /products.json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Algolia browse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WooCommerce Store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Use＋人工验证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CBF82A33-BDEC-470F-8B0E-3EDA3791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D421795-1E60-4616-B388-415EED06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68CD5B3-C1AB-4DB6-8963-E063C222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E4D5199-557E-4625-A735-1988E239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统一商品/图片 JSONL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稳定键＋URL/内容去重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1,782张首图15维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竞品12维可比分布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SQLite查询层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DCCC756C-572E-4491-899A-0D797807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0898140-7873-4E1D-97F6-BA69E4CC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D057DC-7096-4C0C-9D4A-6AF38380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分析与证据引擎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F1A804F-2C83-4029-9D15-F90C5966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体验1：组合筛选＋精读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体验2：整体分析＋报告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Terra批量打标 / Sol精读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报告共享高清缓存与证据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97FE2D7C-7A41-4E15-8EE6-8CA87ABD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EB668DE-2EF2-4462-8D9C-ECDFC4E8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2E8C9D-76A5-4C9C-871A-1AAE2B3D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产品与交付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8E06CF5-9D4E-41D6-AD82-B72C012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React 19 + Vite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Python HTTP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五个Section逐章审核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ReportLab/Pillow内容驱动PDF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96611026-A042-4DDD-8D31-AD022BA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783B2B9-5660-4D79-A12B-922C2E3D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生产运行：Nginx 反向代理 → Azure VM 上的 systemd 服务 → 127.0.0.1:8603 → 持久化任务与报告目录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22FF4F32-D4E7-4D39-ADA4-6611B718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F0ADCB7B-23E4-4F60-B276-845CD8F2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48456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1188EBD6-10DF-4F9A-8787-DAF6ED32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25BBD7-587E-41FB-B2A4-26E894A2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外部数据源：每个站点采用最适合它的采集入口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4FFD9D-29A6-4944-B06C-AB553B9A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这一页只看四种采集入口与统一入库过程；Aloruh（SHEIN）的人机协作细节在第5页单独展开。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AEE58D-371C-4207-9790-A806DF0A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E419619A-2D7A-4AD4-B515-7F829451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39AB27-34C4-48A7-A051-6E6911A8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SHOPIFY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0FAEBE7-49F8-4D47-88DA-2ED5F79C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 / Motel Rocks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32D608-1C15-4CB7-B4BB-D6BF6A91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/products.json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250件/页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集合页补 new / best / sale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976D24-3B8F-401D-895C-89DC19F3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变体 · 价格 · 图片URL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A98177FC-2B28-4970-8E60-A2D7D38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07302CA-E97C-45A8-9650-B8DB5F0F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ALGOLIA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9780DA-9D77-47D8-A0C0-62B2758C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31E0EE-AC0C-4810-A0E2-D09264CA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 index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1,000件/批＋cursor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另查索引排名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EDE5C3-3124-4409-B41C-4F847169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库存 · 图片 · 热销标记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749671EA-4ABC-4D2B-973D-0C53203F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5D77DA4-8A22-4B44-8619-02BA52CE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WOOCOMMERCE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FC27155-B5B9-463E-A44C-90ED1CCC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262C80C-3885-45CA-BB7C-89D1943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Store API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per_page=100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保留robots/sitemap快照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9D23E6-8F06-4676-AAF2-02BCF7CB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本地商品 · 标签 · 图片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FEADA33F-E0BD-493B-AAAD-4418C7A6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A0706BE-D08A-4FCF-9F8F-1DEC5A00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BROWSER USE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93858BD-9887-4C17-9A78-CBE3949B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SHEIN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9B99A34-C0E6-43E8-B6A4-A9571A9A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真实浏览器会话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目录与必要详情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完整流程见第5页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78F45ED-67EE-492C-B1D4-B9F0350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品牌目录 · 商品详情 · 图片序列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B27ADD0C-043D-4C76-B20D-45BB1F38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10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arrow">
            <a:extLst xmlns:a="http://schemas.openxmlformats.org/drawingml/2006/main">
              <a:ext uri="{FF2B5EF4-FFF2-40B4-BE49-F238E27FC236}">
                <a16:creationId xmlns:a16="http://schemas.microsoft.com/office/drawing/2014/main" id="{4372C3F1-F45D-4C0B-B50D-B12F5B69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E79B9993-0208-43B6-8924-1D913076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A461AF9D-6FAC-4F1E-88E7-807BF3D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680A1AA7-9053-4022-9CB6-7B2151BC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D4EE599-1F1A-4670-8536-CD3092B0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ALL SOURCES / SHARED LANDING PIPELINE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C632F7D-94D2-4B61-99D4-FA40A568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97CED52-7063-4412-98F3-02A052D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分页读取来源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DA67628-A113-4F97-BE17-4CD9FA3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D372226-FB6C-404A-9076-DE7DBCD2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保存原始响应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29DA732-01BF-45C1-9040-3726E94A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32EEA0B-5500-4810-9E1E-07AD7AB3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展开商品与图片URL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395119F-5F92-419D-B2DC-5888AFB3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DE279D7-E254-407E-9FD1-AC4B7365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生成稳定键＋去重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D7BAC574-1C65-4546-950B-E074F075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CCFA3E9-7182-47F6-86C2-4A60534D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写入SQLite供UI查询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38E2772E-E3E3-463D-8CA6-D82439D9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1E619CE4-866E-479D-809D-ADE3297B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0659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ED4A90B7-0207-4D05-BE92-D69DD591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32C846-5DB6-4E04-87E2-B11189ED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60,260个商品对应288,831条图片地址，先建索引再按需下载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2EA1067-796E-4D77-AD14-4E172CB6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一条图片索引 = 一个图片URL＋所属店铺、商品和图片位置；它记录“去哪里取图”，本身不是图片文件。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4078EC-266E-4CCA-886E-1A30DF1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ventory-metric-0">
            <a:extLst xmlns:a="http://schemas.openxmlformats.org/drawingml/2006/main">
              <a:ext uri="{FF2B5EF4-FFF2-40B4-BE49-F238E27FC236}">
                <a16:creationId xmlns:a16="http://schemas.microsoft.com/office/drawing/2014/main" id="{459ED5DA-DBB7-4DEB-AAD6-17A603D0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6" name="inventory-metric-label-0">
            <a:extLst xmlns:a="http://schemas.openxmlformats.org/drawingml/2006/main">
              <a:ext uri="{FF2B5EF4-FFF2-40B4-BE49-F238E27FC236}">
                <a16:creationId xmlns:a16="http://schemas.microsoft.com/office/drawing/2014/main" id="{35DED296-89E2-4774-9D6F-A1409296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7" name="inventory-metric-1">
            <a:extLst xmlns:a="http://schemas.openxmlformats.org/drawingml/2006/main">
              <a:ext uri="{FF2B5EF4-FFF2-40B4-BE49-F238E27FC236}">
                <a16:creationId xmlns:a16="http://schemas.microsoft.com/office/drawing/2014/main" id="{5C500A31-FD9F-4BEC-AD37-5189737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8" name="inventory-metric-label-1">
            <a:extLst xmlns:a="http://schemas.openxmlformats.org/drawingml/2006/main">
              <a:ext uri="{FF2B5EF4-FFF2-40B4-BE49-F238E27FC236}">
                <a16:creationId xmlns:a16="http://schemas.microsoft.com/office/drawing/2014/main" id="{B11A82EF-E2FA-4D74-BAB0-FE4BCA83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图片URL索引（非文件）</a:t>
            </a:r>
          </a:p>
        </p:txBody>
      </p:sp>
      <p:sp>
        <p:nvSpPr>
          <p:cNvPr id="9" name="inventory-metric-2">
            <a:extLst xmlns:a="http://schemas.openxmlformats.org/drawingml/2006/main">
              <a:ext uri="{FF2B5EF4-FFF2-40B4-BE49-F238E27FC236}">
                <a16:creationId xmlns:a16="http://schemas.microsoft.com/office/drawing/2014/main" id="{BE9BA2FC-1127-4209-81FF-98C35888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10" name="inventory-metric-label-2">
            <a:extLst xmlns:a="http://schemas.openxmlformats.org/drawingml/2006/main">
              <a:ext uri="{FF2B5EF4-FFF2-40B4-BE49-F238E27FC236}">
                <a16:creationId xmlns:a16="http://schemas.microsoft.com/office/drawing/2014/main" id="{D9C59806-D8D1-4FC8-9E7C-16409407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已完成标签分析图片</a:t>
            </a:r>
          </a:p>
        </p:txBody>
      </p:sp>
      <p:sp>
        <p:nvSpPr>
          <p:cNvPr id="11" name="inventory-metric-3">
            <a:extLst xmlns:a="http://schemas.openxmlformats.org/drawingml/2006/main">
              <a:ext uri="{FF2B5EF4-FFF2-40B4-BE49-F238E27FC236}">
                <a16:creationId xmlns:a16="http://schemas.microsoft.com/office/drawing/2014/main" id="{E4190B1E-F50A-410C-848D-9FA4321E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650,411</a:t>
            </a:r>
          </a:p>
        </p:txBody>
      </p:sp>
      <p:sp>
        <p:nvSpPr>
          <p:cNvPr id="12" name="inventory-metric-label-3">
            <a:extLst xmlns:a="http://schemas.openxmlformats.org/drawingml/2006/main">
              <a:ext uri="{FF2B5EF4-FFF2-40B4-BE49-F238E27FC236}">
                <a16:creationId xmlns:a16="http://schemas.microsoft.com/office/drawing/2014/main" id="{3519DCAE-3A5F-4110-9B42-625005E5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累计分析标签</a:t>
            </a:r>
          </a:p>
        </p:txBody>
      </p:sp>
      <p:sp>
        <p:nvSpPr>
          <p:cNvPr id="13" name="inventory-table-header">
            <a:extLst xmlns:a="http://schemas.openxmlformats.org/drawingml/2006/main">
              <a:ext uri="{FF2B5EF4-FFF2-40B4-BE49-F238E27FC236}">
                <a16:creationId xmlns:a16="http://schemas.microsoft.com/office/drawing/2014/main" id="{BA511E23-76B0-4FB1-9AB4-6E3CFDDD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10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ventory-header-0">
            <a:extLst xmlns:a="http://schemas.openxmlformats.org/drawingml/2006/main">
              <a:ext uri="{FF2B5EF4-FFF2-40B4-BE49-F238E27FC236}">
                <a16:creationId xmlns:a16="http://schemas.microsoft.com/office/drawing/2014/main" id="{6869A4D3-4A78-4681-BAE0-156D29A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</a:t>
            </a:r>
          </a:p>
        </p:txBody>
      </p:sp>
      <p:sp>
        <p:nvSpPr>
          <p:cNvPr id="15" name="inventory-header-1">
            <a:extLst xmlns:a="http://schemas.openxmlformats.org/drawingml/2006/main">
              <a:ext uri="{FF2B5EF4-FFF2-40B4-BE49-F238E27FC236}">
                <a16:creationId xmlns:a16="http://schemas.microsoft.com/office/drawing/2014/main" id="{AD0E6558-FD9D-413D-A8DB-FDEF36F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16" name="inventory-header-2">
            <a:extLst xmlns:a="http://schemas.openxmlformats.org/drawingml/2006/main">
              <a:ext uri="{FF2B5EF4-FFF2-40B4-BE49-F238E27FC236}">
                <a16:creationId xmlns:a16="http://schemas.microsoft.com/office/drawing/2014/main" id="{672710A5-41B2-4A02-B289-98F3C434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图片URL索引（条）</a:t>
            </a:r>
          </a:p>
        </p:txBody>
      </p:sp>
      <p:sp>
        <p:nvSpPr>
          <p:cNvPr id="17" name="inventory-header-3">
            <a:extLst xmlns:a="http://schemas.openxmlformats.org/drawingml/2006/main">
              <a:ext uri="{FF2B5EF4-FFF2-40B4-BE49-F238E27FC236}">
                <a16:creationId xmlns:a16="http://schemas.microsoft.com/office/drawing/2014/main" id="{BB786A5B-1C22-41D3-84DF-C502400C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已分析图片</a:t>
            </a:r>
          </a:p>
        </p:txBody>
      </p:sp>
      <p:sp>
        <p:nvSpPr>
          <p:cNvPr id="18" name="inventory-store-0">
            <a:extLst xmlns:a="http://schemas.openxmlformats.org/drawingml/2006/main">
              <a:ext uri="{FF2B5EF4-FFF2-40B4-BE49-F238E27FC236}">
                <a16:creationId xmlns:a16="http://schemas.microsoft.com/office/drawing/2014/main" id="{E18DA82F-C6FF-4002-8571-C05B1B8D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</a:t>
            </a:r>
          </a:p>
        </p:txBody>
      </p:sp>
      <p:sp>
        <p:nvSpPr>
          <p:cNvPr id="19" name="inventory-products-0">
            <a:extLst xmlns:a="http://schemas.openxmlformats.org/drawingml/2006/main">
              <a:ext uri="{FF2B5EF4-FFF2-40B4-BE49-F238E27FC236}">
                <a16:creationId xmlns:a16="http://schemas.microsoft.com/office/drawing/2014/main" id="{2B25D7A8-F61A-429F-85C2-B6BDDD1B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20" name="inventory-images-0">
            <a:extLst xmlns:a="http://schemas.openxmlformats.org/drawingml/2006/main">
              <a:ext uri="{FF2B5EF4-FFF2-40B4-BE49-F238E27FC236}">
                <a16:creationId xmlns:a16="http://schemas.microsoft.com/office/drawing/2014/main" id="{B2E7FD31-02E4-4193-8E1B-238904A6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4,352</a:t>
            </a:r>
          </a:p>
        </p:txBody>
      </p:sp>
      <p:sp>
        <p:nvSpPr>
          <p:cNvPr id="21" name="inventory-analyzed-0">
            <a:extLst xmlns:a="http://schemas.openxmlformats.org/drawingml/2006/main">
              <a:ext uri="{FF2B5EF4-FFF2-40B4-BE49-F238E27FC236}">
                <a16:creationId xmlns:a16="http://schemas.microsoft.com/office/drawing/2014/main" id="{A58F13C6-0314-4B09-86A9-71027FD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1,782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E5F5CA3F-52BA-4F25-ACDA-E8A43FC7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ventory-row-bg-1">
            <a:extLst xmlns:a="http://schemas.openxmlformats.org/drawingml/2006/main">
              <a:ext uri="{FF2B5EF4-FFF2-40B4-BE49-F238E27FC236}">
                <a16:creationId xmlns:a16="http://schemas.microsoft.com/office/drawing/2014/main" id="{E53AD274-3963-4A22-AFD4-AEA4DF88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ventory-store-1">
            <a:extLst xmlns:a="http://schemas.openxmlformats.org/drawingml/2006/main">
              <a:ext uri="{FF2B5EF4-FFF2-40B4-BE49-F238E27FC236}">
                <a16:creationId xmlns:a16="http://schemas.microsoft.com/office/drawing/2014/main" id="{1205B1A2-4303-42C5-A57F-7C366C1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25" name="inventory-products-1">
            <a:extLst xmlns:a="http://schemas.openxmlformats.org/drawingml/2006/main">
              <a:ext uri="{FF2B5EF4-FFF2-40B4-BE49-F238E27FC236}">
                <a16:creationId xmlns:a16="http://schemas.microsoft.com/office/drawing/2014/main" id="{A3CDCA9D-139B-4634-8643-DFBB7D0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10,487</a:t>
            </a:r>
          </a:p>
        </p:txBody>
      </p:sp>
      <p:sp>
        <p:nvSpPr>
          <p:cNvPr id="26" name="inventory-images-1">
            <a:extLst xmlns:a="http://schemas.openxmlformats.org/drawingml/2006/main">
              <a:ext uri="{FF2B5EF4-FFF2-40B4-BE49-F238E27FC236}">
                <a16:creationId xmlns:a16="http://schemas.microsoft.com/office/drawing/2014/main" id="{44E8A5B4-4F47-4D28-B103-126DB1D9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10,771</a:t>
            </a:r>
          </a:p>
        </p:txBody>
      </p:sp>
      <p:sp>
        <p:nvSpPr>
          <p:cNvPr id="27" name="inventory-analyzed-1">
            <a:extLst xmlns:a="http://schemas.openxmlformats.org/drawingml/2006/main">
              <a:ext uri="{FF2B5EF4-FFF2-40B4-BE49-F238E27FC236}">
                <a16:creationId xmlns:a16="http://schemas.microsoft.com/office/drawing/2014/main" id="{9A18F456-EA6B-4AD2-AC84-600A9911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10,466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62E2AE08-6B99-495B-834C-793A6F7B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nventory-store-2">
            <a:extLst xmlns:a="http://schemas.openxmlformats.org/drawingml/2006/main">
              <a:ext uri="{FF2B5EF4-FFF2-40B4-BE49-F238E27FC236}">
                <a16:creationId xmlns:a16="http://schemas.microsoft.com/office/drawing/2014/main" id="{5452679C-C766-4092-BD62-2623C455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</a:t>
            </a:r>
          </a:p>
        </p:txBody>
      </p:sp>
      <p:sp>
        <p:nvSpPr>
          <p:cNvPr id="30" name="inventory-products-2">
            <a:extLst xmlns:a="http://schemas.openxmlformats.org/drawingml/2006/main">
              <a:ext uri="{FF2B5EF4-FFF2-40B4-BE49-F238E27FC236}">
                <a16:creationId xmlns:a16="http://schemas.microsoft.com/office/drawing/2014/main" id="{98577F30-6BAC-40E2-B0BC-96655528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17,008</a:t>
            </a:r>
          </a:p>
        </p:txBody>
      </p:sp>
      <p:sp>
        <p:nvSpPr>
          <p:cNvPr id="31" name="inventory-images-2">
            <a:extLst xmlns:a="http://schemas.openxmlformats.org/drawingml/2006/main">
              <a:ext uri="{FF2B5EF4-FFF2-40B4-BE49-F238E27FC236}">
                <a16:creationId xmlns:a16="http://schemas.microsoft.com/office/drawing/2014/main" id="{8BC53ACD-15C1-4127-93D0-7379EA1C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119,205</a:t>
            </a:r>
          </a:p>
        </p:txBody>
      </p:sp>
      <p:sp>
        <p:nvSpPr>
          <p:cNvPr id="32" name="inventory-analyzed-2">
            <a:extLst xmlns:a="http://schemas.openxmlformats.org/drawingml/2006/main">
              <a:ext uri="{FF2B5EF4-FFF2-40B4-BE49-F238E27FC236}">
                <a16:creationId xmlns:a16="http://schemas.microsoft.com/office/drawing/2014/main" id="{20E82ED5-8A56-4643-AA44-58365DCE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5,613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7D1E811C-3850-4E8B-9B9C-6D1B1F96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ventory-row-bg-3">
            <a:extLst xmlns:a="http://schemas.openxmlformats.org/drawingml/2006/main">
              <a:ext uri="{FF2B5EF4-FFF2-40B4-BE49-F238E27FC236}">
                <a16:creationId xmlns:a16="http://schemas.microsoft.com/office/drawing/2014/main" id="{E2AB14E8-9DAB-47F0-BDDC-1F51923D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nventory-store-3">
            <a:extLst xmlns:a="http://schemas.openxmlformats.org/drawingml/2006/main">
              <a:ext uri="{FF2B5EF4-FFF2-40B4-BE49-F238E27FC236}">
                <a16:creationId xmlns:a16="http://schemas.microsoft.com/office/drawing/2014/main" id="{744E286B-4E40-40CC-A5F3-787DC7FD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Motel Rocks</a:t>
            </a:r>
          </a:p>
        </p:txBody>
      </p:sp>
      <p:sp>
        <p:nvSpPr>
          <p:cNvPr id="36" name="inventory-products-3">
            <a:extLst xmlns:a="http://schemas.openxmlformats.org/drawingml/2006/main">
              <a:ext uri="{FF2B5EF4-FFF2-40B4-BE49-F238E27FC236}">
                <a16:creationId xmlns:a16="http://schemas.microsoft.com/office/drawing/2014/main" id="{8DA58F48-B8ED-468F-9DB7-C74D322D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4,422</a:t>
            </a:r>
          </a:p>
        </p:txBody>
      </p:sp>
      <p:sp>
        <p:nvSpPr>
          <p:cNvPr id="37" name="inventory-images-3">
            <a:extLst xmlns:a="http://schemas.openxmlformats.org/drawingml/2006/main">
              <a:ext uri="{FF2B5EF4-FFF2-40B4-BE49-F238E27FC236}">
                <a16:creationId xmlns:a16="http://schemas.microsoft.com/office/drawing/2014/main" id="{484C2DB5-4750-4DE1-B7D1-C8EFCB77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26,676</a:t>
            </a:r>
          </a:p>
        </p:txBody>
      </p:sp>
      <p:sp>
        <p:nvSpPr>
          <p:cNvPr id="38" name="inventory-analyzed-3">
            <a:extLst xmlns:a="http://schemas.openxmlformats.org/drawingml/2006/main">
              <a:ext uri="{FF2B5EF4-FFF2-40B4-BE49-F238E27FC236}">
                <a16:creationId xmlns:a16="http://schemas.microsoft.com/office/drawing/2014/main" id="{370692F9-00BC-4A0D-B37E-57A0939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2,141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938D34C3-7FA1-43C5-80BC-3226B8AF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ventory-store-4">
            <a:extLst xmlns:a="http://schemas.openxmlformats.org/drawingml/2006/main">
              <a:ext uri="{FF2B5EF4-FFF2-40B4-BE49-F238E27FC236}">
                <a16:creationId xmlns:a16="http://schemas.microsoft.com/office/drawing/2014/main" id="{00A85812-69B4-4206-9749-65237526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41" name="inventory-products-4">
            <a:extLst xmlns:a="http://schemas.openxmlformats.org/drawingml/2006/main">
              <a:ext uri="{FF2B5EF4-FFF2-40B4-BE49-F238E27FC236}">
                <a16:creationId xmlns:a16="http://schemas.microsoft.com/office/drawing/2014/main" id="{FEB22CB5-B418-42AE-AF58-BC97592F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25,495</a:t>
            </a:r>
          </a:p>
        </p:txBody>
      </p:sp>
      <p:sp>
        <p:nvSpPr>
          <p:cNvPr id="42" name="inventory-images-4">
            <a:extLst xmlns:a="http://schemas.openxmlformats.org/drawingml/2006/main">
              <a:ext uri="{FF2B5EF4-FFF2-40B4-BE49-F238E27FC236}">
                <a16:creationId xmlns:a16="http://schemas.microsoft.com/office/drawing/2014/main" id="{508062EE-8FC5-4CB1-A407-502D8F3D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127,827</a:t>
            </a:r>
          </a:p>
        </p:txBody>
      </p:sp>
      <p:sp>
        <p:nvSpPr>
          <p:cNvPr id="43" name="inventory-analyzed-4">
            <a:extLst xmlns:a="http://schemas.openxmlformats.org/drawingml/2006/main">
              <a:ext uri="{FF2B5EF4-FFF2-40B4-BE49-F238E27FC236}">
                <a16:creationId xmlns:a16="http://schemas.microsoft.com/office/drawing/2014/main" id="{0E6A3373-875F-4121-8BBC-964100AB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7,353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2FE8999A-CB0D-45A2-803E-53CAAE7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nventory-total">
            <a:extLst xmlns:a="http://schemas.openxmlformats.org/drawingml/2006/main">
              <a:ext uri="{FF2B5EF4-FFF2-40B4-BE49-F238E27FC236}">
                <a16:creationId xmlns:a16="http://schemas.microsoft.com/office/drawing/2014/main" id="{1F261E71-7AA2-4C3D-8DAB-B7589198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10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inventory-total-label">
            <a:extLst xmlns:a="http://schemas.openxmlformats.org/drawingml/2006/main">
              <a:ext uri="{FF2B5EF4-FFF2-40B4-BE49-F238E27FC236}">
                <a16:creationId xmlns:a16="http://schemas.microsoft.com/office/drawing/2014/main" id="{D56DEAF6-B747-4974-8842-21DAE42E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全站合计</a:t>
            </a:r>
          </a:p>
        </p:txBody>
      </p:sp>
      <p:sp>
        <p:nvSpPr>
          <p:cNvPr id="47" name="inventory-total-products">
            <a:extLst xmlns:a="http://schemas.openxmlformats.org/drawingml/2006/main">
              <a:ext uri="{FF2B5EF4-FFF2-40B4-BE49-F238E27FC236}">
                <a16:creationId xmlns:a16="http://schemas.microsoft.com/office/drawing/2014/main" id="{CB091699-732E-475F-B4C9-674B186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48" name="inventory-total-images">
            <a:extLst xmlns:a="http://schemas.openxmlformats.org/drawingml/2006/main">
              <a:ext uri="{FF2B5EF4-FFF2-40B4-BE49-F238E27FC236}">
                <a16:creationId xmlns:a16="http://schemas.microsoft.com/office/drawing/2014/main" id="{4E4FA691-545A-4E4E-8CFE-52EFD01C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49" name="inventory-total-analyzed">
            <a:extLst xmlns:a="http://schemas.openxmlformats.org/drawingml/2006/main">
              <a:ext uri="{FF2B5EF4-FFF2-40B4-BE49-F238E27FC236}">
                <a16:creationId xmlns:a16="http://schemas.microsoft.com/office/drawing/2014/main" id="{984C64C6-95D0-47DE-B15F-4552E9FB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50" name="inventory-method-note">
            <a:extLst xmlns:a="http://schemas.openxmlformats.org/drawingml/2006/main">
              <a:ext uri="{FF2B5EF4-FFF2-40B4-BE49-F238E27FC236}">
                <a16:creationId xmlns:a16="http://schemas.microsoft.com/office/drawing/2014/main" id="{FCE78DA1-FCD0-4310-9B07-0B68A82E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读法：1个商品若有5张图，就产生5条图片URL索引；Aloruh 1,782张首图已完成15维，竞品仍为12维。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8DE787BE-E28B-4AFE-92F8-F94C22B4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">
            <a:extLst xmlns:a="http://schemas.openxmlformats.org/drawingml/2006/main">
              <a:ext uri="{FF2B5EF4-FFF2-40B4-BE49-F238E27FC236}">
                <a16:creationId xmlns:a16="http://schemas.microsoft.com/office/drawing/2014/main" id="{086849AA-A018-43A8-A72F-8C661D3A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explorer.db live inventory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495213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D10DE75D-0C4B-407C-8C70-3F94710E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SHEIN DEEP DIVE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46FEBA-751E-497D-8674-D3F538BB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Aloruh（SHEIN）的采集核心是可暂停、可恢复的人机协同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C50FD9-65E8-4CBB-BED2-1D9F32CE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Use负责操作真实浏览器；用户本人负责登录与验证码；采集器只导出公开商品卡片和必要详情。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161B4A-4511-4205-B474-7CEF30CD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metric-目录页完成">
            <a:extLst xmlns:a="http://schemas.openxmlformats.org/drawingml/2006/main">
              <a:ext uri="{FF2B5EF4-FFF2-40B4-BE49-F238E27FC236}">
                <a16:creationId xmlns:a16="http://schemas.microsoft.com/office/drawing/2014/main" id="{35237523-8AE9-42F1-9054-AC077B6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6" name="metric-label-目录页完成">
            <a:extLst xmlns:a="http://schemas.openxmlformats.org/drawingml/2006/main">
              <a:ext uri="{FF2B5EF4-FFF2-40B4-BE49-F238E27FC236}">
                <a16:creationId xmlns:a16="http://schemas.microsoft.com/office/drawing/2014/main" id="{FBA6F912-2885-4BC6-AA5C-AA1BF247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目录页完成</a:t>
            </a:r>
          </a:p>
        </p:txBody>
      </p:sp>
      <p:sp>
        <p:nvSpPr>
          <p:cNvPr id="7" name="metric-原始商品卡片">
            <a:extLst xmlns:a="http://schemas.openxmlformats.org/drawingml/2006/main">
              <a:ext uri="{FF2B5EF4-FFF2-40B4-BE49-F238E27FC236}">
                <a16:creationId xmlns:a16="http://schemas.microsoft.com/office/drawing/2014/main" id="{9D565D61-B493-4798-B15C-458955A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3,006</a:t>
            </a:r>
          </a:p>
        </p:txBody>
      </p:sp>
      <p:sp>
        <p:nvSpPr>
          <p:cNvPr id="8" name="metric-label-原始商品卡片">
            <a:extLst xmlns:a="http://schemas.openxmlformats.org/drawingml/2006/main">
              <a:ext uri="{FF2B5EF4-FFF2-40B4-BE49-F238E27FC236}">
                <a16:creationId xmlns:a16="http://schemas.microsoft.com/office/drawing/2014/main" id="{39976243-B838-453C-B2FB-D0B6DE33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原始商品卡片</a:t>
            </a:r>
          </a:p>
        </p:txBody>
      </p:sp>
      <p:sp>
        <p:nvSpPr>
          <p:cNvPr id="9" name="metric-抽样商品详情">
            <a:extLst xmlns:a="http://schemas.openxmlformats.org/drawingml/2006/main">
              <a:ext uri="{FF2B5EF4-FFF2-40B4-BE49-F238E27FC236}">
                <a16:creationId xmlns:a16="http://schemas.microsoft.com/office/drawing/2014/main" id="{69416661-3B17-4D79-9631-162E6CD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metric-label-抽样商品详情">
            <a:extLst xmlns:a="http://schemas.openxmlformats.org/drawingml/2006/main">
              <a:ext uri="{FF2B5EF4-FFF2-40B4-BE49-F238E27FC236}">
                <a16:creationId xmlns:a16="http://schemas.microsoft.com/office/drawing/2014/main" id="{4C56A9C0-AB96-4A4F-887A-A8C19D1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抽样商品详情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E922402-3AA5-4E71-B395-CA926E8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导出文件明确不包含 cookies、tokens、headers、credentials 或风险参数。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2D5C8A7F-F335-4794-A51D-9B418933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EF533922-F200-46BF-B23A-DA13B0F0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6BCFCEFA-011B-47FF-89D7-AE78E36B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82BA6868-1B74-4400-9EB3-6A51CA7C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058D7E6-05C2-408D-BAEB-536BD668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ein-step-0">
            <a:extLst xmlns:a="http://schemas.openxmlformats.org/drawingml/2006/main">
              <a:ext uri="{FF2B5EF4-FFF2-40B4-BE49-F238E27FC236}">
                <a16:creationId xmlns:a16="http://schemas.microsoft.com/office/drawing/2014/main" id="{C6886F36-03DF-45EF-801B-745CA33A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E449CD1-4783-451E-B920-7400FA70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6BA1772-7B29-4A0C-86EC-3577A85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打开真实会话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D59E17-68E2-495D-A2C1-69D5A61B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Use进入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SHEIN SG Aloruh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品牌排序页</a:t>
            </a:r>
          </a:p>
        </p:txBody>
      </p:sp>
      <p:sp>
        <p:nvSpPr>
          <p:cNvPr id="21" name="shein-step-1">
            <a:extLst xmlns:a="http://schemas.openxmlformats.org/drawingml/2006/main">
              <a:ext uri="{FF2B5EF4-FFF2-40B4-BE49-F238E27FC236}">
                <a16:creationId xmlns:a16="http://schemas.microsoft.com/office/drawing/2014/main" id="{2A546ED5-92EA-485D-AA77-1872845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D90A26C-B0F7-4229-AFBA-B009A058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CD0EA68-65EC-4E94-A506-B73005B1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人工过验证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7CE9118-10C0-4CB4-B168-B389AEB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用户本人登录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并处理验证码/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5" name="shein-step-2">
            <a:extLst xmlns:a="http://schemas.openxmlformats.org/drawingml/2006/main">
              <a:ext uri="{FF2B5EF4-FFF2-40B4-BE49-F238E27FC236}">
                <a16:creationId xmlns:a16="http://schemas.microsoft.com/office/drawing/2014/main" id="{42001F54-507C-40CA-9A00-0AF2054B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DF83EE2-298B-47FE-ABE4-A86B5E5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F87B50C-9609-4C01-A5E9-B7802F01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逐页取卡片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25137F9-59E9-40D7-9D1C-0BDED793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page=1…26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提取商品ID、价格、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分类、销量文案、图片URL</a:t>
            </a:r>
          </a:p>
        </p:txBody>
      </p:sp>
      <p:sp>
        <p:nvSpPr>
          <p:cNvPr id="29" name="shein-step-3">
            <a:extLst xmlns:a="http://schemas.openxmlformats.org/drawingml/2006/main">
              <a:ext uri="{FF2B5EF4-FFF2-40B4-BE49-F238E27FC236}">
                <a16:creationId xmlns:a16="http://schemas.microsoft.com/office/drawing/2014/main" id="{276DED06-25CE-44DF-842A-5039FCBC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1CAD443-15F3-4C22-BF08-933263FA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1E9B8E8-C5A4-4A36-B1AB-C85FA5A3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每页写检查点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02EE04B-00A7-4F48-B610-EB3BA352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记录已完成页码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遇风险拦截即停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保留partial文件</a:t>
            </a:r>
          </a:p>
        </p:txBody>
      </p:sp>
      <p:sp>
        <p:nvSpPr>
          <p:cNvPr id="33" name="shein-step-4">
            <a:extLst xmlns:a="http://schemas.openxmlformats.org/drawingml/2006/main">
              <a:ext uri="{FF2B5EF4-FFF2-40B4-BE49-F238E27FC236}">
                <a16:creationId xmlns:a16="http://schemas.microsoft.com/office/drawing/2014/main" id="{A97455B0-F904-441F-8118-F9B92A8A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3C30A33-D21C-4EBD-84A7-5C04A84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5230FE2-A5F3-471F-B9A1-9CF32C80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补必要详情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BED4557-42C4-4008-AB5C-2FD6F879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对150个目标商品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读取尺码、颜色、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更完整图片序列</a:t>
            </a:r>
          </a:p>
        </p:txBody>
      </p:sp>
      <p:sp>
        <p:nvSpPr>
          <p:cNvPr id="37" name="shein-step-5">
            <a:extLst xmlns:a="http://schemas.openxmlformats.org/drawingml/2006/main">
              <a:ext uri="{FF2B5EF4-FFF2-40B4-BE49-F238E27FC236}">
                <a16:creationId xmlns:a16="http://schemas.microsoft.com/office/drawing/2014/main" id="{CF7792B8-FD4D-4CC4-A0EA-444DB6F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6300CADA-ECDF-4A92-9D69-7B9FA032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D5698EC5-9858-4B6C-B638-4A6499AE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导出可审计原始层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5469C9F2-74B0-45AA-BF8D-E7D2E3B0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目录页、商品组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失败记录、采集状态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753A26D3-4219-4EC3-9CD4-A222DBC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144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826C2454-18F9-4E7D-89A4-9C56F809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恢复策略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52C89E80-9657-4EC4-9D1B-F65F1896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风险拦截时不伪装成功：保留最后完成页、失败页和原因；人工解除验证后从检查点继续，再合并新旧卡片。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EA70C683-E37E-4E19-9363-999922C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35ABD119-802A-4777-83A7-BBC1B82D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64617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4156D06E-9959-46E3-B4E6-14F7716C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→ 2 · DATA MOVEMENT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9D2DD2-3611-4D0A-B892-3E62735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快的是URL索引；高清下载与AI推理只在需要时发生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5AD1AD-12AB-4EC2-B74D-AAED3BEF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把“商品元数据、图片URL、图片文件、AI结果”拆成不同层，才能快速更新、精确去重并控制费用。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8E2920-87A4-4042-A427-536506AA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DB3A5DF0-954C-49D0-9659-6DCCE0D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5A597B88-D2C1-46E9-9DB1-39231892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data-lane-0">
            <a:extLst xmlns:a="http://schemas.openxmlformats.org/drawingml/2006/main">
              <a:ext uri="{FF2B5EF4-FFF2-40B4-BE49-F238E27FC236}">
                <a16:creationId xmlns:a16="http://schemas.microsoft.com/office/drawing/2014/main" id="{208A5DFA-0C64-4D78-89F3-2CD500F5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6BD924-3324-4E4E-BF1A-745D1018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 / URL INDEX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6D38B8-B230-4EDF-9F95-DCE6FB19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官方响应已经带 image_urls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1347661-4C77-471A-A928-3D766CD8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EC150F7-128A-42EB-93C9-5153E3A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本地展开为 images_*.jsonl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键：store_id＋product_id＋position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计算 url_sha256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不下载图片文件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因此可以快速形成全量索引</a:t>
            </a:r>
          </a:p>
        </p:txBody>
      </p:sp>
      <p:sp>
        <p:nvSpPr>
          <p:cNvPr id="12" name="data-lane-1">
            <a:extLst xmlns:a="http://schemas.openxmlformats.org/drawingml/2006/main">
              <a:ext uri="{FF2B5EF4-FFF2-40B4-BE49-F238E27FC236}">
                <a16:creationId xmlns:a16="http://schemas.microsoft.com/office/drawing/2014/main" id="{7193E8A8-206C-45D2-9E67-FB2E81C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310E16B-3F1A-4101-8DA9-1AD01ECC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 / NORMALIZED DB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F46A51B-5FC7-4EF0-ACFD-734C6786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去重后进入SQLite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36A49BAA-0591-47D6-847C-5D776AC6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95B70F0-3587-4CA1-88DE-6720580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商品ID去重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店铺内 source_url 唯一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同URL分析一次并复用结果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Aloruh首图写入15维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竞品保留12维可比分布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UI只分页读取需要的行</a:t>
            </a:r>
          </a:p>
        </p:txBody>
      </p:sp>
      <p:sp>
        <p:nvSpPr>
          <p:cNvPr id="17" name="data-lane-2">
            <a:extLst xmlns:a="http://schemas.openxmlformats.org/drawingml/2006/main">
              <a:ext uri="{FF2B5EF4-FFF2-40B4-BE49-F238E27FC236}">
                <a16:creationId xmlns:a16="http://schemas.microsoft.com/office/drawing/2014/main" id="{5CF21DC1-AD45-414C-8437-81CDDEE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E7BC051-462C-432E-A201-85DDCD03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HD + AI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82E2E3D-9E68-493E-9B3A-DF2A29B4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付费分析才取高清字节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5186B0FB-0974-43CF-8A1C-06B1C586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3016BD5-5084-4640-8E8D-D39B803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尝试去缩略图URL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校验公网主机、格式、尺寸和SHA256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整体报告任务共享 _image_cache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缓存损坏或不达高清门槛才重下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随后由Sol读取detail=high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D9D3C0BC-BD6D-4394-B7C3-9242C2D2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F66FD5C-586E-4217-9C0F-9FBA296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关键边界：url_sha256只证明“URL已索引”；content_sha256或缓存SHA256才证明“图片字节已下载并校验”。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98BA2257-DB57-48FA-9ABE-6B2AAB77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EB68E214-8B08-4CDF-9398-81706A83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44736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399D6E40-6327-44E2-B260-AF16527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NORMALIZATION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6E07CE-0597-44D7-ABD9-019F31AD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标准化数据层：Aloruh 1,782张首图已完成15维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81F838-99B1-44FD-83E8-76BC1065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每张图片保留 store_id / product_id / position / source_url；三家竞品继续用既有12维标签作为可比分布。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D96057-677E-4168-9097-10752E74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9B0A5F93-B5FC-4245-8C02-8949E24B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CED024CE-6D04-4CF6-ACF1-0A3BECD4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AD427FD6-9847-4D6D-9CC4-000477CE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F5183E72-16EB-4428-9476-85787BF7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1AE2B32-33FE-4B9D-987B-37FC6D74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8EE9CF-C2BF-44E0-8893-8B8A788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原始来源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23E9CBBC-FB7F-49FE-A685-46C2894D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B03FF3-2B3F-46A4-8EED-25DCDF38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商品JSONL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492C8D3-AD81-4A9E-8C05-C2DF815E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A511C31-7031-4722-A66B-6C928393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图片JSONL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76B4E9E-F198-482F-AB9D-E837C726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EC5DFE-8152-44CA-9068-7A70F789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URL/内容去重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8C8AE0C2-64E9-4EC3-9006-64DD4ABB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61A473-A64B-45CB-8DE6-E83C33A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SQLite索引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8122328-907E-4AC5-B07C-FF1B0882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 DIMENSIONS / FASHION-IMAGE-V2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1BE38993-6955-416A-ABC9-C9D880B0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1882F5B-3B0E-4179-A793-DC3F60A2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商品属性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5264E31-7098-45EF-8A47-EEC2CD18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01 商品类别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 廓形与版型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 设计元素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 穿着场合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 材质纹理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 色彩图案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B96741FA-74A6-42C3-A729-FD04014D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6986E41-A537-416F-94C7-BFBB502B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镜头与呈现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3D4EF54-748C-485B-8FBB-D12E538A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 构图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 视角动作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 卖点部位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 拍摄场景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13 光线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14 模特状态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6970985B-511F-4A8C-836B-578EC6F0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4C128F3-75CB-4790-BB8D-D3CC0BD7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风格与版面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4BEB1FD-C127-43B0-B7F4-9C1B37FA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11 视觉语言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 搭配方式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 图文叠加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919B225C-3118-46DB-8F8C-1BDEF97B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87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C0E1ABD-7389-408C-A150-79E28667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Aloruh：1,782张首图 × 15维完整，0个缺失 · 竞品：15,107张图片保留12维可比分布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FC361A80-C083-47B2-96B5-1D6C1D17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9FA24211-D623-4E79-A028-05BF08AC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49467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7D5E1F65-D05B-4F96-AD2C-BDCE8E1A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1/2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BC2081-17E0-4FFD-BD8C-FCF8502B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15维不是抽象概念：前8维把商品与镜头变成可组合条件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B2C4B3-4B7F-4E04-9F30-7A0B9DE5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15维已用于Aloruh 1,782张首图；每个例子都来自fashion-image-v2受控字典，UI显示中文，数据库保存英文代码。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B7F25C-3E4D-4FE6-86CB-6313CC1C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mension-index-01">
            <a:extLst xmlns:a="http://schemas.openxmlformats.org/drawingml/2006/main">
              <a:ext uri="{FF2B5EF4-FFF2-40B4-BE49-F238E27FC236}">
                <a16:creationId xmlns:a16="http://schemas.microsoft.com/office/drawing/2014/main" id="{8E5D4EE0-A74E-44CE-AFDF-9ACD140E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mension-title-01">
            <a:extLst xmlns:a="http://schemas.openxmlformats.org/drawingml/2006/main">
              <a:ext uri="{FF2B5EF4-FFF2-40B4-BE49-F238E27FC236}">
                <a16:creationId xmlns:a16="http://schemas.microsoft.com/office/drawing/2014/main" id="{6C619D97-0E96-4DA9-A66A-276BE415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 / product_category</a:t>
            </a:r>
          </a:p>
        </p:txBody>
      </p:sp>
      <p:sp>
        <p:nvSpPr>
          <p:cNvPr id="7" name="dimension-tags-01">
            <a:extLst xmlns:a="http://schemas.openxmlformats.org/drawingml/2006/main">
              <a:ext uri="{FF2B5EF4-FFF2-40B4-BE49-F238E27FC236}">
                <a16:creationId xmlns:a16="http://schemas.microsoft.com/office/drawing/2014/main" id="{E555869E-FBD6-4B1A-903F-D4C2DE1B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上衣 · 半身裙 · 连衣裙 · 套装</a:t>
            </a:r>
          </a:p>
        </p:txBody>
      </p:sp>
      <p:sp>
        <p:nvSpPr>
          <p:cNvPr id="8" name="dimension-note-01">
            <a:extLst xmlns:a="http://schemas.openxmlformats.org/drawingml/2006/main">
              <a:ext uri="{FF2B5EF4-FFF2-40B4-BE49-F238E27FC236}">
                <a16:creationId xmlns:a16="http://schemas.microsoft.com/office/drawing/2014/main" id="{941559FA-B0EA-4A74-94E5-01AB667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先回答主售商品是什么；这是唯一必须单值的维度。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C6D7009F-7B10-4DDD-AE3B-ADA62522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02">
            <a:extLst xmlns:a="http://schemas.openxmlformats.org/drawingml/2006/main">
              <a:ext uri="{FF2B5EF4-FFF2-40B4-BE49-F238E27FC236}">
                <a16:creationId xmlns:a16="http://schemas.microsoft.com/office/drawing/2014/main" id="{4146FF88-4FCC-4A01-870C-91D73B92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mension-title-02">
            <a:extLst xmlns:a="http://schemas.openxmlformats.org/drawingml/2006/main">
              <a:ext uri="{FF2B5EF4-FFF2-40B4-BE49-F238E27FC236}">
                <a16:creationId xmlns:a16="http://schemas.microsoft.com/office/drawing/2014/main" id="{90A15925-3D19-43E2-BDE3-3A550361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廓形版型 / silhouette_fit</a:t>
            </a:r>
          </a:p>
        </p:txBody>
      </p:sp>
      <p:sp>
        <p:nvSpPr>
          <p:cNvPr id="12" name="dimension-tags-02">
            <a:extLst xmlns:a="http://schemas.openxmlformats.org/drawingml/2006/main">
              <a:ext uri="{FF2B5EF4-FFF2-40B4-BE49-F238E27FC236}">
                <a16:creationId xmlns:a16="http://schemas.microsoft.com/office/drawing/2014/main" id="{2E4BFBA9-E1E6-43A8-B461-566CC0C0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修身包体 · 宽松 · A字廓形 · 紧身胸衣式</a:t>
            </a:r>
          </a:p>
        </p:txBody>
      </p:sp>
      <p:sp>
        <p:nvSpPr>
          <p:cNvPr id="13" name="dimension-note-02">
            <a:extLst xmlns:a="http://schemas.openxmlformats.org/drawingml/2006/main">
              <a:ext uri="{FF2B5EF4-FFF2-40B4-BE49-F238E27FC236}">
                <a16:creationId xmlns:a16="http://schemas.microsoft.com/office/drawing/2014/main" id="{495DE0F5-187A-4D1A-9690-104CE522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用于比较贴体、宽松、A字与结构塑形的展示差异。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240B61E5-6810-4FA0-995D-14482697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03">
            <a:extLst xmlns:a="http://schemas.openxmlformats.org/drawingml/2006/main">
              <a:ext uri="{FF2B5EF4-FFF2-40B4-BE49-F238E27FC236}">
                <a16:creationId xmlns:a16="http://schemas.microsoft.com/office/drawing/2014/main" id="{C6FD860F-24E3-4B4B-9EE2-82797B8A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mension-title-03">
            <a:extLst xmlns:a="http://schemas.openxmlformats.org/drawingml/2006/main">
              <a:ext uri="{FF2B5EF4-FFF2-40B4-BE49-F238E27FC236}">
                <a16:creationId xmlns:a16="http://schemas.microsoft.com/office/drawing/2014/main" id="{B542F6BB-64AF-4A25-9865-AE15E03A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设计元素 / design_elements</a:t>
            </a:r>
          </a:p>
        </p:txBody>
      </p:sp>
      <p:sp>
        <p:nvSpPr>
          <p:cNvPr id="17" name="dimension-tags-03">
            <a:extLst xmlns:a="http://schemas.openxmlformats.org/drawingml/2006/main">
              <a:ext uri="{FF2B5EF4-FFF2-40B4-BE49-F238E27FC236}">
                <a16:creationId xmlns:a16="http://schemas.microsoft.com/office/drawing/2014/main" id="{E1D0EEE3-37B0-4661-9573-EA176BFE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露背 · 镂空 · 褶皱 · 压褶</a:t>
            </a:r>
          </a:p>
        </p:txBody>
      </p:sp>
      <p:sp>
        <p:nvSpPr>
          <p:cNvPr id="18" name="dimension-note-03">
            <a:extLst xmlns:a="http://schemas.openxmlformats.org/drawingml/2006/main">
              <a:ext uri="{FF2B5EF4-FFF2-40B4-BE49-F238E27FC236}">
                <a16:creationId xmlns:a16="http://schemas.microsoft.com/office/drawing/2014/main" id="{3326D117-8528-4E00-82AD-63ECA13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把露背、挖空、褶皱、压褶等具体结构显式化。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535E79FC-D7AC-4348-B33B-06C66A9B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04">
            <a:extLst xmlns:a="http://schemas.openxmlformats.org/drawingml/2006/main">
              <a:ext uri="{FF2B5EF4-FFF2-40B4-BE49-F238E27FC236}">
                <a16:creationId xmlns:a16="http://schemas.microsoft.com/office/drawing/2014/main" id="{FBF90379-9D47-4BFB-898A-71856AD4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mension-title-04">
            <a:extLst xmlns:a="http://schemas.openxmlformats.org/drawingml/2006/main">
              <a:ext uri="{FF2B5EF4-FFF2-40B4-BE49-F238E27FC236}">
                <a16:creationId xmlns:a16="http://schemas.microsoft.com/office/drawing/2014/main" id="{A73D9DDB-B8B6-4F41-BE6C-FA40D75E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穿着场合 / occasion</a:t>
            </a:r>
          </a:p>
        </p:txBody>
      </p:sp>
      <p:sp>
        <p:nvSpPr>
          <p:cNvPr id="22" name="dimension-tags-04">
            <a:extLst xmlns:a="http://schemas.openxmlformats.org/drawingml/2006/main">
              <a:ext uri="{FF2B5EF4-FFF2-40B4-BE49-F238E27FC236}">
                <a16:creationId xmlns:a16="http://schemas.microsoft.com/office/drawing/2014/main" id="{1853D6FD-C6A3-46FD-B7CD-9159FE06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日常 · 外出聚会 · 度假 · 婚礼宾客</a:t>
            </a:r>
          </a:p>
        </p:txBody>
      </p:sp>
      <p:sp>
        <p:nvSpPr>
          <p:cNvPr id="23" name="dimension-note-04">
            <a:extLst xmlns:a="http://schemas.openxmlformats.org/drawingml/2006/main">
              <a:ext uri="{FF2B5EF4-FFF2-40B4-BE49-F238E27FC236}">
                <a16:creationId xmlns:a16="http://schemas.microsoft.com/office/drawing/2014/main" id="{105F202E-206C-46EA-B40E-146A67A0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描述服装适用语境，不等于照片实际拍摄地点。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5E178065-A1B6-4D30-88F8-844E637C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05">
            <a:extLst xmlns:a="http://schemas.openxmlformats.org/drawingml/2006/main">
              <a:ext uri="{FF2B5EF4-FFF2-40B4-BE49-F238E27FC236}">
                <a16:creationId xmlns:a16="http://schemas.microsoft.com/office/drawing/2014/main" id="{361ECB1F-0C3F-494F-99BF-514D1348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mension-title-05">
            <a:extLst xmlns:a="http://schemas.openxmlformats.org/drawingml/2006/main">
              <a:ext uri="{FF2B5EF4-FFF2-40B4-BE49-F238E27FC236}">
                <a16:creationId xmlns:a16="http://schemas.microsoft.com/office/drawing/2014/main" id="{E541624A-33A7-4D3C-9719-462BD920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画面构图 / composition</a:t>
            </a:r>
          </a:p>
        </p:txBody>
      </p:sp>
      <p:sp>
        <p:nvSpPr>
          <p:cNvPr id="27" name="dimension-tags-05">
            <a:extLst xmlns:a="http://schemas.openxmlformats.org/drawingml/2006/main">
              <a:ext uri="{FF2B5EF4-FFF2-40B4-BE49-F238E27FC236}">
                <a16:creationId xmlns:a16="http://schemas.microsoft.com/office/drawing/2014/main" id="{AFCA27C6-DE26-4C91-BB01-3624D2BB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全身 · 近景 · 细节特写 · 纯商品图</a:t>
            </a:r>
          </a:p>
        </p:txBody>
      </p:sp>
      <p:sp>
        <p:nvSpPr>
          <p:cNvPr id="28" name="dimension-note-05">
            <a:extLst xmlns:a="http://schemas.openxmlformats.org/drawingml/2006/main">
              <a:ext uri="{FF2B5EF4-FFF2-40B4-BE49-F238E27FC236}">
                <a16:creationId xmlns:a16="http://schemas.microsoft.com/office/drawing/2014/main" id="{952CCE6E-0DA0-467A-8CA9-163B2965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区分全身、近景、细节与无模特商品图。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1F72A379-5385-4F3E-AF45-61BE454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06">
            <a:extLst xmlns:a="http://schemas.openxmlformats.org/drawingml/2006/main">
              <a:ext uri="{FF2B5EF4-FFF2-40B4-BE49-F238E27FC236}">
                <a16:creationId xmlns:a16="http://schemas.microsoft.com/office/drawing/2014/main" id="{B64D6ECE-9F4A-47C3-B9F3-0B92A56C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dimension-title-06">
            <a:extLst xmlns:a="http://schemas.openxmlformats.org/drawingml/2006/main">
              <a:ext uri="{FF2B5EF4-FFF2-40B4-BE49-F238E27FC236}">
                <a16:creationId xmlns:a16="http://schemas.microsoft.com/office/drawing/2014/main" id="{0F043827-4384-43FE-833F-08EB9303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视角动作 / view_action</a:t>
            </a:r>
          </a:p>
        </p:txBody>
      </p:sp>
      <p:sp>
        <p:nvSpPr>
          <p:cNvPr id="32" name="dimension-tags-06">
            <a:extLst xmlns:a="http://schemas.openxmlformats.org/drawingml/2006/main">
              <a:ext uri="{FF2B5EF4-FFF2-40B4-BE49-F238E27FC236}">
                <a16:creationId xmlns:a16="http://schemas.microsoft.com/office/drawing/2014/main" id="{AEF02BB3-C922-4171-86FA-D78E6DCA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正面 · 背面 · 行走 · 镜面自拍</a:t>
            </a:r>
          </a:p>
        </p:txBody>
      </p:sp>
      <p:sp>
        <p:nvSpPr>
          <p:cNvPr id="33" name="dimension-note-06">
            <a:extLst xmlns:a="http://schemas.openxmlformats.org/drawingml/2006/main">
              <a:ext uri="{FF2B5EF4-FFF2-40B4-BE49-F238E27FC236}">
                <a16:creationId xmlns:a16="http://schemas.microsoft.com/office/drawing/2014/main" id="{283800AE-4243-412E-AECC-95E32F4A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把正面、背面、行走与自拍等观看方式固定下来。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42F30F35-136A-486C-98CF-931EAB44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07">
            <a:extLst xmlns:a="http://schemas.openxmlformats.org/drawingml/2006/main">
              <a:ext uri="{FF2B5EF4-FFF2-40B4-BE49-F238E27FC236}">
                <a16:creationId xmlns:a16="http://schemas.microsoft.com/office/drawing/2014/main" id="{98543621-0AD5-4E70-913C-29C0E80F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dimension-title-07">
            <a:extLst xmlns:a="http://schemas.openxmlformats.org/drawingml/2006/main">
              <a:ext uri="{FF2B5EF4-FFF2-40B4-BE49-F238E27FC236}">
                <a16:creationId xmlns:a16="http://schemas.microsoft.com/office/drawing/2014/main" id="{EA904365-8BE9-4C70-88CA-F616AA0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卖点部位 / selling_points</a:t>
            </a:r>
          </a:p>
        </p:txBody>
      </p:sp>
      <p:sp>
        <p:nvSpPr>
          <p:cNvPr id="37" name="dimension-tags-07">
            <a:extLst xmlns:a="http://schemas.openxmlformats.org/drawingml/2006/main">
              <a:ext uri="{FF2B5EF4-FFF2-40B4-BE49-F238E27FC236}">
                <a16:creationId xmlns:a16="http://schemas.microsoft.com/office/drawing/2014/main" id="{CD428DF8-D9A1-4ED7-A1D1-A784DCD9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领口 · 腰胯 · 面料纹理 · 整体造型</a:t>
            </a:r>
          </a:p>
        </p:txBody>
      </p:sp>
      <p:sp>
        <p:nvSpPr>
          <p:cNvPr id="38" name="dimension-note-07">
            <a:extLst xmlns:a="http://schemas.openxmlformats.org/drawingml/2006/main">
              <a:ext uri="{FF2B5EF4-FFF2-40B4-BE49-F238E27FC236}">
                <a16:creationId xmlns:a16="http://schemas.microsoft.com/office/drawing/2014/main" id="{53677521-9FA3-4727-A91D-77D6D5E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记录镜头主要在解释领口、腰胯、面料还是整套造型。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CEE8CD7E-11F0-48A1-84B7-A7A058CE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mension-index-08">
            <a:extLst xmlns:a="http://schemas.openxmlformats.org/drawingml/2006/main">
              <a:ext uri="{FF2B5EF4-FFF2-40B4-BE49-F238E27FC236}">
                <a16:creationId xmlns:a16="http://schemas.microsoft.com/office/drawing/2014/main" id="{32E05855-B99E-47D7-A07D-671BB5E6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dimension-title-08">
            <a:extLst xmlns:a="http://schemas.openxmlformats.org/drawingml/2006/main">
              <a:ext uri="{FF2B5EF4-FFF2-40B4-BE49-F238E27FC236}">
                <a16:creationId xmlns:a16="http://schemas.microsoft.com/office/drawing/2014/main" id="{E933B571-7633-4135-98DB-463A513E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拍摄场景 / scene</a:t>
            </a:r>
          </a:p>
        </p:txBody>
      </p:sp>
      <p:sp>
        <p:nvSpPr>
          <p:cNvPr id="42" name="dimension-tags-08">
            <a:extLst xmlns:a="http://schemas.openxmlformats.org/drawingml/2006/main">
              <a:ext uri="{FF2B5EF4-FFF2-40B4-BE49-F238E27FC236}">
                <a16:creationId xmlns:a16="http://schemas.microsoft.com/office/drawing/2014/main" id="{5005C00D-87D4-4251-A045-D2451E4B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中性棚拍 · 街道 · 海滩 · 建筑空间</a:t>
            </a:r>
          </a:p>
        </p:txBody>
      </p:sp>
      <p:sp>
        <p:nvSpPr>
          <p:cNvPr id="43" name="dimension-note-08">
            <a:extLst xmlns:a="http://schemas.openxmlformats.org/drawingml/2006/main">
              <a:ext uri="{FF2B5EF4-FFF2-40B4-BE49-F238E27FC236}">
                <a16:creationId xmlns:a16="http://schemas.microsoft.com/office/drawing/2014/main" id="{197B8058-DF47-4902-8EF3-28C83D12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描述图片真实背景：棚拍、街道、海滩或建筑空间。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A4A2C41C-3622-46FD-9B18-4DDBEE44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2FDFEB7F-D9AB-4CAC-9E73-02764A80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5EF86043-4E20-4281-8849-1DDDEEB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0271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3EE46FC8-470F-4A2F-B65F-2D1CF9E0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2/2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38D10F-A90E-406B-987B-1DE851EB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后7维补足材质、视觉语言与版面信号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EA2F44-B89D-405A-BB45-E9FDC112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Aloruh的09–15维均已完成；光线、模特状态和图文叠加让报告可覆盖白皮书中的拍摄与可见模特要求。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55B86F-FC6D-4987-B4FA-E0393E98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imension-index-09">
            <a:extLst xmlns:a="http://schemas.openxmlformats.org/drawingml/2006/main">
              <a:ext uri="{FF2B5EF4-FFF2-40B4-BE49-F238E27FC236}">
                <a16:creationId xmlns:a16="http://schemas.microsoft.com/office/drawing/2014/main" id="{E4976260-9E1A-48A1-A866-0D741CF8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imension-title-09">
            <a:extLst xmlns:a="http://schemas.openxmlformats.org/drawingml/2006/main">
              <a:ext uri="{FF2B5EF4-FFF2-40B4-BE49-F238E27FC236}">
                <a16:creationId xmlns:a16="http://schemas.microsoft.com/office/drawing/2014/main" id="{269504E7-752F-49BE-8A98-62DF560B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材质纹理 / material_texture</a:t>
            </a:r>
          </a:p>
        </p:txBody>
      </p:sp>
      <p:sp>
        <p:nvSpPr>
          <p:cNvPr id="7" name="dimension-tags-09">
            <a:extLst xmlns:a="http://schemas.openxmlformats.org/drawingml/2006/main">
              <a:ext uri="{FF2B5EF4-FFF2-40B4-BE49-F238E27FC236}">
                <a16:creationId xmlns:a16="http://schemas.microsoft.com/office/drawing/2014/main" id="{EDD77768-2575-4E73-A367-7D0A1352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针织 · 蕾丝 · 缎面感 · 牛仔</a:t>
            </a:r>
          </a:p>
        </p:txBody>
      </p:sp>
      <p:sp>
        <p:nvSpPr>
          <p:cNvPr id="8" name="dimension-note-09">
            <a:extLst xmlns:a="http://schemas.openxmlformats.org/drawingml/2006/main">
              <a:ext uri="{FF2B5EF4-FFF2-40B4-BE49-F238E27FC236}">
                <a16:creationId xmlns:a16="http://schemas.microsoft.com/office/drawing/2014/main" id="{FCA80DF0-7F58-40A2-A08B-34216616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只标记肉眼可见或标题明确支持的纹理，不猜测纤维成分。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8A2763D-70F2-4666-A419-77C8A9AF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10">
            <a:extLst xmlns:a="http://schemas.openxmlformats.org/drawingml/2006/main">
              <a:ext uri="{FF2B5EF4-FFF2-40B4-BE49-F238E27FC236}">
                <a16:creationId xmlns:a16="http://schemas.microsoft.com/office/drawing/2014/main" id="{828D3A9F-2FE9-49E4-AA0D-1B285ADE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dimension-title-10">
            <a:extLst xmlns:a="http://schemas.openxmlformats.org/drawingml/2006/main">
              <a:ext uri="{FF2B5EF4-FFF2-40B4-BE49-F238E27FC236}">
                <a16:creationId xmlns:a16="http://schemas.microsoft.com/office/drawing/2014/main" id="{F94430C7-D788-4E86-8DF2-66D039B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色彩图案 / color_pattern</a:t>
            </a:r>
          </a:p>
        </p:txBody>
      </p:sp>
      <p:sp>
        <p:nvSpPr>
          <p:cNvPr id="12" name="dimension-tags-10">
            <a:extLst xmlns:a="http://schemas.openxmlformats.org/drawingml/2006/main">
              <a:ext uri="{FF2B5EF4-FFF2-40B4-BE49-F238E27FC236}">
                <a16:creationId xmlns:a16="http://schemas.microsoft.com/office/drawing/2014/main" id="{24356DAF-3BCD-49DB-A565-E0D44A61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黑色 · 红色 · 花卉图案 · 纯色</a:t>
            </a:r>
          </a:p>
        </p:txBody>
      </p:sp>
      <p:sp>
        <p:nvSpPr>
          <p:cNvPr id="13" name="dimension-note-10">
            <a:extLst xmlns:a="http://schemas.openxmlformats.org/drawingml/2006/main">
              <a:ext uri="{FF2B5EF4-FFF2-40B4-BE49-F238E27FC236}">
                <a16:creationId xmlns:a16="http://schemas.microsoft.com/office/drawing/2014/main" id="{B6806F25-DEFF-45A8-A061-63290B6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颜色与图案可以并存，例如红色＋纯色。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0BBF1A2-48AF-4935-9FBD-2BC91D75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11">
            <a:extLst xmlns:a="http://schemas.openxmlformats.org/drawingml/2006/main">
              <a:ext uri="{FF2B5EF4-FFF2-40B4-BE49-F238E27FC236}">
                <a16:creationId xmlns:a16="http://schemas.microsoft.com/office/drawing/2014/main" id="{DC35E88C-FF5F-48B1-A6B7-0EE1214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dimension-title-11">
            <a:extLst xmlns:a="http://schemas.openxmlformats.org/drawingml/2006/main">
              <a:ext uri="{FF2B5EF4-FFF2-40B4-BE49-F238E27FC236}">
                <a16:creationId xmlns:a16="http://schemas.microsoft.com/office/drawing/2014/main" id="{F94A4AFD-13C1-4819-8010-FA706298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视觉语言 / visual_language</a:t>
            </a:r>
          </a:p>
        </p:txBody>
      </p:sp>
      <p:sp>
        <p:nvSpPr>
          <p:cNvPr id="17" name="dimension-tags-11">
            <a:extLst xmlns:a="http://schemas.openxmlformats.org/drawingml/2006/main">
              <a:ext uri="{FF2B5EF4-FFF2-40B4-BE49-F238E27FC236}">
                <a16:creationId xmlns:a16="http://schemas.microsoft.com/office/drawing/2014/main" id="{AA4543EA-A5E9-4212-994D-FA94E939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干净电商风 · 编辑大片感 · 社交UGC · 直接闪光</a:t>
            </a:r>
          </a:p>
        </p:txBody>
      </p:sp>
      <p:sp>
        <p:nvSpPr>
          <p:cNvPr id="18" name="dimension-note-11">
            <a:extLst xmlns:a="http://schemas.openxmlformats.org/drawingml/2006/main">
              <a:ext uri="{FF2B5EF4-FFF2-40B4-BE49-F238E27FC236}">
                <a16:creationId xmlns:a16="http://schemas.microsoft.com/office/drawing/2014/main" id="{7D5BA040-B078-467B-8843-8372BD7C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描述商业棚拍、编辑感、社交UGC或直接闪光等表达。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507922E7-19DD-4BF2-AB4A-97BDB1B2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12">
            <a:extLst xmlns:a="http://schemas.openxmlformats.org/drawingml/2006/main">
              <a:ext uri="{FF2B5EF4-FFF2-40B4-BE49-F238E27FC236}">
                <a16:creationId xmlns:a16="http://schemas.microsoft.com/office/drawing/2014/main" id="{38633B14-982B-4027-B348-ADAB4FEC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dimension-title-12">
            <a:extLst xmlns:a="http://schemas.openxmlformats.org/drawingml/2006/main">
              <a:ext uri="{FF2B5EF4-FFF2-40B4-BE49-F238E27FC236}">
                <a16:creationId xmlns:a16="http://schemas.microsoft.com/office/drawing/2014/main" id="{17019860-9182-4C5E-A3E3-31D702C1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搭配方式 / styling</a:t>
            </a:r>
          </a:p>
        </p:txBody>
      </p:sp>
      <p:sp>
        <p:nvSpPr>
          <p:cNvPr id="22" name="dimension-tags-12">
            <a:extLst xmlns:a="http://schemas.openxmlformats.org/drawingml/2006/main">
              <a:ext uri="{FF2B5EF4-FFF2-40B4-BE49-F238E27FC236}">
                <a16:creationId xmlns:a16="http://schemas.microsoft.com/office/drawing/2014/main" id="{F3C99D41-E5DF-4540-95C4-796F2111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单品展示 · 完整造型 · 叠穿 · 手袋</a:t>
            </a:r>
          </a:p>
        </p:txBody>
      </p:sp>
      <p:sp>
        <p:nvSpPr>
          <p:cNvPr id="23" name="dimension-note-12">
            <a:extLst xmlns:a="http://schemas.openxmlformats.org/drawingml/2006/main">
              <a:ext uri="{FF2B5EF4-FFF2-40B4-BE49-F238E27FC236}">
                <a16:creationId xmlns:a16="http://schemas.microsoft.com/office/drawing/2014/main" id="{04A52AC1-2D8B-4E44-A674-164D202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记录单品、整套、叠穿以及可见配饰如何参与画面。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5977C129-BCFF-4292-9C17-E3ADADDF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13">
            <a:extLst xmlns:a="http://schemas.openxmlformats.org/drawingml/2006/main">
              <a:ext uri="{FF2B5EF4-FFF2-40B4-BE49-F238E27FC236}">
                <a16:creationId xmlns:a16="http://schemas.microsoft.com/office/drawing/2014/main" id="{46703574-19EE-4687-81F1-D5DB3AD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dimension-title-13">
            <a:extLst xmlns:a="http://schemas.openxmlformats.org/drawingml/2006/main">
              <a:ext uri="{FF2B5EF4-FFF2-40B4-BE49-F238E27FC236}">
                <a16:creationId xmlns:a16="http://schemas.microsoft.com/office/drawing/2014/main" id="{1E430145-D315-4245-B845-5E5A8709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光线 / lighting</a:t>
            </a:r>
          </a:p>
        </p:txBody>
      </p:sp>
      <p:sp>
        <p:nvSpPr>
          <p:cNvPr id="27" name="dimension-tags-13">
            <a:extLst xmlns:a="http://schemas.openxmlformats.org/drawingml/2006/main">
              <a:ext uri="{FF2B5EF4-FFF2-40B4-BE49-F238E27FC236}">
                <a16:creationId xmlns:a16="http://schemas.microsoft.com/office/drawing/2014/main" id="{CAAA8FBD-5AA3-4179-A932-3EFCC19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柔和漫射光 · 自然日光 · 直接闪光 · 低调暗光</a:t>
            </a:r>
          </a:p>
        </p:txBody>
      </p:sp>
      <p:sp>
        <p:nvSpPr>
          <p:cNvPr id="28" name="dimension-note-13">
            <a:extLst xmlns:a="http://schemas.openxmlformats.org/drawingml/2006/main">
              <a:ext uri="{FF2B5EF4-FFF2-40B4-BE49-F238E27FC236}">
                <a16:creationId xmlns:a16="http://schemas.microsoft.com/office/drawing/2014/main" id="{E214CB52-427D-4608-9AAA-9B98C7A3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把柔光、自然光、直闪和低调照明拆成独立可筛选信号。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75A51F75-5F9A-40CF-9384-32DE6FA1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14">
            <a:extLst xmlns:a="http://schemas.openxmlformats.org/drawingml/2006/main">
              <a:ext uri="{FF2B5EF4-FFF2-40B4-BE49-F238E27FC236}">
                <a16:creationId xmlns:a16="http://schemas.microsoft.com/office/drawing/2014/main" id="{F5040430-3A3F-4202-9DF4-5DC0214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1" name="dimension-title-14">
            <a:extLst xmlns:a="http://schemas.openxmlformats.org/drawingml/2006/main">
              <a:ext uri="{FF2B5EF4-FFF2-40B4-BE49-F238E27FC236}">
                <a16:creationId xmlns:a16="http://schemas.microsoft.com/office/drawing/2014/main" id="{45D9840C-A29B-4F5A-90E3-A5033D5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模特状态 / model_state</a:t>
            </a:r>
          </a:p>
        </p:txBody>
      </p:sp>
      <p:sp>
        <p:nvSpPr>
          <p:cNvPr id="32" name="dimension-tags-14">
            <a:extLst xmlns:a="http://schemas.openxmlformats.org/drawingml/2006/main">
              <a:ext uri="{FF2B5EF4-FFF2-40B4-BE49-F238E27FC236}">
                <a16:creationId xmlns:a16="http://schemas.microsoft.com/office/drawing/2014/main" id="{4B9AB570-7F11-4DCB-B131-A0567C8D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无模特 · 站立姿势 · 视线偏离镜头 · 面部裁切</a:t>
            </a:r>
          </a:p>
        </p:txBody>
      </p:sp>
      <p:sp>
        <p:nvSpPr>
          <p:cNvPr id="33" name="dimension-note-14">
            <a:extLst xmlns:a="http://schemas.openxmlformats.org/drawingml/2006/main">
              <a:ext uri="{FF2B5EF4-FFF2-40B4-BE49-F238E27FC236}">
                <a16:creationId xmlns:a16="http://schemas.microsoft.com/office/drawing/2014/main" id="{C54C503B-94EC-4954-989C-AF9BCCFA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只记录姿态与可见状态，不推断身份、健康或吸引力。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AF3D8AC7-4119-4FD2-A885-C0F3A3FF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15">
            <a:extLst xmlns:a="http://schemas.openxmlformats.org/drawingml/2006/main">
              <a:ext uri="{FF2B5EF4-FFF2-40B4-BE49-F238E27FC236}">
                <a16:creationId xmlns:a16="http://schemas.microsoft.com/office/drawing/2014/main" id="{AA0CE0D1-6DAA-442D-9A3F-89C51B55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dimension-title-15">
            <a:extLst xmlns:a="http://schemas.openxmlformats.org/drawingml/2006/main">
              <a:ext uri="{FF2B5EF4-FFF2-40B4-BE49-F238E27FC236}">
                <a16:creationId xmlns:a16="http://schemas.microsoft.com/office/drawing/2014/main" id="{F33D1E11-AD29-4BE4-94E2-651ECD3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图文叠加 / graphic_overlay</a:t>
            </a:r>
          </a:p>
        </p:txBody>
      </p:sp>
      <p:sp>
        <p:nvSpPr>
          <p:cNvPr id="37" name="dimension-tags-15">
            <a:extLst xmlns:a="http://schemas.openxmlformats.org/drawingml/2006/main">
              <a:ext uri="{FF2B5EF4-FFF2-40B4-BE49-F238E27FC236}">
                <a16:creationId xmlns:a16="http://schemas.microsoft.com/office/drawing/2014/main" id="{62175373-A834-4F00-8875-74496C90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无叠加 · 文字叠加 · 拼贴 · Logo水印</a:t>
            </a:r>
          </a:p>
        </p:txBody>
      </p:sp>
      <p:sp>
        <p:nvSpPr>
          <p:cNvPr id="38" name="dimension-note-15">
            <a:extLst xmlns:a="http://schemas.openxmlformats.org/drawingml/2006/main">
              <a:ext uri="{FF2B5EF4-FFF2-40B4-BE49-F238E27FC236}">
                <a16:creationId xmlns:a16="http://schemas.microsoft.com/office/drawing/2014/main" id="{9F32D524-B652-48F8-8C08-C3D4C2C6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识别纯图、文字、拼贴、Logo水印等版面处理。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8018F00C-B180-4F8C-A9A1-7F7E2A07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20AA6939-5884-4FE8-AC6E-51B4E5C2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43C336B4-5198-4898-BF9D-BF0DCA6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“无法判断”规则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DC78C598-1037-4D5E-B4A9-B1A3748F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看不清就返回“无法判断”（UNKNOWN），不再返回其他标签。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漏图、重复图或非法标签会被程序拒绝。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3B9E7A3B-F497-4D9A-AD6A-DDF6DBAE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99057720-E2D8-4E0F-9124-054B0C3B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406612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F797CEBF-2302-4976-AE0A-4A1CE57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→ 3 · AI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150A3B-251A-4857-8CF7-AD4F727C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Terra负责“可查询标签”，Sol负责“可交付结论”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5A4E77-C725-4740-AE4F-950D9882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两层模型共享图片键与证据上下文，但输入清晰度、触发时机、输出结构和成本完全不同。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185382-A2AD-42F1-82E5-5731F03C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odel-lane-0">
            <a:extLst xmlns:a="http://schemas.openxmlformats.org/drawingml/2006/main">
              <a:ext uri="{FF2B5EF4-FFF2-40B4-BE49-F238E27FC236}">
                <a16:creationId xmlns:a16="http://schemas.microsoft.com/office/drawing/2014/main" id="{F63AE43A-A5B9-4B6A-AD96-2B9A3CCD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307A738-F9AF-4DFD-9F78-8A12EA8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GPT-5.6-TERRA / BATCH TAGGING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C6965E-8306-4E42-9CA2-31759687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v2已完成15维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211AFD-C7D9-4A1F-BD94-2327DB75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8C84CA-6520-4881-8A34-D8B6DD6A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图片URL＋标题＋当前分类＋位置；detail=low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092782-3C21-4BCE-AE92-5A07E1DE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D0AD851-3F4A-40C7-BFE6-7D03676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默认8图/批、8个worker；只处理未分析且URL去重后的图片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93132BB-86B5-432A-BE33-6B436333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C063FE-BCEF-4499-B01C-EE6C0AD9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受控字典＋可见证据边界＋UNKNOWN＋主售商品规则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EFEDAAE-37C5-4678-A2F8-FAEB6ACC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755B953-3D22-4426-9B01-4BC7FC10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v2返回15组tags＋confidence；竞品v1保留12组；strict JSON Schema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C6BFD44-938A-4431-B985-EA643775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3915798-7E37-41B9-AE3D-81BB7293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增量检查点、4次重试、策略拦截拆批、图片索引校验</a:t>
            </a:r>
          </a:p>
        </p:txBody>
      </p:sp>
      <p:sp>
        <p:nvSpPr>
          <p:cNvPr id="18" name="model-lane-1">
            <a:extLst xmlns:a="http://schemas.openxmlformats.org/drawingml/2006/main">
              <a:ext uri="{FF2B5EF4-FFF2-40B4-BE49-F238E27FC236}">
                <a16:creationId xmlns:a16="http://schemas.microsoft.com/office/drawing/2014/main" id="{4FFE5C4A-1A44-43C6-8611-C49DDF16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802D7D0-8BA7-4E2E-AD44-F1AEDC35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GPT-5.6-SOL / PAID DEEP ANALYSIS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8D6E14A-1FBB-4D84-8120-413FE9C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按需高清精读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9B07E81-B55B-4CD1-B5F1-5888378D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0B63AC-2477-4291-AAF4-8F2DF5E7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高清文件＋店铺/商品/品类＋固定筛选条件；detail=high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A0196B2-8313-493C-BB04-23129C02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6225EF-B432-4E9A-BC61-1F8AD6A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体验1点击付费分析；体验2启动整体报告专项分析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39E6D99-7B42-497B-9558-AD51B31B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DF3B50B-6FBD-48E3-85F7-1BFE5607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先写可见事实，再解释；每个判断必须有visible_cue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6398864-DF1C-4B75-A6DB-C0DEDE74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BDBA229-7811-4C3A-ABAD-6DB40BC2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逐图观察、优缺点、建议、证据；再汇总店铺与Section结论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7E0313E-86CA-40A7-A7F5-E90A4BF5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FE4574F-3C53-4006-9C26-503C2E65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不写CTR/CVR因果；校验图片ID、品牌归属与Section数量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CADF6E79-2F36-48F7-9B22-2ADAC4AC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6521310-6FFC-402D-B4E8-BE94D37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Terra已把27,355张图变成检索空间：Aloruh首图15维，其他店铺12维；Sol只在用户明确付费时读取高清图。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D3C3F043-5C18-46B9-AB58-5A64696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97C85EF2-B59A-41E0-B97C-7DF0761C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60408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9ADB0494-6022-47AC-9078-2AD9F2B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TERRA ACTUAL PROMPT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69F88F-7CC6-4C74-B2B9-7B39A20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第11页：维度相关部分是标签字典，不是15条判断Prompt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3C702A-5B84-46C4-867B-8D4A5FE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代码里只有一条统一判断规则；每个维度后面列出允许返回的受控代码。以下为真实维度行节选。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B7FFE7-AAD6-4305-89DE-C8972072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88CA0F26-FF87-48A8-BCED-04B41B90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D2DA0394-4496-40B6-8B29-1DAA34EA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0F7AE50E-C921-49CF-8332-46F0138D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01">
            <a:extLst xmlns:a="http://schemas.openxmlformats.org/drawingml/2006/main">
              <a:ext uri="{FF2B5EF4-FFF2-40B4-BE49-F238E27FC236}">
                <a16:creationId xmlns:a16="http://schemas.microsoft.com/office/drawing/2014/main" id="{4FBB7429-C070-4690-B605-7902EE3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DDEDD99-C522-478E-B6D7-B7EF31B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540C4A-F228-4AF4-A61D-94718FD7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每批图片＋上下文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C8FFC6-616A-4690-96AB-354BD644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 · 标题 · 已有品类 · 位置</a:t>
            </a:r>
          </a:p>
        </p:txBody>
      </p:sp>
      <p:sp>
        <p:nvSpPr>
          <p:cNvPr id="12" name="flow-02">
            <a:extLst xmlns:a="http://schemas.openxmlformats.org/drawingml/2006/main">
              <a:ext uri="{FF2B5EF4-FFF2-40B4-BE49-F238E27FC236}">
                <a16:creationId xmlns:a16="http://schemas.microsoft.com/office/drawing/2014/main" id="{E2CCF176-8B73-496E-A76E-8F2BB2F6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B78242C-10F8-46A2-BAF4-FEC41FBE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578A0D5-BBA3-4F3E-8FE2-92926DFB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统一可见证据规则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875645-C0AA-4202-B6FA-B711BA22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看不清=UNKNOWN · 主售商品优先</a:t>
            </a:r>
          </a:p>
        </p:txBody>
      </p:sp>
      <p:sp>
        <p:nvSpPr>
          <p:cNvPr id="16" name="flow-03">
            <a:extLst xmlns:a="http://schemas.openxmlformats.org/drawingml/2006/main">
              <a:ext uri="{FF2B5EF4-FFF2-40B4-BE49-F238E27FC236}">
                <a16:creationId xmlns:a16="http://schemas.microsoft.com/office/drawing/2014/main" id="{487C07DC-0F80-49FC-9B93-508E01ED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8E6CA45-36ED-45A5-BCED-89C0711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CE256C-CB95-4FB7-B045-CC6BF3B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15个受控字段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DF18A2-B35B-4FAE-AA43-2A51F60E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同一次调用全部判断，不拆15次</a:t>
            </a:r>
          </a:p>
        </p:txBody>
      </p:sp>
      <p:sp>
        <p:nvSpPr>
          <p:cNvPr id="20" name="flow-04">
            <a:extLst xmlns:a="http://schemas.openxmlformats.org/drawingml/2006/main">
              <a:ext uri="{FF2B5EF4-FFF2-40B4-BE49-F238E27FC236}">
                <a16:creationId xmlns:a16="http://schemas.microsoft.com/office/drawing/2014/main" id="{40CE5E95-A420-4445-9178-B71FB245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72720F0-01CD-4C48-A59B-573C052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6543964-1DB9-4CF6-95A7-2B058E11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严格JSON返回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4570BD8-3FAD-48AE-8B2E-B571D23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每维标签＋置信度 · 漏项失败</a:t>
            </a:r>
          </a:p>
        </p:txBody>
      </p:sp>
      <p:sp>
        <p:nvSpPr>
          <p:cNvPr id="24" name="cod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480411CD-F65E-4EFC-8471-573A4E90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40957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de-titl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CF6D22BF-68B7-4F9F-9641-58538144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统一规则节选</a:t>
            </a:r>
          </a:p>
        </p:txBody>
      </p:sp>
      <p:sp>
        <p:nvSpPr>
          <p:cNvPr id="26" name="code-body-统一规则节选">
            <a:extLst xmlns:a="http://schemas.openxmlformats.org/drawingml/2006/main">
              <a:ext uri="{FF2B5EF4-FFF2-40B4-BE49-F238E27FC236}">
                <a16:creationId xmlns:a16="http://schemas.microsoft.com/office/drawing/2014/main" id="{CD36CD60-641C-4BE3-825D-342E37FD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3714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Use visible evidence and the supplied title/category only.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and never combine UNKNOWN with another code.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must have exactly one value.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Other dimensions may have up to five values.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Focus on the primary item sold; accessories belong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in styling unless they are the primary product.</a:t>
            </a:r>
          </a:p>
        </p:txBody>
      </p:sp>
      <p:sp>
        <p:nvSpPr>
          <p:cNvPr id="27" name="cod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3C75A734-81CB-4F44-8657-F8219846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67056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de-titl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76748FD7-379A-4761-B122-B3C3D0A6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5个真实维度行节选（受控标签，不是独立指令）</a:t>
            </a:r>
          </a:p>
        </p:txBody>
      </p:sp>
      <p:sp>
        <p:nvSpPr>
          <p:cNvPr id="29" name="code-body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7874CC59-B076-45F2-8173-F4F599AF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7600"/>
            <a:ext cx="6324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product_category: DRESSES, TOPS, SKIRTS, TROUSERS,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...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... 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代码没有额外的“occasion判断句”或“scene判断句”；维度语义由字段名、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标签集合、统一可见证据规则与严格输出Schema共同限定。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9C821221-F66C-4123-AACC-9A3F1282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5829C34-9F51-4281-8AC0-D855A112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完整通用规则＋15个标签字典逐字放在附录A1–A4；Sol主流程与修订Prompt见附录A5–A9。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818AB32B-7948-4659-AB03-BF2D60A7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DAB7917C-5E12-4217-A692-BF2992B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209522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46F616B-0DA5-4036-B194-A0153D5A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 · SOL ACTUAL CALLS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AD6E72-CDFA-43B8-9131-004E0D35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真实实现：两种体验调用Sol的方式不同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B09CE0-ED57-472B-AAAB-36F0D9A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体验1一次调用同时产出逐图观察和店铺比较；体验2先逐图观察，再进行第二次全量证据合成。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9746A0-E7F1-4EEE-9CEF-9B2DB1F1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prompt-体验1 / 单次高精度分析">
            <a:extLst xmlns:a="http://schemas.openxmlformats.org/drawingml/2006/main">
              <a:ext uri="{FF2B5EF4-FFF2-40B4-BE49-F238E27FC236}">
                <a16:creationId xmlns:a16="http://schemas.microsoft.com/office/drawing/2014/main" id="{89259C19-0DA0-4E8E-8C9B-2BE3F540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F3B3D2-EF76-43BF-98EF-147C8AB7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体验1 / 单次高精度分析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F3C529-8DB1-4D46-8F7C-1FD8FC2F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输入：固定筛选条件＋用户选中的高清图片（最多24张）。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真实Prompt要求：先写肉眼可见事实，再写解释；比较场景、景别、动作、光线、色彩、搭配、服装结构、视觉意图与店铺一致性。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同一次返回：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每张图的可见观察、优缺点、建议和证据线索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共同模式、店铺差异、各店总结、拍摄规则、A/B假设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边界：只代表本次选图，不代表各店全量分布。</a:t>
            </a:r>
          </a:p>
        </p:txBody>
      </p:sp>
      <p:sp>
        <p:nvSpPr>
          <p:cNvPr id="8" name="prompt-体验2 / 两阶段报告分析">
            <a:extLst xmlns:a="http://schemas.openxmlformats.org/drawingml/2006/main">
              <a:ext uri="{FF2B5EF4-FFF2-40B4-BE49-F238E27FC236}">
                <a16:creationId xmlns:a16="http://schemas.microsoft.com/office/drawing/2014/main" id="{65140C07-9AD6-4462-9B61-742B5AE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5EBD34-C685-4192-B30F-1266F5CD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/ 两阶段报告分析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F56ACF-357A-43A5-B21A-7617F55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57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阶段A：每8张高清图调用一次Sol，逐图输出10项可见观察、优缺点、证据线索和候选模式。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阶段B：把全部逐图观察、图片—店铺映射、竞品全量分布和分析范围交给Sol，再生成五个Section。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每条结论必须返回：推导、样本数、筛选条件、观察字段、支持图、反例图和代表图。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边界：比例来自全量分布；高清证据图只负责复核。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4D5A8E3-F3E4-4788-A650-51774032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4651C8-3A7B-4A71-8F41-D5F67C1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Terra先把图片变成可筛选标签；Sol再把指定范围内的图片证据变成解释、比较和建议。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A1064208-37D2-4CD6-A3A0-1D23D559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7D4C0D1C-AAA8-4EB2-A0A5-0F11547B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64085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DF2611F5-BAFA-4292-8010-CA2EA178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SELECTION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0B429F-0830-486B-A2B1-626217EC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体验1流程①：AND筛选后，手动选图与自动选图走两条真实路径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3DB552-7079-4DC0-A7D6-4D16B896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Terra标签只负责缩小候选范围；最终送入Sol的图片由用户明确选择，或由系统按店铺均衡随机选取。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989D59-F3BC-41EE-9FC5-E1180369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low-01">
            <a:extLst xmlns:a="http://schemas.openxmlformats.org/drawingml/2006/main">
              <a:ext uri="{FF2B5EF4-FFF2-40B4-BE49-F238E27FC236}">
                <a16:creationId xmlns:a16="http://schemas.microsoft.com/office/drawing/2014/main" id="{BE370D04-0009-42BD-96EC-920029FD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0C389C-24EB-41AD-889F-FE79BFC1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B56DB4-8489-4761-BA8F-C3C36A8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校验筛选条件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DA3C0F-88B7-4355-8626-CCCBC36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维度必须已有生产数据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标签必须在受控字典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C828F02D-3081-40AE-9A06-3C4031F0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2">
            <a:extLst xmlns:a="http://schemas.openxmlformats.org/drawingml/2006/main">
              <a:ext uri="{FF2B5EF4-FFF2-40B4-BE49-F238E27FC236}">
                <a16:creationId xmlns:a16="http://schemas.microsoft.com/office/drawing/2014/main" id="{C2D2436B-055E-49DF-99E2-C977965A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FDF0686-6655-426D-9893-3A98BEA8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A0D9B0-DFB6-40CD-B7DF-4ED6440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SQLite执行AND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F15DE51-85B5-44CC-AF9C-C95AD30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每一维都必须命中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source_url全局去重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BE5EC86E-5925-4C0B-89E4-6ADE2AE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6B5262B6-F27E-4BE3-AFA3-E1A6FC49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16" name="manual-lane">
            <a:extLst xmlns:a="http://schemas.openxmlformats.org/drawingml/2006/main">
              <a:ext uri="{FF2B5EF4-FFF2-40B4-BE49-F238E27FC236}">
                <a16:creationId xmlns:a16="http://schemas.microsoft.com/office/drawing/2014/main" id="{DF020D70-CCC8-477F-A5B9-BB6F1345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43050"/>
            <a:ext cx="5829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32E2EA8-AD19-49DC-835C-5552DEDA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33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手动选图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931CFFF-C30E-4187-AC2C-D4200CE4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5391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用户提交 store_id＋product_id＋position；后端再次检查：键唯一、店铺在范围内、图片存在、仍满足AND条件；保持用户选择顺序，最多24张。</a:t>
            </a:r>
          </a:p>
        </p:txBody>
      </p:sp>
      <p:sp>
        <p:nvSpPr>
          <p:cNvPr id="19" name="automatic-lane">
            <a:extLst xmlns:a="http://schemas.openxmlformats.org/drawingml/2006/main">
              <a:ext uri="{FF2B5EF4-FFF2-40B4-BE49-F238E27FC236}">
                <a16:creationId xmlns:a16="http://schemas.microsoft.com/office/drawing/2014/main" id="{871FCFF7-9F0B-40D5-9DBF-57DF0306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5829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A3293C5-62C2-4AC4-88FD-514D5C5D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自动选图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F2BC99-929F-4BF7-8EC1-D9FB3659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5391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先把每店候选池扩到目标数的8倍（单店12–32张、总池不超过160张），再用 SystemRandom 在各店内打乱；按店铺轮询取图，直到每店成功下载1–8张且总数≤24。</a:t>
            </a:r>
          </a:p>
        </p:txBody>
      </p:sp>
      <p:sp>
        <p:nvSpPr>
          <p:cNvPr id="22" name="flow-arrow">
            <a:extLst xmlns:a="http://schemas.openxmlformats.org/drawingml/2006/main">
              <a:ext uri="{FF2B5EF4-FFF2-40B4-BE49-F238E27FC236}">
                <a16:creationId xmlns:a16="http://schemas.microsoft.com/office/drawing/2014/main" id="{518246C9-839D-4A6E-85AD-B36F90E5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3" name="flow-03">
            <a:extLst xmlns:a="http://schemas.openxmlformats.org/drawingml/2006/main">
              <a:ext uri="{FF2B5EF4-FFF2-40B4-BE49-F238E27FC236}">
                <a16:creationId xmlns:a16="http://schemas.microsoft.com/office/drawing/2014/main" id="{81B0D67C-525B-4EF4-959F-948FD662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705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85FA23C-683B-4786-9045-EB6E4785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30D0D3F-D182-4F6B-803F-D36F99FE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下载高清图并明确记录失败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9438537-27A0-4347-88DB-455455B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逐个尝试候选图；达到每店配额后停止。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阈值：≥80万像素、长边≥1000、短边≥600。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失败不会静默替代为低清图。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4A425145-1C4A-42D0-A711-74CA1BE9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4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6A9ABCC-06D4-4800-9D16-F2B117A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送入Sol的不是全部命中图，而是最终成功下载并通过高清门槛的1–24张。体验1目前仍按任务下载，尚未接入整体报告的共享高清缓存。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80B76F8B-BD09-4E7F-A715-EE15E441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0FBC3B58-D827-4264-9AAD-C12EB0BB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9155087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604F7E02-B86D-4608-A861-011C9D79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CONCLUSION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4D2ADB-BC4F-47D9-9CEB-9205B6BD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体验1流程②：一次Sol调用同时返回逐图观察、跨店比较与建议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6F5D6C7-8E96-477F-98B9-4F9C4387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这不是先逐图调用、再额外汇总；1–24张高清图与筛选条件被放进同一个请求，由严格JSON一次返回完整结果。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5E5E69-92FE-4200-82FE-F369D9F3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xperience1-input">
            <a:extLst xmlns:a="http://schemas.openxmlformats.org/drawingml/2006/main">
              <a:ext uri="{FF2B5EF4-FFF2-40B4-BE49-F238E27FC236}">
                <a16:creationId xmlns:a16="http://schemas.microsoft.com/office/drawing/2014/main" id="{83435F68-8B17-4081-8873-B5A81E61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200400" cy="40957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F17CB5-D653-4EFD-B371-FEE21C47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35DA99-B4DA-45A5-A3BC-8330DE53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5CB27A-A888-492B-BBF0-7ADEC97B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例如 product_category=TOPS AND occasion=VACATION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92FA162C-8E55-41BA-91AC-ABB6C5F4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DC6D67-EDA0-4956-9AAA-CFBB87D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每张高清图上下文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6A9E92B-E156-430E-919A-6B6F678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store · product · title · category · pixels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图片本体以 detail=high 发送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34CD1F-B352-45B5-BD64-E8242ADB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数量：1–24张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9F98CA18-0657-4ADB-88FB-2CF0C9D1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experience1-reasoning">
            <a:extLst xmlns:a="http://schemas.openxmlformats.org/drawingml/2006/main">
              <a:ext uri="{FF2B5EF4-FFF2-40B4-BE49-F238E27FC236}">
                <a16:creationId xmlns:a16="http://schemas.microsoft.com/office/drawing/2014/main" id="{5D604D33-94FA-4D8D-9C92-B64EE72D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3390900" cy="4095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4F226CA-0E4A-4129-9509-65B35F70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SOL PROMPT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40B506D-873C-48F7-BFB6-075E2CCE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先事实，后解释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6FE4B4D-F78A-40E8-85A1-40A981F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逐图观察：场景、景别、动作、光线、色彩、搭配、服装结构、视觉意图。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每个判断都要 visible_cue；不得推断敏感属性；不得把构图写成CTR/CVR因果。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ADAAD2C6-292D-4B28-AFAA-A8ADF558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7C2C8D2-4209-441C-8F9C-5A258E4D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同一请求内跨图比较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3C306D9-4A3C-4911-968C-2C48F0F4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共同模式 · 店铺差异 · 各店视觉定位 · 可复用拍摄规则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1C9FB11A-F04C-41B8-B2F0-5E937966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experience1-output">
            <a:extLst xmlns:a="http://schemas.openxmlformats.org/drawingml/2006/main">
              <a:ext uri="{FF2B5EF4-FFF2-40B4-BE49-F238E27FC236}">
                <a16:creationId xmlns:a16="http://schemas.microsoft.com/office/drawing/2014/main" id="{10601D69-7229-4ADB-9E7E-DE3FD5A8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505200" cy="4095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78181D9-3CDB-436B-9B8A-75733AD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STRICT JSON OUTPUT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9A6AB1A-8446-4409-93F3-CACC6D0B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逐图结果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6AD4346-311F-43AE-B4CB-E94F90D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7项可见字段 · visual_intent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strengths · weaknesses · changes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evidence claim＋visible_cue 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D164D17-6AF6-4DC8-BCFA-1F5A16A3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跨图结果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8FA1BA9-C15D-4CD0-ACF7-B84E236C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selection thesis · shared patterns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cross-store differences · store summaries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shot system · A/B hypotheses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1EDC9BA9-2DE7-4E01-AFDC-B8BF1AE6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6EACDC8-CE83-485F-81DB-76191B9F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结论只代表本次成功送入Sol的图片；没有全店分布，不得外推整店占比。图片索引和店铺摘要缺失或重复会直接失败。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22CA8471-B789-4584-AAB9-C3626D10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F0A8E3D9-6FBF-4993-82CE-B6975610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9295865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2F8C57C-7C13-493E-AE27-B54B131C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1/7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E76666-D20C-45FF-8937-3CFC8A6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Demo：进入维度分析，先看可用范围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47861B-CE46-4581-BEC7-8EDBD92E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入口显示27,355张已分析图片；15个维度可筛，其中光线、模特状态、图文叠加目前仅Aloruh有值。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C55F0A-DA49-4BAA-B805-705E1A33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22840ADF-7174-467D-B99C-9CAB884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b2c775d1440f7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11C3A5E1-F223-4271-A3D7-D55F3BC3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DA6F0664-D0DF-429C-AD48-2D82B0A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0FE1DAE2-8068-431A-9048-EA0302D5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进入图片维度分析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6883377-0450-4D3C-A67A-7D89C532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28A7B4AD-78A1-4E69-9F6A-A9314DD5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443E947-7E5B-4AD8-962E-CEA78113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确认已有分析图片规模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B83BA4D-3C8B-4474-9FE8-04CCC54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B585215F-173C-4D25-9745-97DAFCD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查看15个中文维度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E98F725-1214-485D-B0E5-CE28D956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2901E293-B787-474B-A816-898F1773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按店铺与维度真实覆盖筛选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1CF5DA0-F87D-406A-A1CD-1D00E070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AA2CC43A-2B8B-432F-98E4-D8E5D276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9994115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D314BD8-9721-43D7-A723-0A1EFCC8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2/7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F92496-11A6-41BF-B8F6-3CFEE5BA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Demo：选择需要组合的分析维度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42757E5-8A73-47A5-A27A-728D3DDF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示例选择“商品类别”和“穿着场景”，页面同步生成两个标签下拉框。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B89AA6-32AB-43A2-BB71-C05B10EA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4362D08F-E716-4A27-BC9D-306BB26C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5f79a80154257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D2C4932B-CEB1-44C8-8D67-B66239FC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CCA22035-06B2-4F15-9491-3F11AFAE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DA301CB2-6C27-4DB3-9772-A5BCA088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勾选两个维度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5655AA0-9D39-40B3-B542-0B3D8C8E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22E13E2-A6E8-438F-A7AD-B9926339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1B58A49-2B8A-492C-B95E-C138B2D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599FA2C8-3AD6-4C6A-A046-0C20D6F7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C9A88E5D-B393-4064-8E92-4A4E7608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穿着场景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073F993-8260-4D3C-A325-E9502EF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89FFB07-278C-4A78-B9C0-61A69C9B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其余维度保持未选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1FF79BB-24C5-47F8-8653-21EF3101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F5F84F80-AF28-4EBB-B4B9-3F7A7EE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9106566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F2CDAC0-F89F-4FEC-8605-F48F1AA3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3/7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1BFE14-DFF7-4E61-A855-B95B1D39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Demo：把标签组合成可解释的AND条件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153262-F92A-4FCC-BD6B-1209DD0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商品类别=上衣，穿着场景=度假；只有同时满足两个标签的图片才会命中。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6FA36B-2A67-41AF-B161-4B9B9CE9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8FDB5783-6F67-49E2-B84C-6F5C0E51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2cafcf6964d13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12E0629C-93B5-4C1D-9894-A64D2A2D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0F284540-4C71-449F-9506-BA0868C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6C70C1EB-3829-428D-809B-AA9E6D45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设定“上衣 AND 度假”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6727CCA2-3F4A-4EAB-A6BD-6D86BD81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8369B28D-64BB-429D-A9AE-62057ED9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946328B9-DB0D-4640-B311-F1808542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每个维度只取一个标签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32BBFB94-CB89-4B9B-B6F9-5B270871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00FB8BFB-515A-4C0B-96CB-60EA93B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条件之间使用AND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8D69172-29C1-4222-A4AF-FAB43524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447A6A9-4BC9-4CC5-88D0-ABDABB44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生产结果即时刷新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B4F25D4-C52C-40B6-A7A7-73750272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3BEDB13-C09B-48FF-AC22-2CB605D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909745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84A7765-2B51-4831-8D62-3BE6AF21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4/7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6C27F0-2A2C-4146-A3F2-9F5D996F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Demo：结果按店铺拆分，并保留商品证据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E6E802B-B618-4305-B698-65640A86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生产环境命中3,179张；每张卡片都保留店铺、商品ID、标签与原图。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37A114-B6AD-4A12-9A5E-A486DAE9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14702D1-996E-4932-B03E-F6802DD1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443b014aa4df9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44BE1DCF-9C33-4912-928C-E33CE284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7DE3A23E-AE2A-445D-B8B5-3039FBF5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C0532178-50C5-4F16-8E29-7DA481B1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查看匹配结果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A4F669B-D414-479D-8950-B5B10D3A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0EA608DC-380A-41D5-9017-39822C1F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DF886749-746F-4E12-8E3F-0EED22BA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命中3,179张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A7EC12DF-E533-44F5-9992-EAE9AE3C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FD927B2C-67AD-4FB4-8ECD-1B2C31D5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按5家店分别展示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175C1A2E-8846-4A7E-BA40-72871BB8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74DECD37-2D51-45BC-9366-7F4EFEDE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可继续打开单图证据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CA3A479-DEEF-49B3-BE77-167C0CCE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F0691420-7588-414D-A5B5-20ABC05A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3075591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AD9AFD3-777C-49D5-A337-A769A587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5/7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0F08EE-05AB-4FE4-AB7A-F818A981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Demo：手动选图，确认付费分析范围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B7EB4E-25DF-4726-B908-DBB44D34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勾选2张图并切换为手动选图；界面明确显示将分析1家店、2张高清图。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7161E1-F068-440E-BC91-5B3CEA31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4BC5A756-E77B-44E2-8020-EC059E28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29f33d7e44f3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56AFF0DE-4FFA-482F-97DB-6DEED30C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A47BC1EF-5736-4EE3-8CDE-849E77C9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D0DAA242-BFB0-4D0C-9172-E2F27611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选择精读样本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46E7A76-3F81-41DF-B264-B2C79E77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D66EEBE3-09A9-4657-BD33-ED7EDDFD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FD2DE2FC-C683-4A46-82D2-A8F34FC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手动勾选2张图片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74531A9A-9002-46CB-BC00-217E45F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56105EE1-A40D-41B1-BCAE-0527AA74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确认1家店、2张高清图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260FE12-A931-4619-8343-86E36DBE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AA018AAE-2256-4F26-9B3F-876B95E1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费用提示在点击前可见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8894C29-6582-430B-8632-715558E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A33C695-EE91-4110-AA21-25B8A03C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0606826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C82579C-A5CE-46F1-8888-E56AA3E2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6/7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A8FA6-53BA-4E61-9391-35D1BC0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Demo：点击付费分析，实时查看运行状态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111FDE-7224-483B-9CC0-12DE42C9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点击一次“开始精细视觉分析（付费）”后，按钮锁定并持续显示GPT-5.6 Sol任务进度。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0FB3D8-B512-4BAB-9844-371075EE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A92634B6-C860-419B-8148-66B0D3B8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fad39746a4d19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76E11184-2C19-45EC-AE42-610556BA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D98FB6B3-E0A7-466F-B87A-1F393040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06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CEB05B95-8A29-4A3C-AD6D-E98FFA0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启动付费分析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A099DE3-70E0-4A13-AFFE-CB673332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14AAA27-B42D-44AA-81C0-F45B0EA8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5FACE574-DA53-461B-97DB-E07B5E93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付费按钮只触发一次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8A4EA84A-AC06-4469-844D-A7E64DA9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C6DC3CED-E6B6-4B1C-A81B-ED0A9855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运行中按钮自动锁定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49644F10-521A-4C42-9397-9E35BED5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42205D78-8697-4372-B1A0-FB252E8D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实时进度显示为55%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B0D7306-ABE7-463E-A9C9-5E388BF3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F2EDAD35-01AD-4089-AAAF-B18CA5EF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1201872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71D1E0A-0B48-47E7-A3EC-B1E4B6B7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7/7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B9A084-8C86-40FF-8C80-6CAE97BB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Demo：结果同时给出结论、Token与费用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280C3F-0852-4102-A744-02F88D1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2张高清图在81.3秒内完成；页面返回总体结论、共同模式、店铺差异和逐图可验证建议。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5689E-87F7-4629-8A09-7758FC3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0EAF671E-9FD7-4D72-BF3F-42677036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f393655464f6e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29559D0-AFE8-4B3B-B337-081FD41C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6A89084A-9F80-40EE-9EB3-B1546D70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07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72818A89-F253-441B-88EF-942D2212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查看精细分析结果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895235C-9F75-4D9E-A6C4-E59A5D44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584B4D8B-BBB1-412B-AC3D-2BE54DAE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F07E2076-A885-4999-8348-1EB67CC5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2/2图片成功、无失败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68203CFF-867C-4E5A-9070-47214284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409DDB0F-6E6F-4AB7-AC97-2B54DE62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总Token 8,343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829101D2-1585-47E6-9A36-10E83FF5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DFFE200E-FEF0-45A9-AD91-434FC99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预估费用 $0.1897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B03A0FA-FF32-4FDC-AC14-75C7EAB5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A0B479D3-CC0B-42E2-9C68-E7CC88FF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9498375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45D0131A-DE54-4F28-934E-C3DB7BD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SCOPE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59EEAE-7417-4CED-B69B-B81BCD4D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体验2流程①：先确定报告范围，再锁定证据池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FED8F2-1729-467E-A4EC-D5A98C30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用户只需选择目标店铺并确认范围；系统自动完成品类识别、竞品覆盖检查和证据选取。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B1FF75-E4EB-46E8-999C-B68217F1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94783C8F-96BB-4D0F-B2E3-CAF42A8D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82E43A8-AC04-4FC5-B2BF-786E7409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44CEB885-548D-46F2-9011-23F5B8F4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DCC50DB0-387E-4188-A800-9D0B69CF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072AF2D7-6683-4AF5-8B04-104467AF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B1C45B0C-8230-4F9C-9C71-0F72670B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AC28BC1-1A02-491F-A280-D0DECF83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4A1924-827E-4C2B-992D-0C74AB06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读取全店目录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490632-364A-4BBE-9727-28C714D1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确认店铺规模、品类结构与可用图片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70572B60-D9F4-4FD7-9EE6-123478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CD5174C-3F5B-4744-9EAB-B3908F42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7C28B4-BAD3-4D79-81AE-FC646560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识别主品类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61D7E88-9E5E-4A8B-BBB4-09F47D3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按全店商品结构找出主要分析对象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8F17A722-A70B-497E-9EB6-E157693E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7DB30E-8741-49ED-8E41-E64326EF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483F117-096A-4EBF-A2FF-D2B4FC5C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补足重点品类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D21BAD4-029F-42DC-864F-F442387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加入白皮书要求关注的补充品类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8B7DCB09-EA0D-4177-A6C9-DD067CD0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2EAF2B3-E43D-4A72-BBBF-C358DF4E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69B4BAE-CC26-4A59-8372-62A18617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检查竞品覆盖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C4B09FB-A059-4C0A-A723-E1EAE3F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只保留标签口径完整的可比品类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DD2D4CC4-5BF6-4896-888C-3A0D2496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A61195F-37E9-4B76-B56B-A48A43FD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F367641-D11D-4998-92F6-ABD5A63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选择证据图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747D438-81A9-43C6-BABB-E8B4467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兼顾典型表达与有效边界案例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DD79D4B7-1D3A-4E19-BFDE-6662BBB6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01C1EAB-B9A3-42F3-BB5D-0896DD60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24935DB-DD3B-4755-96B8-ACB2994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锁定任务范围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82C2E57-5D30-47E6-BD42-DA7B9EAE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保存店铺、商品、图片和竞品角色</a:t>
            </a:r>
          </a:p>
        </p:txBody>
      </p:sp>
      <p:sp>
        <p:nvSpPr>
          <p:cNvPr id="34" name="scope-user-view">
            <a:extLst xmlns:a="http://schemas.openxmlformats.org/drawingml/2006/main">
              <a:ext uri="{FF2B5EF4-FFF2-40B4-BE49-F238E27FC236}">
                <a16:creationId xmlns:a16="http://schemas.microsoft.com/office/drawing/2014/main" id="{EB7AAC22-B0EA-4CEE-B599-23221C37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A2EBD16-82EB-4FB2-A69D-8C48DD18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用户确认什么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0EDA6BE0-0EB5-4EC7-A25E-B8F9336F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目标店铺 · 自动识别的重点品类 · 竞品可比范围 · 费用提示</a:t>
            </a:r>
          </a:p>
        </p:txBody>
      </p:sp>
      <p:sp>
        <p:nvSpPr>
          <p:cNvPr id="37" name="scope-system-output">
            <a:extLst xmlns:a="http://schemas.openxmlformats.org/drawingml/2006/main">
              <a:ext uri="{FF2B5EF4-FFF2-40B4-BE49-F238E27FC236}">
                <a16:creationId xmlns:a16="http://schemas.microsoft.com/office/drawing/2014/main" id="{14739CE1-EED6-45DF-8858-16146EE5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2E5A8788-603E-40BE-BAAF-B31499CF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系统产出什么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C26A5CB-AA51-4474-A2ED-36F0A6FC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目标商品清单 · 图片位置清单 · 竞品证据清单 · 可追溯的范围快照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A1266EAE-F6C9-4BE9-BF57-247A8A17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58BED262-6FB6-4036-B289-2F59E00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范围确认后才启动付费分析；后续章节只能引用这次锁定的证据。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2FD3BEF7-DDAD-44FA-AC70-9A99CC6D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14FE57EB-4202-4C2C-9565-6E5B3A37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891721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DFF0AD8E-A0C6-4E40-8F52-85DC199E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IMAGE ANALYSIS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791CE0-4190-4D03-9647-699E9327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体验2流程②：把入选图片变成可复用的逐图事实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F21FE0-FF31-4EA1-B508-2D25EE5F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系统负责高清图解析、缓存复用、质量校验和逐图分析；用户不需要逐张操作。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EC03CA-935B-44CC-AD83-D059CE49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E4C3FE84-1237-4594-915E-4FABE298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A0CC4AD2-B2B8-4250-AE74-C9819D5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8022F9B6-AD0C-440B-9128-7DF11B8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35B3E9B3-4218-4DD5-AE65-2AEA3D5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03D7C9A2-AB58-4CA6-926A-8120175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4965AE24-D3DE-438B-802B-86303E1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A80C48-12F2-4C7A-BA6B-E24D4225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B2DE180-51F8-401C-A2B4-137BF69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读取图片记录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E087A7D-0DAB-46AF-B9E6-E017AE3B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带入店铺、商品、品类和图片位置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73F9E0B4-7593-4841-80FB-7405F254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582F33-6578-4144-99DC-04C61C67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2DA3B0B-E35F-4CF1-B57E-F2AFA418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解析高清地址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A372E43-4C05-4C65-9D37-A78D2B61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从缩略图地址定位可用原图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86037EC8-DD12-4C01-B630-9A21175B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98C75A1-3218-4CE4-B86A-A78186D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E10C9E8-0A1A-4162-B963-7D4E50A9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复用共享缓存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0ADBA5-0E40-449F-BB40-3BEDD4A9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已有高清图直接使用，缺失项才下载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DD964675-94EB-4399-A3C2-FEFAE3AA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8BB539A-014C-4902-A91F-D6A37C9F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525268C-E136-4D52-AC34-C85672C2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通过质量门槛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DDBC701-AD8A-4029-BB69-41EC7604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检查尺寸、格式和文件完整性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B2343FF2-32C9-48D1-89D2-A3662C55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1FA8C13-3AE9-44AD-88D0-E777C6E9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7F3C0EB-2408-4EEF-88CC-CCE8BABF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分批调用Sol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FA0B1E9-EE33-459A-B592-2C467FF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逐图读取画面，不依赖position猜朝向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5A7765F6-2CF5-41C6-BE1D-BD8200D7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9C7C8EF-E7B9-43C1-8D0A-578BFB9F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04CF99E-C18A-460B-8500-9397524D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保存结构化事实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45E670A-3F5A-4658-BCC4-626B4CF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记录观察、证据线索、优缺点与置信度</a:t>
            </a:r>
          </a:p>
        </p:txBody>
      </p:sp>
      <p:sp>
        <p:nvSpPr>
          <p:cNvPr id="34" name="observation-fields">
            <a:extLst xmlns:a="http://schemas.openxmlformats.org/drawingml/2006/main">
              <a:ext uri="{FF2B5EF4-FFF2-40B4-BE49-F238E27FC236}">
                <a16:creationId xmlns:a16="http://schemas.microsoft.com/office/drawing/2014/main" id="{805BFCA5-AC6B-40F2-9C32-E8CA892C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216CB53-A1BC-4934-8A23-C5C6FD85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每张图输出什么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579074F-B7F2-43F7-9B1C-5975A43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场景与构图 · 光线与色盘 · 动作与搭配 · 服装结构与材质 · 品牌信号 · 可见模特特征</a:t>
            </a:r>
          </a:p>
        </p:txBody>
      </p:sp>
      <p:sp>
        <p:nvSpPr>
          <p:cNvPr id="37" name="observation-contract">
            <a:extLst xmlns:a="http://schemas.openxmlformats.org/drawingml/2006/main">
              <a:ext uri="{FF2B5EF4-FFF2-40B4-BE49-F238E27FC236}">
                <a16:creationId xmlns:a16="http://schemas.microsoft.com/office/drawing/2014/main" id="{CF033D9C-FF2A-4E8F-8D60-176BD6A6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AB941F2-269B-4179-8DC8-4383660F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系统如何保证可复核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F9454B0-5966-48F7-9B6B-D3C5F205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每个判断附可见线索 · 看不清就标未知 · 失败图片显式记录 · 输入图片ID必须完整返回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03AD85B0-DC39-4F78-90AE-487D9913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AB740E9B-1E4A-4CF4-80BA-BF7DDCA2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图片只逐图分析一次；后续五个章节复用同一事实池，不重复下载、不重复看图。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5536F9C6-78FB-438F-B143-F82ED72F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A3051627-B5FA-4BB3-9A86-E71348DE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8995206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">
            <a:extLst xmlns:a="http://schemas.openxmlformats.org/drawingml/2006/main">
              <a:ext uri="{FF2B5EF4-FFF2-40B4-BE49-F238E27FC236}">
                <a16:creationId xmlns:a16="http://schemas.microsoft.com/office/drawing/2014/main" id="{20AB21E8-183A-4F2B-922D-63636DBF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SECTION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E53ED8-5450-455E-938A-15C2BB78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体验2流程③：同一事实池按章节裁剪，生成五章草稿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1BE737-6D7D-4F0C-A4EC-5546AFBB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每章只读取与问题相关的目录、逐图观察和竞品证据，再独立生成可审核草稿。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DAB26E-C143-43E1-90C1-3EDF67A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55DF728B-A273-4629-885D-4C468EAA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15E4F19-F970-4658-AE54-B6B11FDC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05491FCD-8B40-4814-9A37-79BE8D45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62100"/>
            <a:ext cx="2324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16994B-7556-49B8-8CCA-C0D119E6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764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这一章回答什么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F380BAB-954A-4E83-ADBA-003B7916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7601AAA-6B6C-41D1-9DAE-0009503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系统读取什么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E1C457F-5D88-40E8-AD69-69FAF19C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21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00F93C-006C-48AD-8920-D8D01EC5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草稿产出什么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0439AA50-49BA-4437-9C25-0A28FA1C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0F07392-E308-4429-A80B-011776E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7AFE22EA-3739-443D-B36C-3C6A8046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96D68A-B994-4526-864C-20F36CB5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店铺代表什么？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B4D638B6-783B-4B84-B56C-15E7BC3A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C8DA05-6280-4BBF-90E9-822CD70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全店品类结构＋目标店视觉事实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D17B130B-BBCF-426D-85A1-620F7A4A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CAB5756-A8A3-460E-B4F4-194CE996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品牌定位、核心风格与边界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6797FC41-8C4C-47AC-93D7-DAB1EF8D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1B5D44D-752C-441C-98E6-417DF5D8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7DE2D551-F223-4C78-93ED-80F622D4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68F6EC2-3A06-47B8-BC95-FDEA92C7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商品怎样被展示？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8A883301-7039-471E-8F72-97B55D37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BED4DE7-B869-4674-9C49-EB1ECB19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构图、动作、廓形、细节与材质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C9576D88-E043-4CDD-85E1-59337B6D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37FFC50-F8FC-4F01-A62A-D940AFB0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主品类结论＋补充品类验证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66EEBD5C-4F84-4FFA-84D8-BC244B63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1968294-84DB-4667-B58B-E02376E2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C5719501-8D09-46A0-BBB6-25DD5BCE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C8F0751-BC7C-4CFE-AA54-5F441920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338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视觉体系哪里失序？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D418C47F-5BEE-46D0-A168-B482D0ED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47AA40D-4DCA-4C9D-B2C2-E210BE46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33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场景、光线、版面与可见模特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0A6416C1-1971-4FE0-9320-2F8D5151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D7E78EE-BF2E-4404-AC5A-880945E2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优势、问题与一致性风险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996C429A-5B7F-45D3-8245-58C60A77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5AE0E689-2896-4937-ACC0-C0EE94B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F999C318-B56F-45E5-AC60-694D29A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005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7A179FC-5652-4AEE-BAA9-CAB9120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14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与竞品差在哪里？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B777B911-EBD2-4C8A-8F8F-A3BD301B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005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CE6565DA-F09B-408B-9DA3-6269ABDD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可比分布＋对应品牌高清证据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3C62D713-1E7B-4012-8AC4-A024307F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7DDACC4D-1A88-4854-AF97-1AA4D677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差距、机会点与适用边界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59BF76FC-EEA1-414E-92B8-E24A8D4A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3EDD1A92-5CDB-4168-A922-480317A9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0AF61E7C-C19C-4F55-AAA4-7EA7C1F6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816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AC3F3CB2-69A8-4EBA-9B9D-FC4946FB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下一步具体怎么改？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51D96366-4352-463C-B4D5-1E9EEC3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816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89AC64EB-A7B6-4EED-9E71-604FB68B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95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前四章已验证的问题和证据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9AA8C12C-74B4-488C-96D2-DC68A4FB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58797B2E-5BE6-4963-AADE-88546B1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优先级、拍摄规则与PLAN A/B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E54BFE1A-3CD5-418B-A951-34848E62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7B4DB6D4-6CF0-4F62-8923-E65FE5DE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每章独立保存草稿；五章完成后，执行摘要只整合已审核内容，不新增图片事实。</a:t>
            </a:r>
          </a:p>
        </p:txBody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A733E0F8-9C4F-49A3-888B-F382AD49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footer">
            <a:extLst xmlns:a="http://schemas.openxmlformats.org/drawingml/2006/main">
              <a:ext uri="{FF2B5EF4-FFF2-40B4-BE49-F238E27FC236}">
                <a16:creationId xmlns:a16="http://schemas.microsoft.com/office/drawing/2014/main" id="{C4C53EC2-A151-4E39-99FE-E259040A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2653000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1441F01A-C4D4-4DCA-9D8C-A5F5DAD3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REVIEW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64E4F0-2A1A-4045-BC72-42CAB00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体验2流程④：系统校验、用户审核，最后生成PDF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654F77-BC31-484C-B048-151920E8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系统先保证证据关系正确；用户再判断结论是否成立，不满意只重做对应章节。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72175A-AEC5-40A9-80BC-2C5914E6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CB635D76-A467-4064-8434-681A7701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4C35529F-E4EC-4478-8A7D-35D71912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978D9E4E-F931-41F9-BC29-3F67A481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BE03E347-2CD5-4A38-80AD-C490890A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9D50BAB0-2719-4676-9CCC-3C8B9FEA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0F38E09B-0774-4804-A878-BF8B7D88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94178A3-19E1-4825-BCA8-98981356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1ED36C-F74D-4BAC-B94E-41ED2449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读取逐图事实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F586E4D-B9E7-485E-81C9-F6FA862F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使用已保存观察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不重新看图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FEB1E587-63AE-4AD8-B3E9-CD3D7943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B5CA2D-5694-407B-8FC7-62F92E28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5F8137-9532-4DF5-861F-760C442E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生成章节草稿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2D72CDF-562A-41AE-8ED9-F179B75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结论＋推导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支持图＋反例图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C08C835A-2E74-4ECD-9E19-7C0FCFF2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02350DC-E732-4289-9439-D2C3C81B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C29C277-EF5C-404A-BBD9-1D28FB9F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程序校验证据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7F037C8-211E-4DCC-8FDB-2909878D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检查图片ID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店铺和章节归属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32D0AD3A-F21E-4B2F-BAA5-D2647241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A2B64CB-905A-489F-BAEF-DAF38EEE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F793CDA-2444-4EE6-AAEA-8C8AC43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展示审核页面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540600C-616B-4687-8DED-6686186D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结论与图片同屏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范围可以回查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6D9F49E2-C028-4681-B02C-082E0992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83A286A-702D-464D-A883-9B08D54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04532D6-CC27-4471-8511-0C44F08A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用户通过或退回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831A820-C6E5-4618-AC29-5F0AEFEB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满意则锁定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不满意只重做本章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4DFAEB78-1BC5-41AF-87DB-413EB2F8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4FC0447-399E-4767-937E-1A376238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A2F3ECE-1187-49B7-9699-AB5A0B8D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生成最终PDF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619D5EB-77FE-4620-B499-39D867B1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全部通过后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本地排版输出</a:t>
            </a:r>
          </a:p>
        </p:txBody>
      </p:sp>
      <p:sp>
        <p:nvSpPr>
          <p:cNvPr id="34" name="hard-validation">
            <a:extLst xmlns:a="http://schemas.openxmlformats.org/drawingml/2006/main">
              <a:ext uri="{FF2B5EF4-FFF2-40B4-BE49-F238E27FC236}">
                <a16:creationId xmlns:a16="http://schemas.microsoft.com/office/drawing/2014/main" id="{975C1B2D-A207-4D0B-8C5D-93F37B6B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70116828-A70D-4AB4-B925-74EDE21A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系统负责什么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FB5E4BC-96CF-4793-8CF0-4BA7F1F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检查图片ID是否来自本次任务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检查目标店与竞品归属是否正确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检查五个章节是否齐全且不重复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保存每章审核状态和修订版本</a:t>
            </a:r>
          </a:p>
        </p:txBody>
      </p:sp>
      <p:sp>
        <p:nvSpPr>
          <p:cNvPr id="37" name="soft-validation">
            <a:extLst xmlns:a="http://schemas.openxmlformats.org/drawingml/2006/main">
              <a:ext uri="{FF2B5EF4-FFF2-40B4-BE49-F238E27FC236}">
                <a16:creationId xmlns:a16="http://schemas.microsoft.com/office/drawing/2014/main" id="{A9095317-AC0D-4FD2-B68C-A93C0ECC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79982E8-7313-4D68-87AB-FC1831F7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用户负责什么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29DBE02-7869-492E-A820-F5BD584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14850"/>
            <a:ext cx="5010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对照支持图和反例图检查结论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判断推导是否符合业务认知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通过可信章节，退回有问题章节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五章全部通过后生成并下载PDF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2D668B58-FFC4-4547-AF74-9C9EEB50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49E29E98-2A8D-45D3-B5EA-4A9C883F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354972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D2EF596-8D5B-4FB1-BCA6-E61BED27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1/5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796DE6-B2F5-4228-8863-E0382CFF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Demo：先确认报告范围与证据契约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2165FF-E9C4-480C-AFC8-A81CAF0B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界面先说明目标店铺、品类选择方式、竞品可比边界与费用提示；用户确认后才启动分析。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DF8937-0543-49DF-8F20-3F2E1167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6C5EB7D-C68F-4C6D-83ED-817AF878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03f37fee5428f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A41E5E28-0240-477A-9124-418303F0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8CCBC94-CF17-4EA8-B648-72D77F25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39E05F14-7194-4CC4-8CD7-5490AFB4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确认后再启动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702D868-7F75-47B3-9B68-BBFBA71D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2BBD319C-BB4F-40DB-A257-9E7F7498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478234F-D16D-4987-A32A-5A786290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选择目标店铺与报告范围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BE011C76-6D37-43FE-A119-DAC2F7E9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997FCD4B-B6EA-48DF-B3F3-76B9B50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确认系统自动选样方法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C6147E4C-2DB2-4860-89F1-313D4721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7A9446D8-5000-4E34-ABCF-42EDE00A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理解竞品边界后启动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74B7B02-EA66-4590-A937-C0A000B6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6C55F12-EE70-4FAA-834E-6196ED4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486837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1C586EB-D276-49D4-B5C0-63378F0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2/5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A7A018-68F8-4052-B3C8-E813F6C5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Demo：分析完成后先看统计与草稿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C820CB-7376-46C2-AB00-C881DD75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任务页汇总分析进度、证据覆盖、缓存复用、实际费用和五章草稿，便于进入逐章审核。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A5F9E0-D8FC-427D-857C-D0C153BE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299C1CC8-2709-4679-BBF7-32648D46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29457c3594960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ADD11C3-76E0-4D79-A345-85E13B58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6D8B82F9-8C2F-4031-A139-8BA6D3C0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98C0212B-C6FC-4210-9D90-99ACA28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打开已完成任务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96C6E41-165D-4763-98E5-E7542AA8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64982D5C-DAE5-44DD-B7F8-5F4F6640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E08BF304-1713-49E9-84AE-E615968C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先确认任务已完整结束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71F3F67-1C47-49CF-ABA5-42540E6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D2760E91-1D79-473D-A3C3-3C08D53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检查证据覆盖与失败项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33826FC6-6C06-4398-B939-2B91AB99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FA8D13B-AA9C-4D81-B3D3-FA4CEA01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打开五章草稿继续审核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B4FDB13E-34ED-4AFC-850D-8B4116C4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8A0DFE9-1A4E-4C6E-B8EE-2C313429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9122466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9054A00C-9F39-4C3D-B435-1C406B0C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3/5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D52C41-9379-4E0F-A3AB-7BCDF5B8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Demo：逐条检查结论、推导与图片证据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B4713C-6937-43B1-A2C0-B60077C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每个Section展示结论、推导、样本范围、观察字段及直接可见的支持图与反例图。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F7B63F-F40A-4C69-BC32-9786C080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FCB76CB4-59C1-4477-B883-92B1FD4B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d7e54d56940d6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C6B7E23-792A-4813-8AA7-280CBF25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3A6157E-7344-408C-A722-2D41B383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A8088EDC-F82E-4C98-A767-70F18EFE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审核Section证据链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5EE07B0-B82A-4A5C-A060-FCD1F1B1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9E0DE95-556D-4D52-B75C-BF1A3479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26E51849-89AD-4E07-B330-3C8CF087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结论与推导同屏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BDB3244A-0DA9-4180-9FB9-53ACC51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04C25DA2-19E5-42EB-B195-91B76B3B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图片直接展示，不只显示ID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F26331BE-FE6E-44B3-9379-B9FDB71E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E290700D-B970-4819-BD8D-E80B2798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店铺归属与样本范围可回查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CFC88F8-BD72-4D68-B912-824BC530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D3C02B91-2154-4718-B7CB-0A62484D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0262825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858A47F-D62E-4968-8D1C-5B67F9E6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4/5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FB1AB0-C634-43B4-B6C1-45774F60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Demo：每个Section独立通过或退回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AA287B-A62A-497B-A738-BEBDA4B8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审核区同时保留“满意 / 不满意”入口；当前章节显示已通过，下一章节继续审核。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1F0536-AF3F-492E-B921-2490D55A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ABED3523-A0E4-4EE8-8F63-EF111F6B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4115a7a204a84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9469E98-5CB1-473F-82B7-FEC32491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6C1E3719-6046-4A02-ACD6-1C9C60E8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74ED520F-8A86-4E14-AAC9-A1E4B36F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逐章做人工判断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DDC2A34-80DB-4699-80FF-CC2F459A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51EE3D4E-FCBA-495A-921A-CBAB5927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2B5304DB-8426-4BF4-8667-1436FD7E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支持图与反例图已展开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F5C93D48-2C65-4BAE-99C2-B164C5DA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6F4AF995-B8E6-4005-8948-3B9A262D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审核状态显示已通过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55694B3-A510-46F0-81A5-D6039BC9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254CDB48-0775-420C-A453-9298ECF3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未通过章节可单独修订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9E96C0F-2027-4BD4-BB22-FEE70319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DE125AD1-EDF8-40A2-A808-504BCAE9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6536681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7BD772DC-883D-4DF9-B505-B267DB9A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5/5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7459B4-C105-4119-A019-E0E2D9CE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Demo：五章通过后生成或下载最终PDF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1EFB43-C72F-46D4-AE76-8AB8AE95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五章通过后，系统只读取同一任务草稿本地排版；最终PDF沿用样片视觉语言，页数由实际内容决定。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11D620-5326-4F87-A4F1-15CD4433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E4DF8A86-190B-467C-AF37-A81D0A72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10990a30a41a5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7D6E97D5-8B75-417C-9C00-1CBCD74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9C897A2B-542E-4707-9EB2-370D49F1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FABEF034-B27D-4F51-950C-69A1AA55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交付最终PDF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6CD6CB1-6C03-4D31-8C93-057F5921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551835CC-148C-4A7E-BAC2-BB46503B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79347CD6-55E5-4AD5-ADE0-F7AB138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生成、浏览、下载三种动作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5C2CEA2-0CBF-4CFF-8324-C7D0D699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7F8A10F-4AB5-4AD8-AC30-08B64061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排版0 Token / 0模型费用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6DE45BFC-D4CF-4E98-8302-6E12194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20B82BAF-564A-4535-B4D5-65D94FE6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结论与证据进入内容驱动版式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10A6140-2E30-4064-AD3A-291A50B6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271377D-4D1B-41DA-A430-C95225D6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6770594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92227003-5447-42D7-A248-2194EA0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PDF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22B4EB-AA62-473D-A875-F6098D9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内容驱动成品由五个 Section 逐层收敛到行动方案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A0EE11-C372-4A79-B3AB-F15A94CD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当前完整任务映射为53页；缺少章节、结论、竞品或重点品类时才会缩短，不应把53页理解为53个结论。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B5BDD2-E42A-4368-B8E1-428EE3C2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3af5aaedd4aa1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B3E492-3ACF-4DF8-A2C5-BB43A4B2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58CC6E3-2D7B-4F7A-8F87-2986A5E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C78D5A-EF49-4539-9C25-1C475E10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店铺规模、重点品类与风格是什么？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67373df6c47e9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C63A75-AAA8-42A2-BBF7-10198F93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DA13FE7-B108-417B-AB3C-FD705A7C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0884656-3B45-4D9A-9741-9599AE68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三类主分析＋六类交叉验证怎样展示商品？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e1864a73c405f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21BEA6F-8116-4A7B-9103-7CD2D534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98A1C2-5D45-42E9-9BE7-30739AF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3797CAF-D726-4034-BEE9-17DB2007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布景、图法与可见模特哪里失序？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c709d3c594937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CA448C-5111-4E47-A1D1-4F9B9D6F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9F50D58-A84D-438B-88A3-016F5BE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1F9EA8-4A13-4202-90C0-07E8958B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在TOPS与SKIRTS可比范围内差在哪里？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8a8400a774e3d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6A7C886-A334-49A3-B713-23512355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结论页＋PLAN A/B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C311AEA-742A-49C8-AC93-4648276D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A05D583-C455-4188-B7B2-B4B8732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下一步怎么改？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CF99CC1B-6DD3-489A-815D-BD02DD2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993470B-168F-45C2-AB9C-2272091D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共同证据契约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B42623D-09B6-44A2-944E-4E4917C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范围与分母清楚 · 图片角色清楚 · 店铺归属清楚 · 结论能够回查到 image_id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17631FB5-29FF-473B-994C-49BC9DF9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96AB9EBA-25F2-4DB3-93AB-4C661737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966712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307172E7-1A0C-44F1-9D28-B8F10BA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FINISHED ARTIFACT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3053C8-7242-41FF-8749-DE6AF7B4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最终PDF沿用样片版式，并绑定已审核证据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F5361C-7B7E-4D14-8C45-BFDCB0F0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每一章都来自已锁定的图片事实、可比竞品范围和人工审核结果。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EB8562-4120-4D3E-84C6-45232688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4ef862ee34da8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85900"/>
            <a:ext cx="6953250" cy="39147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30fb1ea134cf0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f1b3ed7de4a3a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db2f644ed4a78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09875"/>
            <a:ext cx="4191000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metric-当前成品页数">
            <a:extLst xmlns:a="http://schemas.openxmlformats.org/drawingml/2006/main">
              <a:ext uri="{FF2B5EF4-FFF2-40B4-BE49-F238E27FC236}">
                <a16:creationId xmlns:a16="http://schemas.microsoft.com/office/drawing/2014/main" id="{F748558C-F7B3-461D-ADBA-E1DBE8E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10" name="metric-label-当前成品页数">
            <a:extLst xmlns:a="http://schemas.openxmlformats.org/drawingml/2006/main">
              <a:ext uri="{FF2B5EF4-FFF2-40B4-BE49-F238E27FC236}">
                <a16:creationId xmlns:a16="http://schemas.microsoft.com/office/drawing/2014/main" id="{EB98F790-C330-4A7D-BC9F-25EF81F1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当前成品页数</a:t>
            </a:r>
          </a:p>
        </p:txBody>
      </p:sp>
      <p:sp>
        <p:nvSpPr>
          <p:cNvPr id="11" name="metric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4E8322A0-3D4B-4487-B487-BD91241A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label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BCD17CB0-1FEC-4B02-96B2-A933BD48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个可审核 Section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4987AA2-5E90-41C8-9470-BDE9F47B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成品文件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49AEEB3-1EBF-4D92-AE98-1C68CDED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007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Aloruh店铺视觉诊断－内容驱动版－20260827.pdf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81650FE-8FD0-4BFB-B15D-1376733C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C26C9E4E-078B-4684-83B8-4A0F8D9B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final report rendered and visually checked page by page</a:t>
            </a:r>
          </a:p>
        </p:txBody>
      </p:sp>
    </p:spTree>
    <p:extLst>
      <p:ext uri="{BB962C8B-B14F-4D97-AF65-F5344CB8AC3E}">
        <p14:creationId xmlns:p14="http://schemas.microsoft.com/office/powerpoint/2010/main" val="2128717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4B3EC939-FB31-4F1D-B22C-B9A062F0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TO READ THE PDF · 1/3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924F23-8414-4154-BF68-85B60DFE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53页不是53个结论：先识别页面角色，再判断内容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931213-5462-4FE5-B7A9-468F48B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五章共25条核心claim；其余页面负责建立范围、展开证据、显示边界或转化为执行方案。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C21C49-2330-4851-90BC-3A63517C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role-index-0">
            <a:extLst xmlns:a="http://schemas.openxmlformats.org/drawingml/2006/main">
              <a:ext uri="{FF2B5EF4-FFF2-40B4-BE49-F238E27FC236}">
                <a16:creationId xmlns:a16="http://schemas.microsoft.com/office/drawing/2014/main" id="{65935DDB-8BC0-433F-9FFF-0D9F05B2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321526D-C583-4788-B66C-8C78C56F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le-title-0">
            <a:extLst xmlns:a="http://schemas.openxmlformats.org/drawingml/2006/main">
              <a:ext uri="{FF2B5EF4-FFF2-40B4-BE49-F238E27FC236}">
                <a16:creationId xmlns:a16="http://schemas.microsoft.com/office/drawing/2014/main" id="{2B0EB09E-7569-41FB-A4E0-326F74DE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章节页</a:t>
            </a:r>
          </a:p>
        </p:txBody>
      </p:sp>
      <p:sp>
        <p:nvSpPr>
          <p:cNvPr id="8" name="role-pages-0">
            <a:extLst xmlns:a="http://schemas.openxmlformats.org/drawingml/2006/main">
              <a:ext uri="{FF2B5EF4-FFF2-40B4-BE49-F238E27FC236}">
                <a16:creationId xmlns:a16="http://schemas.microsoft.com/office/drawing/2014/main" id="{57CFAB01-7704-4ADA-A9E7-7FF29490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 / 7 / 15 / 26 / 40</a:t>
            </a:r>
          </a:p>
        </p:txBody>
      </p:sp>
      <p:sp>
        <p:nvSpPr>
          <p:cNvPr id="9" name="role-detail-0">
            <a:extLst xmlns:a="http://schemas.openxmlformats.org/drawingml/2006/main">
              <a:ext uri="{FF2B5EF4-FFF2-40B4-BE49-F238E27FC236}">
                <a16:creationId xmlns:a16="http://schemas.microsoft.com/office/drawing/2014/main" id="{2FB851E8-17A1-4D5F-97C6-E34DA599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只负责切换问题，不产生新结论</a:t>
            </a:r>
          </a:p>
        </p:txBody>
      </p:sp>
      <p:sp>
        <p:nvSpPr>
          <p:cNvPr id="10" name="role-index-1">
            <a:extLst xmlns:a="http://schemas.openxmlformats.org/drawingml/2006/main">
              <a:ext uri="{FF2B5EF4-FFF2-40B4-BE49-F238E27FC236}">
                <a16:creationId xmlns:a16="http://schemas.microsoft.com/office/drawing/2014/main" id="{39FD2554-B468-4DAC-AEA3-216566A2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563FD02-916B-40D9-889A-D506D9B9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le-title-1">
            <a:extLst xmlns:a="http://schemas.openxmlformats.org/drawingml/2006/main">
              <a:ext uri="{FF2B5EF4-FFF2-40B4-BE49-F238E27FC236}">
                <a16:creationId xmlns:a16="http://schemas.microsoft.com/office/drawing/2014/main" id="{9C5917BB-1815-416F-88BF-A437B061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事实页</a:t>
            </a:r>
          </a:p>
        </p:txBody>
      </p:sp>
      <p:sp>
        <p:nvSpPr>
          <p:cNvPr id="13" name="role-pages-1">
            <a:extLst xmlns:a="http://schemas.openxmlformats.org/drawingml/2006/main">
              <a:ext uri="{FF2B5EF4-FFF2-40B4-BE49-F238E27FC236}">
                <a16:creationId xmlns:a16="http://schemas.microsoft.com/office/drawing/2014/main" id="{62A617E1-132D-406C-BCDA-0A873308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P3–5</a:t>
            </a:r>
          </a:p>
        </p:txBody>
      </p:sp>
      <p:sp>
        <p:nvSpPr>
          <p:cNvPr id="14" name="role-detail-1">
            <a:extLst xmlns:a="http://schemas.openxmlformats.org/drawingml/2006/main">
              <a:ext uri="{FF2B5EF4-FFF2-40B4-BE49-F238E27FC236}">
                <a16:creationId xmlns:a16="http://schemas.microsoft.com/office/drawing/2014/main" id="{A3564503-7812-4F30-8CA3-6454D98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目录规模与品类占比来自全量数据</a:t>
            </a:r>
          </a:p>
        </p:txBody>
      </p:sp>
      <p:sp>
        <p:nvSpPr>
          <p:cNvPr id="15" name="role-index-2">
            <a:extLst xmlns:a="http://schemas.openxmlformats.org/drawingml/2006/main">
              <a:ext uri="{FF2B5EF4-FFF2-40B4-BE49-F238E27FC236}">
                <a16:creationId xmlns:a16="http://schemas.microsoft.com/office/drawing/2014/main" id="{41D5EECB-91B6-4FFF-9456-36C87279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E7D52C81-11D6-4A9D-959D-03D61359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7645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le-title-2">
            <a:extLst xmlns:a="http://schemas.openxmlformats.org/drawingml/2006/main">
              <a:ext uri="{FF2B5EF4-FFF2-40B4-BE49-F238E27FC236}">
                <a16:creationId xmlns:a16="http://schemas.microsoft.com/office/drawing/2014/main" id="{4F5E31AA-BF9B-4B33-B3DD-D6634336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结论页</a:t>
            </a:r>
          </a:p>
        </p:txBody>
      </p:sp>
      <p:sp>
        <p:nvSpPr>
          <p:cNvPr id="18" name="role-pages-2">
            <a:extLst xmlns:a="http://schemas.openxmlformats.org/drawingml/2006/main">
              <a:ext uri="{FF2B5EF4-FFF2-40B4-BE49-F238E27FC236}">
                <a16:creationId xmlns:a16="http://schemas.microsoft.com/office/drawing/2014/main" id="{230D779C-1E52-4EF6-BC06-993EAAF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如P8 / 28 / 35 / 41</a:t>
            </a:r>
          </a:p>
        </p:txBody>
      </p:sp>
      <p:sp>
        <p:nvSpPr>
          <p:cNvPr id="19" name="role-detail-2">
            <a:extLst xmlns:a="http://schemas.openxmlformats.org/drawingml/2006/main">
              <a:ext uri="{FF2B5EF4-FFF2-40B4-BE49-F238E27FC236}">
                <a16:creationId xmlns:a16="http://schemas.microsoft.com/office/drawing/2014/main" id="{A1297884-1499-46ED-A817-CD23391C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必须能回指推导、分母与观察字段</a:t>
            </a:r>
          </a:p>
        </p:txBody>
      </p:sp>
      <p:sp>
        <p:nvSpPr>
          <p:cNvPr id="20" name="role-index-3">
            <a:extLst xmlns:a="http://schemas.openxmlformats.org/drawingml/2006/main">
              <a:ext uri="{FF2B5EF4-FFF2-40B4-BE49-F238E27FC236}">
                <a16:creationId xmlns:a16="http://schemas.microsoft.com/office/drawing/2014/main" id="{5B69FD0D-F719-4BAD-92E3-0BEFC9C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A3968EB7-E5A1-44FB-A447-ED818E57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764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le-title-3">
            <a:extLst xmlns:a="http://schemas.openxmlformats.org/drawingml/2006/main">
              <a:ext uri="{FF2B5EF4-FFF2-40B4-BE49-F238E27FC236}">
                <a16:creationId xmlns:a16="http://schemas.microsoft.com/office/drawing/2014/main" id="{FB4BC932-4722-4ECD-A4D0-64B87AEF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证据与边界页</a:t>
            </a:r>
          </a:p>
        </p:txBody>
      </p:sp>
      <p:sp>
        <p:nvSpPr>
          <p:cNvPr id="23" name="role-pages-3">
            <a:extLst xmlns:a="http://schemas.openxmlformats.org/drawingml/2006/main">
              <a:ext uri="{FF2B5EF4-FFF2-40B4-BE49-F238E27FC236}">
                <a16:creationId xmlns:a16="http://schemas.microsoft.com/office/drawing/2014/main" id="{5CCA7289-1B6C-4BBF-86DF-EB48051C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如P17 / 29–38 / 50–51</a:t>
            </a:r>
          </a:p>
        </p:txBody>
      </p:sp>
      <p:sp>
        <p:nvSpPr>
          <p:cNvPr id="24" name="role-detail-3">
            <a:extLst xmlns:a="http://schemas.openxmlformats.org/drawingml/2006/main">
              <a:ext uri="{FF2B5EF4-FFF2-40B4-BE49-F238E27FC236}">
                <a16:creationId xmlns:a16="http://schemas.microsoft.com/office/drawing/2014/main" id="{0FBE1CB3-D9D7-419F-B873-DE3B8B1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图片说明claim，不等于新的统计结论</a:t>
            </a:r>
          </a:p>
        </p:txBody>
      </p:sp>
      <p:sp>
        <p:nvSpPr>
          <p:cNvPr id="25" name="role-index-4">
            <a:extLst xmlns:a="http://schemas.openxmlformats.org/drawingml/2006/main">
              <a:ext uri="{FF2B5EF4-FFF2-40B4-BE49-F238E27FC236}">
                <a16:creationId xmlns:a16="http://schemas.microsoft.com/office/drawing/2014/main" id="{6B22E228-1799-4227-BB69-2B6587F7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A264649D-C4D5-4F9A-8E6F-4499AB5F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ole-title-4">
            <a:extLst xmlns:a="http://schemas.openxmlformats.org/drawingml/2006/main">
              <a:ext uri="{FF2B5EF4-FFF2-40B4-BE49-F238E27FC236}">
                <a16:creationId xmlns:a16="http://schemas.microsoft.com/office/drawing/2014/main" id="{71A540A5-2539-4A46-86E8-9B669FC2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建议与方案页</a:t>
            </a:r>
          </a:p>
        </p:txBody>
      </p:sp>
      <p:sp>
        <p:nvSpPr>
          <p:cNvPr id="28" name="role-pages-4">
            <a:extLst xmlns:a="http://schemas.openxmlformats.org/drawingml/2006/main">
              <a:ext uri="{FF2B5EF4-FFF2-40B4-BE49-F238E27FC236}">
                <a16:creationId xmlns:a16="http://schemas.microsoft.com/office/drawing/2014/main" id="{8CD4699C-F447-4D91-8A8D-F2754653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P39 / 43–49 / 52–53</a:t>
            </a:r>
          </a:p>
        </p:txBody>
      </p:sp>
      <p:sp>
        <p:nvSpPr>
          <p:cNvPr id="29" name="role-detail-4">
            <a:extLst xmlns:a="http://schemas.openxmlformats.org/drawingml/2006/main">
              <a:ext uri="{FF2B5EF4-FFF2-40B4-BE49-F238E27FC236}">
                <a16:creationId xmlns:a16="http://schemas.microsoft.com/office/drawing/2014/main" id="{2F66CBBF-C0F8-4539-A644-2F7E95AD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把已验证问题转成图序与拍摄规则</a:t>
            </a:r>
          </a:p>
        </p:txBody>
      </p:sp>
      <p:sp>
        <p:nvSpPr>
          <p:cNvPr id="30" name="reading-rule">
            <a:extLst xmlns:a="http://schemas.openxmlformats.org/drawingml/2006/main">
              <a:ext uri="{FF2B5EF4-FFF2-40B4-BE49-F238E27FC236}">
                <a16:creationId xmlns:a16="http://schemas.microsoft.com/office/drawing/2014/main" id="{D449B16E-15D5-4CEA-BC72-D4FC384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DDD1289-8FD7-49D5-A728-4832FC9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阅读顺序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F54CAE7-8977-4D32-8829-F300FFD0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先读结论和分母 → 再看支持图 → 再看反例边界 → 最后判断建议是否真的由前文推出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21A1CB6B-67AF-4B13-80BE-CA66527E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E2B5AFB5-D27B-41BB-AA44-ED08F27C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752218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8C049868-2952-4BCB-AE9E-9FE7BD6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TO READ THE PDF · 2/3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6DBA97-AC43-4438-BAC4-0C151951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五个Section不是并列目录，而是一条从事实到行动的证据链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88268A-279A-442C-AC27-4E9D4229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前四章分别回答定位、商品、店铺与竞品问题；第五章只能综合前四章，不新增图片观察。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0709A5-3AC3-49D2-8E97-72F7ADC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section-0">
            <a:extLst xmlns:a="http://schemas.openxmlformats.org/drawingml/2006/main">
              <a:ext uri="{FF2B5EF4-FFF2-40B4-BE49-F238E27FC236}">
                <a16:creationId xmlns:a16="http://schemas.microsoft.com/office/drawing/2014/main" id="{DD2CA824-924A-481E-ACBB-62A8EED9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ndex-0">
            <a:extLst xmlns:a="http://schemas.openxmlformats.org/drawingml/2006/main">
              <a:ext uri="{FF2B5EF4-FFF2-40B4-BE49-F238E27FC236}">
                <a16:creationId xmlns:a16="http://schemas.microsoft.com/office/drawing/2014/main" id="{DE6E8456-6A21-45D8-AE08-D41F22B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52F21C0-A6B1-4AF6-8420-6856E68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品牌定位</a:t>
            </a:r>
          </a:p>
        </p:txBody>
      </p:sp>
      <p:sp>
        <p:nvSpPr>
          <p:cNvPr id="8" name="section-pages-0">
            <a:extLst xmlns:a="http://schemas.openxmlformats.org/drawingml/2006/main">
              <a:ext uri="{FF2B5EF4-FFF2-40B4-BE49-F238E27FC236}">
                <a16:creationId xmlns:a16="http://schemas.microsoft.com/office/drawing/2014/main" id="{DF02D602-FA4D-4DF9-AF53-485DD435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9" name="section-question-0">
            <a:extLst xmlns:a="http://schemas.openxmlformats.org/drawingml/2006/main">
              <a:ext uri="{FF2B5EF4-FFF2-40B4-BE49-F238E27FC236}">
                <a16:creationId xmlns:a16="http://schemas.microsoft.com/office/drawing/2014/main" id="{9B8F85E5-AE93-4B7B-BB84-AEFAF4B3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卖什么？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已有何种视觉代码？</a:t>
            </a:r>
          </a:p>
        </p:txBody>
      </p:sp>
      <p:sp>
        <p:nvSpPr>
          <p:cNvPr id="10" name="section-arrow-0">
            <a:extLst xmlns:a="http://schemas.openxmlformats.org/drawingml/2006/main">
              <a:ext uri="{FF2B5EF4-FFF2-40B4-BE49-F238E27FC236}">
                <a16:creationId xmlns:a16="http://schemas.microsoft.com/office/drawing/2014/main" id="{95D078E9-6831-4A2E-AC9E-2A95BF8B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section-1">
            <a:extLst xmlns:a="http://schemas.openxmlformats.org/drawingml/2006/main">
              <a:ext uri="{FF2B5EF4-FFF2-40B4-BE49-F238E27FC236}">
                <a16:creationId xmlns:a16="http://schemas.microsoft.com/office/drawing/2014/main" id="{C5EDDEA2-3058-40B4-AED8-39BF2AC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ndex-1">
            <a:extLst xmlns:a="http://schemas.openxmlformats.org/drawingml/2006/main">
              <a:ext uri="{FF2B5EF4-FFF2-40B4-BE49-F238E27FC236}">
                <a16:creationId xmlns:a16="http://schemas.microsoft.com/office/drawing/2014/main" id="{B8D8E13A-8106-463A-960E-CDE89327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3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146C46C8-E53A-415F-B505-EA53F7CE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</a:t>
            </a:r>
          </a:p>
        </p:txBody>
      </p:sp>
      <p:sp>
        <p:nvSpPr>
          <p:cNvPr id="14" name="section-pages-1">
            <a:extLst xmlns:a="http://schemas.openxmlformats.org/drawingml/2006/main">
              <a:ext uri="{FF2B5EF4-FFF2-40B4-BE49-F238E27FC236}">
                <a16:creationId xmlns:a16="http://schemas.microsoft.com/office/drawing/2014/main" id="{0B6F252A-D067-4F5B-A463-4E62DB21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5" name="section-question-1">
            <a:extLst xmlns:a="http://schemas.openxmlformats.org/drawingml/2006/main">
              <a:ext uri="{FF2B5EF4-FFF2-40B4-BE49-F238E27FC236}">
                <a16:creationId xmlns:a16="http://schemas.microsoft.com/office/drawing/2014/main" id="{273C13FF-5ECE-4B70-96BF-FFB9AF48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卖点是否被看清？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多视角是否互补？</a:t>
            </a:r>
          </a:p>
        </p:txBody>
      </p:sp>
      <p:sp>
        <p:nvSpPr>
          <p:cNvPr id="16" name="section-arrow-1">
            <a:extLst xmlns:a="http://schemas.openxmlformats.org/drawingml/2006/main">
              <a:ext uri="{FF2B5EF4-FFF2-40B4-BE49-F238E27FC236}">
                <a16:creationId xmlns:a16="http://schemas.microsoft.com/office/drawing/2014/main" id="{F3D7D654-F041-4D86-B879-FF32C4CF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539EED97-C369-45FE-A835-EC7A13F0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ction-index-2">
            <a:extLst xmlns:a="http://schemas.openxmlformats.org/drawingml/2006/main">
              <a:ext uri="{FF2B5EF4-FFF2-40B4-BE49-F238E27FC236}">
                <a16:creationId xmlns:a16="http://schemas.microsoft.com/office/drawing/2014/main" id="{4FE91ACF-A522-444E-8555-9B3874AC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19" name="section-title-2">
            <a:extLst xmlns:a="http://schemas.openxmlformats.org/drawingml/2006/main">
              <a:ext uri="{FF2B5EF4-FFF2-40B4-BE49-F238E27FC236}">
                <a16:creationId xmlns:a16="http://schemas.microsoft.com/office/drawing/2014/main" id="{824EFAE2-1EF3-4481-B7A1-2F7948B7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店铺审计</a:t>
            </a:r>
          </a:p>
        </p:txBody>
      </p:sp>
      <p:sp>
        <p:nvSpPr>
          <p:cNvPr id="20" name="section-pages-2">
            <a:extLst xmlns:a="http://schemas.openxmlformats.org/drawingml/2006/main">
              <a:ext uri="{FF2B5EF4-FFF2-40B4-BE49-F238E27FC236}">
                <a16:creationId xmlns:a16="http://schemas.microsoft.com/office/drawing/2014/main" id="{71B528D8-BBA6-4DF5-9B0E-349A3DBE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21" name="section-question-2">
            <a:extLst xmlns:a="http://schemas.openxmlformats.org/drawingml/2006/main">
              <a:ext uri="{FF2B5EF4-FFF2-40B4-BE49-F238E27FC236}">
                <a16:creationId xmlns:a16="http://schemas.microsoft.com/office/drawing/2014/main" id="{A2B25C32-E0B2-42D4-A92B-24DDB6E6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背景、光线、图文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是否形成一致系统？</a:t>
            </a:r>
          </a:p>
        </p:txBody>
      </p:sp>
      <p:sp>
        <p:nvSpPr>
          <p:cNvPr id="22" name="section-arrow-2">
            <a:extLst xmlns:a="http://schemas.openxmlformats.org/drawingml/2006/main">
              <a:ext uri="{FF2B5EF4-FFF2-40B4-BE49-F238E27FC236}">
                <a16:creationId xmlns:a16="http://schemas.microsoft.com/office/drawing/2014/main" id="{0966BBC7-E34D-493E-A3CF-648F02C7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section-3">
            <a:extLst xmlns:a="http://schemas.openxmlformats.org/drawingml/2006/main">
              <a:ext uri="{FF2B5EF4-FFF2-40B4-BE49-F238E27FC236}">
                <a16:creationId xmlns:a16="http://schemas.microsoft.com/office/drawing/2014/main" id="{464407CA-14E8-48BB-A9F5-7934091F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ction-index-3">
            <a:extLst xmlns:a="http://schemas.openxmlformats.org/drawingml/2006/main">
              <a:ext uri="{FF2B5EF4-FFF2-40B4-BE49-F238E27FC236}">
                <a16:creationId xmlns:a16="http://schemas.microsoft.com/office/drawing/2014/main" id="{EC6BB457-6151-4B00-89E6-2143577B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25" name="section-title-3">
            <a:extLst xmlns:a="http://schemas.openxmlformats.org/drawingml/2006/main">
              <a:ext uri="{FF2B5EF4-FFF2-40B4-BE49-F238E27FC236}">
                <a16:creationId xmlns:a16="http://schemas.microsoft.com/office/drawing/2014/main" id="{CB34DA9B-DEAC-41D7-8D04-CF033763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竞品差距</a:t>
            </a:r>
          </a:p>
        </p:txBody>
      </p:sp>
      <p:sp>
        <p:nvSpPr>
          <p:cNvPr id="26" name="section-pages-3">
            <a:extLst xmlns:a="http://schemas.openxmlformats.org/drawingml/2006/main">
              <a:ext uri="{FF2B5EF4-FFF2-40B4-BE49-F238E27FC236}">
                <a16:creationId xmlns:a16="http://schemas.microsoft.com/office/drawing/2014/main" id="{7DF45D08-274D-47B1-8169-643ABF3D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P26–39</a:t>
            </a:r>
          </a:p>
        </p:txBody>
      </p:sp>
      <p:sp>
        <p:nvSpPr>
          <p:cNvPr id="27" name="section-question-3">
            <a:extLst xmlns:a="http://schemas.openxmlformats.org/drawingml/2006/main">
              <a:ext uri="{FF2B5EF4-FFF2-40B4-BE49-F238E27FC236}">
                <a16:creationId xmlns:a16="http://schemas.microsoft.com/office/drawing/2014/main" id="{F215DE8E-7DD9-4218-993E-9DD91BDA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同品类比较中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差的是哪套规则？</a:t>
            </a:r>
          </a:p>
        </p:txBody>
      </p:sp>
      <p:sp>
        <p:nvSpPr>
          <p:cNvPr id="28" name="section-arrow-3">
            <a:extLst xmlns:a="http://schemas.openxmlformats.org/drawingml/2006/main">
              <a:ext uri="{FF2B5EF4-FFF2-40B4-BE49-F238E27FC236}">
                <a16:creationId xmlns:a16="http://schemas.microsoft.com/office/drawing/2014/main" id="{3B237722-C547-4733-9AF2-000EEEAB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section-4">
            <a:extLst xmlns:a="http://schemas.openxmlformats.org/drawingml/2006/main">
              <a:ext uri="{FF2B5EF4-FFF2-40B4-BE49-F238E27FC236}">
                <a16:creationId xmlns:a16="http://schemas.microsoft.com/office/drawing/2014/main" id="{23EEDD2C-E475-4309-B49A-A9D263C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ection-index-4">
            <a:extLst xmlns:a="http://schemas.openxmlformats.org/drawingml/2006/main">
              <a:ext uri="{FF2B5EF4-FFF2-40B4-BE49-F238E27FC236}">
                <a16:creationId xmlns:a16="http://schemas.microsoft.com/office/drawing/2014/main" id="{95AEE41C-5F01-4311-A14D-A1E024F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31" name="section-title-4">
            <a:extLst xmlns:a="http://schemas.openxmlformats.org/drawingml/2006/main">
              <a:ext uri="{FF2B5EF4-FFF2-40B4-BE49-F238E27FC236}">
                <a16:creationId xmlns:a16="http://schemas.microsoft.com/office/drawing/2014/main" id="{9C1017EF-3D4C-4483-8FB2-DF5CE318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升级方向</a:t>
            </a:r>
          </a:p>
        </p:txBody>
      </p:sp>
      <p:sp>
        <p:nvSpPr>
          <p:cNvPr id="32" name="section-pages-4">
            <a:extLst xmlns:a="http://schemas.openxmlformats.org/drawingml/2006/main">
              <a:ext uri="{FF2B5EF4-FFF2-40B4-BE49-F238E27FC236}">
                <a16:creationId xmlns:a16="http://schemas.microsoft.com/office/drawing/2014/main" id="{0A3083D7-B5C8-4EA1-A48C-3501D382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P40–53</a:t>
            </a:r>
          </a:p>
        </p:txBody>
      </p:sp>
      <p:sp>
        <p:nvSpPr>
          <p:cNvPr id="33" name="section-question-4">
            <a:extLst xmlns:a="http://schemas.openxmlformats.org/drawingml/2006/main">
              <a:ext uri="{FF2B5EF4-FFF2-40B4-BE49-F238E27FC236}">
                <a16:creationId xmlns:a16="http://schemas.microsoft.com/office/drawing/2014/main" id="{79197903-BA72-44A6-916B-2D2C4397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哪些规则应固化？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图序怎样落地？</a:t>
            </a:r>
          </a:p>
        </p:txBody>
      </p:sp>
      <p:sp>
        <p:nvSpPr>
          <p:cNvPr id="34" name="chain-metric-0">
            <a:extLst xmlns:a="http://schemas.openxmlformats.org/drawingml/2006/main">
              <a:ext uri="{FF2B5EF4-FFF2-40B4-BE49-F238E27FC236}">
                <a16:creationId xmlns:a16="http://schemas.microsoft.com/office/drawing/2014/main" id="{9C470B90-6859-46B1-B253-DFF9AA58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35" name="chain-label-0">
            <a:extLst xmlns:a="http://schemas.openxmlformats.org/drawingml/2006/main">
              <a:ext uri="{FF2B5EF4-FFF2-40B4-BE49-F238E27FC236}">
                <a16:creationId xmlns:a16="http://schemas.microsoft.com/office/drawing/2014/main" id="{767E18D9-CD2C-4A96-AC68-38D167F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全量目录商品</a:t>
            </a:r>
          </a:p>
        </p:txBody>
      </p:sp>
      <p:sp>
        <p:nvSpPr>
          <p:cNvPr id="36" name="chain-metric-1">
            <a:extLst xmlns:a="http://schemas.openxmlformats.org/drawingml/2006/main">
              <a:ext uri="{FF2B5EF4-FFF2-40B4-BE49-F238E27FC236}">
                <a16:creationId xmlns:a16="http://schemas.microsoft.com/office/drawing/2014/main" id="{A0C5DCF8-6B99-488A-A639-F2E859DF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  <p:sp>
        <p:nvSpPr>
          <p:cNvPr id="37" name="chain-label-1">
            <a:extLst xmlns:a="http://schemas.openxmlformats.org/drawingml/2006/main">
              <a:ext uri="{FF2B5EF4-FFF2-40B4-BE49-F238E27FC236}">
                <a16:creationId xmlns:a16="http://schemas.microsoft.com/office/drawing/2014/main" id="{FD289D2E-58EB-4727-94FD-D7E7D2BB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目标店高清图</a:t>
            </a:r>
          </a:p>
        </p:txBody>
      </p:sp>
      <p:sp>
        <p:nvSpPr>
          <p:cNvPr id="38" name="chain-metric-2">
            <a:extLst xmlns:a="http://schemas.openxmlformats.org/drawingml/2006/main">
              <a:ext uri="{FF2B5EF4-FFF2-40B4-BE49-F238E27FC236}">
                <a16:creationId xmlns:a16="http://schemas.microsoft.com/office/drawing/2014/main" id="{B49B47C3-2F00-471F-B6FA-D08A1642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15,107</a:t>
            </a:r>
          </a:p>
        </p:txBody>
      </p:sp>
      <p:sp>
        <p:nvSpPr>
          <p:cNvPr id="39" name="chain-label-2">
            <a:extLst xmlns:a="http://schemas.openxmlformats.org/drawingml/2006/main">
              <a:ext uri="{FF2B5EF4-FFF2-40B4-BE49-F238E27FC236}">
                <a16:creationId xmlns:a16="http://schemas.microsoft.com/office/drawing/2014/main" id="{ED937839-2BF8-42EF-9FA1-90052D84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竞品标签分母</a:t>
            </a:r>
          </a:p>
        </p:txBody>
      </p:sp>
      <p:sp>
        <p:nvSpPr>
          <p:cNvPr id="40" name="chain-metric-3">
            <a:extLst xmlns:a="http://schemas.openxmlformats.org/drawingml/2006/main">
              <a:ext uri="{FF2B5EF4-FFF2-40B4-BE49-F238E27FC236}">
                <a16:creationId xmlns:a16="http://schemas.microsoft.com/office/drawing/2014/main" id="{6FA1A318-029F-4CBE-AF49-9B3019E2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190</a:t>
            </a:r>
          </a:p>
        </p:txBody>
      </p:sp>
      <p:sp>
        <p:nvSpPr>
          <p:cNvPr id="41" name="chain-label-3">
            <a:extLst xmlns:a="http://schemas.openxmlformats.org/drawingml/2006/main">
              <a:ext uri="{FF2B5EF4-FFF2-40B4-BE49-F238E27FC236}">
                <a16:creationId xmlns:a16="http://schemas.microsoft.com/office/drawing/2014/main" id="{65433BCF-B8B3-4B2B-8C66-05A4C41D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竞品高清复核图</a:t>
            </a:r>
          </a:p>
        </p:txBody>
      </p:sp>
      <p:sp>
        <p:nvSpPr>
          <p:cNvPr id="42" name="chain-metric-4">
            <a:extLst xmlns:a="http://schemas.openxmlformats.org/drawingml/2006/main">
              <a:ext uri="{FF2B5EF4-FFF2-40B4-BE49-F238E27FC236}">
                <a16:creationId xmlns:a16="http://schemas.microsoft.com/office/drawing/2014/main" id="{AA5C68E0-23AE-4021-8187-7FC1C901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349</a:t>
            </a:r>
          </a:p>
        </p:txBody>
      </p:sp>
      <p:sp>
        <p:nvSpPr>
          <p:cNvPr id="43" name="chain-label-4">
            <a:extLst xmlns:a="http://schemas.openxmlformats.org/drawingml/2006/main">
              <a:ext uri="{FF2B5EF4-FFF2-40B4-BE49-F238E27FC236}">
                <a16:creationId xmlns:a16="http://schemas.microsoft.com/office/drawing/2014/main" id="{B9DF85C8-1683-4E20-A056-5BAEE442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Sol逐图观察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65EA06E0-C96A-4B6F-BB54-DACA7DA9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2EA324D1-97BC-448B-B818-94DF3D51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657504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566CF934-BA85-4A6E-AEF8-F334DAC0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TO READ THE PDF · 3/3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537806-1C23-47B3-8517-EC0EB31C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当前报告的主要阅读风险集中在12页，不能按标题直接下结论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BF512C-C497-4596-851C-4CFFBF9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以下问题来自生产界面重新生成的53页PDF与页面配置、真实claim及嵌入图片的逐页对照。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A03AFB-EEF8-4BBB-9A98-B2FB84A7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risk-pages-0">
            <a:extLst xmlns:a="http://schemas.openxmlformats.org/drawingml/2006/main">
              <a:ext uri="{FF2B5EF4-FFF2-40B4-BE49-F238E27FC236}">
                <a16:creationId xmlns:a16="http://schemas.microsoft.com/office/drawing/2014/main" id="{9309FA5F-947D-4023-A3E7-34C75AA0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P5 / P9–11</a:t>
            </a:r>
          </a:p>
        </p:txBody>
      </p:sp>
      <p:sp>
        <p:nvSpPr>
          <p:cNvPr id="6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1A3FEE42-D6A3-4C08-A722-FED90C4B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样本单位写错</a:t>
            </a:r>
          </a:p>
        </p:txBody>
      </p:sp>
      <p:sp>
        <p:nvSpPr>
          <p:cNvPr id="7" name="risk-detail-0">
            <a:extLst xmlns:a="http://schemas.openxmlformats.org/drawingml/2006/main">
              <a:ext uri="{FF2B5EF4-FFF2-40B4-BE49-F238E27FC236}">
                <a16:creationId xmlns:a16="http://schemas.microsoft.com/office/drawing/2014/main" id="{DB0DF0D8-12E5-46F6-836F-BA0A6360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实际是每类随机20个商品，并非20张图；成功读取分别为39、36、34张。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365A9D5-44F3-4A77-9BD4-81EF4B33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isk-pages-1">
            <a:extLst xmlns:a="http://schemas.openxmlformats.org/drawingml/2006/main">
              <a:ext uri="{FF2B5EF4-FFF2-40B4-BE49-F238E27FC236}">
                <a16:creationId xmlns:a16="http://schemas.microsoft.com/office/drawing/2014/main" id="{11664E30-20EC-4941-8F00-1BDC6330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P20 / P22 / P24</a:t>
            </a:r>
          </a:p>
        </p:txBody>
      </p:sp>
      <p:sp>
        <p:nvSpPr>
          <p:cNvPr id="10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8DE38F45-962F-4702-879E-11A22B27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28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标题与claim错位</a:t>
            </a:r>
          </a:p>
        </p:txBody>
      </p:sp>
      <p:sp>
        <p:nvSpPr>
          <p:cNvPr id="11" name="risk-detail-1">
            <a:extLst xmlns:a="http://schemas.openxmlformats.org/drawingml/2006/main">
              <a:ext uri="{FF2B5EF4-FFF2-40B4-BE49-F238E27FC236}">
                <a16:creationId xmlns:a16="http://schemas.microsoft.com/office/drawing/2014/main" id="{01C1648D-C78F-4031-A566-27F876A2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文字模板页绑定光线claim；首图类型页绑定场景claim；模特画像页未绑定模特claim。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D6E7D110-99E3-4A65-95CC-959564E6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sk-pages-2">
            <a:extLst xmlns:a="http://schemas.openxmlformats.org/drawingml/2006/main">
              <a:ext uri="{FF2B5EF4-FFF2-40B4-BE49-F238E27FC236}">
                <a16:creationId xmlns:a16="http://schemas.microsoft.com/office/drawing/2014/main" id="{D833F4B8-9E04-4EB5-998F-4FABEEF7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P43 / P47</a:t>
            </a:r>
          </a:p>
        </p:txBody>
      </p:sp>
      <p:sp>
        <p:nvSpPr>
          <p:cNvPr id="14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635C56D6-7B2F-4F95-AD82-43F934A0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38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口号超过证据</a:t>
            </a:r>
          </a:p>
        </p:txBody>
      </p:sp>
      <p:sp>
        <p:nvSpPr>
          <p:cNvPr id="15" name="risk-detail-2">
            <a:extLst xmlns:a="http://schemas.openxmlformats.org/drawingml/2006/main">
              <a:ext uri="{FF2B5EF4-FFF2-40B4-BE49-F238E27FC236}">
                <a16:creationId xmlns:a16="http://schemas.microsoft.com/office/drawing/2014/main" id="{D4AAA4D4-60EF-4187-A98F-BC395806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“追趋势”和趋势转译流程并非其绑定claim直接推导，应按策略建议阅读。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986FE5F-F5D0-4403-A1D2-A5E25CDE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isk-pages-3">
            <a:extLst xmlns:a="http://schemas.openxmlformats.org/drawingml/2006/main">
              <a:ext uri="{FF2B5EF4-FFF2-40B4-BE49-F238E27FC236}">
                <a16:creationId xmlns:a16="http://schemas.microsoft.com/office/drawing/2014/main" id="{2E1AE69E-BAA8-49B7-9F3B-3A14034F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P48 / P49 / P53</a:t>
            </a:r>
          </a:p>
        </p:txBody>
      </p:sp>
      <p:sp>
        <p:nvSpPr>
          <p:cNvPr id="18" name="risk-title-3">
            <a:extLst xmlns:a="http://schemas.openxmlformats.org/drawingml/2006/main">
              <a:ext uri="{FF2B5EF4-FFF2-40B4-BE49-F238E27FC236}">
                <a16:creationId xmlns:a16="http://schemas.microsoft.com/office/drawing/2014/main" id="{FA237754-D7A5-45DD-A23B-F2ACBD59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对比语义不成立</a:t>
            </a:r>
          </a:p>
        </p:txBody>
      </p:sp>
      <p:sp>
        <p:nvSpPr>
          <p:cNvPr id="19" name="risk-detail-3">
            <a:extLst xmlns:a="http://schemas.openxmlformats.org/drawingml/2006/main">
              <a:ext uri="{FF2B5EF4-FFF2-40B4-BE49-F238E27FC236}">
                <a16:creationId xmlns:a16="http://schemas.microsoft.com/office/drawing/2014/main" id="{A742A4E8-F821-4898-B714-896E2E95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不是同款改造前后；PLAN B实际仍偏棚拍，品牌氛围层证据不足。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5F89A037-F675-4F34-929D-530B7D09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use-note">
            <a:extLst xmlns:a="http://schemas.openxmlformats.org/drawingml/2006/main">
              <a:ext uri="{FF2B5EF4-FFF2-40B4-BE49-F238E27FC236}">
                <a16:creationId xmlns:a16="http://schemas.microsoft.com/office/drawing/2014/main" id="{C0782140-AF35-43BE-B6E5-A0759610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5A6C606-BE85-486E-B87D-6A9E63BF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图片复用审计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ABE5012-8882-4C3E-9343-944133B9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19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187张唯一嵌入图中，52张跨页重复；最极端一张出现15页。重复不一定错误，但必须标明其证据角色。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7C72468E-7E71-40A0-91C5-E80671E5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3100D29D-9807-4B21-953F-C3B8729F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UI PDF page-by-page QA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22871537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3A75F55-7025-4F54-923E-A2E1368A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3F6D90-7BD8-4B1C-8ED7-9BE0F269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附录A1/9：Terra完整Prompt — 通用规则＋维度1–3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40482B-4E93-4892-9134-5635E388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以下文本来自_taxonomy_prompt()；仅为适配页面人工换行，单词与标签未改写。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5FA585-6C01-4C40-8FD2-1891F954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cod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16137A41-E078-43E7-BA75-DB3C7DA4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5FB566CF-84B5-4594-83C5-C7D15432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统一规则（完整）</a:t>
            </a:r>
          </a:p>
        </p:txBody>
      </p:sp>
      <p:sp>
        <p:nvSpPr>
          <p:cNvPr id="7" name="code-body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DE5E6C3B-07C0-438C-BC0A-8309DDB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Analyze every numbered fashion image using exactly the controlled codes below. Use visible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and the supplied title/category only. 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never combine UNKNOWN with another code. Do not infer ethnicity, health, attractiveness or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sensitive traits. product_category must have exactly one value. Other dimensions may have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 to five values. Focus on the primary item sold; accessories belong in styling unless they are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primary product. Return every image once.</a:t>
            </a:r>
          </a:p>
        </p:txBody>
      </p:sp>
      <p:sp>
        <p:nvSpPr>
          <p:cNvPr id="8" name="cod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0D6677C4-82DE-4B53-8405-605E3DA4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04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BFAD0316-A4BC-4305-B7A8-1ED075F8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受控标签字典 01–03 / 15</a:t>
            </a:r>
          </a:p>
        </p:txBody>
      </p:sp>
      <p:sp>
        <p:nvSpPr>
          <p:cNvPr id="10" name="code-body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DC634C82-53D3-4080-96B1-72D9E0B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product_category: DRESSES, TOPS, SKIRTS, TROUSERS, SHORTS, SWIMWEAR, OUTERWEAR, JEANS, JUMPSUITS, PLAYSUITS, SETS, LINGERIE, ACCESSORIES, SHOES, OTHER,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silhouette_fit: BODYCON, FITTED, SLIM, REGULAR, RELAXED, OVERSIZED, A_LINE, STRAIGHT, FLARED, DRAPED, CORSETED,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design_elements: BACKLESS, CUTOUT, HALTER, OFF_SHOULDER, STRAPLESS, SPAGHETTI_STRAP, LACE_UP, SLIT, RUFFLE, TIE_DETAIL, RUCHED, ASYMMETRIC, SHEER_PANEL, EMBELLISHED, PLEATED, UNKNOWN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76AA29BB-622D-4F08-B151-59B3989E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432EA9D-EB9D-4427-ABDA-C7638C33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506496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967903C-9D57-46E1-8512-AD30212E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AF96D9-B9CC-4EFC-8172-53764973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附录A2/9：Terra完整Prompt — 维度4–8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CD99E8-8F0C-4682-AF84-8A3542A1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这些维度行紧接在统一规则后面；它们是允许返回的代码集合，不是五次独立请求。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FB3AE9-857D-4541-83AF-81ADC076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cod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5D36E008-49ED-473F-9421-BDE1DD94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8B00DAEA-B641-41F1-8393-071CAD97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04–08 / 15</a:t>
            </a:r>
          </a:p>
        </p:txBody>
      </p:sp>
      <p:sp>
        <p:nvSpPr>
          <p:cNvPr id="7" name="code-body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6956D122-E752-4E45-8FCE-12E0D6B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BEACH, POOL, WEDDING_GUEST, FESTIVAL, COMMUTE, FORMAL, HOME,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DETAIL, FLAT_LAY, PRODUCT_ONLY,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SITTING, STANDING, MIRROR_SELFIE, HAIR_MOVED, LOOKING_AWAY, INTERACTING_WITH_SCENE,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selling_points: NECKLINE, SHOULDERS, BACK, WAIST, WAIST_HIP, LEGS, HEMLINE, SLEEVES, FABRIC_TEXTURE, DRAPE, PRINT, FULL_OUTFIT,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BEACH, POOL, PARTY, NIGHT, ARCHITECTURE, NATURE, OTHER,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FF8A5483-AADB-47A6-ACD0-A9E58248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CF3D426-78CD-4C5C-9809-0671E9E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13424816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CC392E53-58E8-42D5-B3E2-CEB939BE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E76A3F-EFA2-4066-BA61-683CE33F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附录A3/9：Terra完整Prompt — 维度9–12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EA8DD5-E9D5-468A-A3CF-A9AC05E3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长标签行按页面宽度自动换行；标签拼写与代码完全一致。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9B6C3A-B265-4CD4-85CD-E7F03B0E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cod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BCE8A777-8360-4DB9-87FF-13A0833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4B78CBD2-3728-48D1-9133-8400BF3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09–12 / 15</a:t>
            </a:r>
          </a:p>
        </p:txBody>
      </p:sp>
      <p:sp>
        <p:nvSpPr>
          <p:cNvPr id="7" name="code-body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E30AA01B-DA4E-4CFC-BAA8-FA3BEFE8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material_texture: KNIT, LACE, SATIN_LIKE, SILK_LIKE, DENIM, COTTON_LIKE, CHIFFON, MESH, SEQUIN, LEATHER_LIKE, RIBBED, CROCHET, PLEATED,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color_pattern: COLOR_BLACK, COLOR_WHITE, COLOR_GREY, COLOR_BEIGE, COLOR_BROWN, COLOR_RED, COLOR_PINK, COLOR_ORANGE, COLOR_YELLOW, COLOR_GREEN, COLOR_BLUE, COLOR_PURPLE, COLOR_METALLIC, COLOR_MULTI, PATTERN_SOLID, PATTERN_FLORAL, PATTERN_STRIPE, PATTERN_CHECK, PATTERN_ANIMAL, PATTERN_ABSTRACT, PATTERN_GRAPHIC,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visual_language: ECOMMERCE_CLEAN, EDITORIAL, LIFESTYLE, SOCIAL_UGC, ROMANTIC, VINTAGE, Y2K, MINIMAL, GLAMOROUS, SOFT_LIGHT, NATURAL_LIGHT, DIRECT_FLASH, WARM_TONE, COOL_TONE,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styling: SINGLE_ITEM, FULL_LOOK, LAYERED, ACCESSORIES_VISIBLE, HANDBAG, SHOES_VISIBLE, JEWELRY, MATCHING_SET, SWIM_COVERUP,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780D2C4-72C0-4F9E-8EA6-A6466675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57DADD6-6187-45D3-B8F9-04BB661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982902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B313654-36FF-40B9-BBAF-88B23154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COMPLETE REQUEST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8658FD-E2B3-4CA4-BD61-9DF9E387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附录A4/9：Terra完整Prompt — 维度13–15＋请求封装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16FCEF-E273-4B72-8A03-F02C2395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至此通用规则与15个维度已完整列出；同一请求还会为每张图片追加上下文，并使用严格JSON Schema。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3A483D-3794-4BB2-9B34-4FFE91FC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cod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FC3EAB46-E292-42FF-9F98-AA7DB59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3E153D31-5108-4BB0-B3CB-EF9184F0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13–15 / 15</a:t>
            </a:r>
          </a:p>
        </p:txBody>
      </p:sp>
      <p:sp>
        <p:nvSpPr>
          <p:cNvPr id="7" name="code-body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927F5D17-2A4C-4804-9FBD-EBD3570A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lighting: SOFT_DIFFUSED, NATURAL_DAYLIGHT, HARD_DIRECT, DIRECT_FLASH, WARM_AMBIENT, COOL_AMBIENT, LOW_KEY, HIGH_KEY, MIXED_LIGHT,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model_state: NO_MODEL, STANDING_POSE, WALKING_MOTION, SITTING_POSE, LOOKING_CAMERA, LOOKING_AWAY, FACE_CROPPED, MIRROR_SELFIE, INTERACTING,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graphic_overlay: NONE, TEXT_OVERLAY, PRICE_PROMOTION, LOGO_WATERMARK, COLLAGE, FRAME_BORDER, STICKER_GRAPHIC, UI_SCREENSHOT, UNKNOWN</a:t>
            </a:r>
          </a:p>
        </p:txBody>
      </p:sp>
      <p:sp>
        <p:nvSpPr>
          <p:cNvPr id="8" name="cod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0F0BC4D4-E998-4674-B80C-44D1FC1A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372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99E24276-257B-4EF2-B039-571559F3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每图追加的真实上下文格式</a:t>
            </a:r>
          </a:p>
        </p:txBody>
      </p:sp>
      <p:sp>
        <p:nvSpPr>
          <p:cNvPr id="10" name="code-body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F5109394-15CE-4F2E-B64F-0F792BE3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91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key={item.key}; title={title|unknown};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current_category={category|unknown}; position={position}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input_image(detail=low)</a:t>
            </a:r>
          </a:p>
        </p:txBody>
      </p:sp>
      <p:sp>
        <p:nvSpPr>
          <p:cNvPr id="11" name="cod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1AC30732-1205-4DE8-AAA9-6AC89E1A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5448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de-titl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1FF8DE0A-BB4D-499C-A28C-E6EAE1C8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严格输出契约</a:t>
            </a:r>
          </a:p>
        </p:txBody>
      </p:sp>
      <p:sp>
        <p:nvSpPr>
          <p:cNvPr id="13" name="code-body-严格输出契约">
            <a:extLst xmlns:a="http://schemas.openxmlformats.org/drawingml/2006/main">
              <a:ext uri="{FF2B5EF4-FFF2-40B4-BE49-F238E27FC236}">
                <a16:creationId xmlns:a16="http://schemas.microsoft.com/office/drawing/2014/main" id="{3B4B0CB8-BA52-4998-A19E-C3BA0ABF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506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items[]: i + tags{15 dimensions} + confidence{15 dimensions}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exactly 1; other dimensions 1–5 values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每张输入图必须恰好返回一次；漏图、重复图、漏维度均失败。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6F91C56C-C04B-4E1C-BB81-8CF6096B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C501C72-2B0F-4208-BDEF-30DE0CED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564615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15CD01E-547D-445E-9E15-8B324A16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C336FA-05F5-409D-AB11-F46E8188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附录A5/9：体验1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5DA279-4B7B-41F9-986B-D1621C87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代码原文来自detailed_visual_analysis.py；固定筛选条件在末尾以JSON拼接。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549357-8FAA-4D54-991F-777220B1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cod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63138E62-202E-4AC6-9A9F-1B6B1FB1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EDFB20DB-CB27-46FF-8F1D-1CCB0ACD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_prompt(filters) 完整文本</a:t>
            </a:r>
          </a:p>
        </p:txBody>
      </p:sp>
      <p:sp>
        <p:nvSpPr>
          <p:cNvPr id="7" name="code-body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418758FD-B09F-4BDD-8EF1-75339B2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你是一名电商女装视觉策略负责人。请对同一固定维度组合下的多店铺高清商品图做精细视觉分析，输出中文。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先写肉眼可见事实，再写解释；每个判断都要给 visible_cue。不要推断种族、健康、吸引力等敏感属性。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不要把构图相关性写成 CTR/CVR 因果；经营影响只能写成待 A/B 验证的假设。重点比较：场景、景别、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模特动作、光线、色彩、搭配、服装结构呈现、视觉意图、店铺一致性，并沉淀可复用的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构图-动作-卖点-场景 规则。固定筛选条件：{filters JSON}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4D085762-DBC5-416C-85EE-A52C05B1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04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B1878C85-8D05-4699-98D9-ADE8CA3A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E8D6786E-312D-4974-A254-1CF5FDB4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store={store_id}; product={product_id}; title={title}; category={category}; pixels={width}x{height} ＋ input_image(detail=high)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7B6211A-5206-410A-AE67-CBFCC855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4786EA3F-175A-4A3C-8BA5-18C25946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5198317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22BA4C24-6B28-4781-B887-6E9EDB68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2 OBSERVATIONS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9C3031-F84C-4A84-B7BA-875C6A24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附录A6/9：体验2逐图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ABF53B-5D5A-4B22-8249-BCE0AABD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该Prompt在每个8图批次重复使用；图片上下文保留角色、品牌和竞品证据入选原因。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B2234E-C331-4F4A-87B4-D1FDA468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cod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47C7333F-D6D1-45B3-A283-7C1C6068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02815B81-A88A-47EE-9ED0-FF6DEA1F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_image_prompt() 完整文本</a:t>
            </a:r>
          </a:p>
        </p:txBody>
      </p:sp>
      <p:sp>
        <p:nvSpPr>
          <p:cNvPr id="7" name="code-body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093EBEFD-B19E-400F-B922-7B0D6180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你是女装品牌视觉诊断分析师。逐张分析高清商品图，先记录肉眼可见事实，再写优缺点。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不得使用销量、曝光、点击、转化或ROI，不得推断敏感属性。旧分类标签仅是上下文，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不能替代本次观察。证据线索必须能在图片中复核。竞品图只用于对照，不代表目标店铺。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竞品图只从已完成12维标签覆盖的可比品类全量分布中分层选出；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未覆盖品类不得推断。selection_reasons说明其典型或边界证据角色。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模特相关字段只记录实际可见的在场人数、面部可见性、发型、妆容表现、表情和视线；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不可见时写不可观察。禁止推断年龄、种族、国籍、身高、体型尺寸、健康或吸引力。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产品字段要分别记录廓形、可见设计细节、可见材质纹理和商品展示完整度。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ABF416CE-1A26-4D55-ADCE-CB8274ED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370D34D0-F36B-40B7-BA99-052CD9CC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1E5B2B99-0923-4063-A0D6-A2B14578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{image_id, store_id, product_id, category, role, selection_reasons}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input_image(detail=high)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严格Schema要求每张图返回18项observable、visual_role、strengths、weaknesses、evidence_cues、confidence。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4228F60E-B0C7-4AF0-88F6-06092495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409FBD3-6370-4E24-8E66-EE17492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4754008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BD1DDA3-0302-457B-86BF-3EF510F2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ACTUAL SECTION SYNTHESIS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2BA489-8A41-491A-BAB0-9C17C9B6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附录A7/9：体验2实际单章汇总Prompt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7A819A-BBDF-47A0-B2C7-05C794C3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生产任务不再发送6MB总包；五章分别调用同一个基础Prompt，并各自追加章节要求和裁剪后的证据。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22C1D3-1C2D-4450-82FF-EF8FAD35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" name="cod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D9945F5C-4BF5-4210-9116-5D8A14A8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A1869B56-2D68-40C6-9B70-21DB8F19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_section_prompt(scope, section_id) 完整基础文本</a:t>
            </a:r>
          </a:p>
        </p:txBody>
      </p:sp>
      <p:sp>
        <p:nvSpPr>
          <p:cNvPr id="7" name="code-body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7BE0D44F-4D10-41C8-9ACB-4A3D9BD7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所有入选高清图已完成逐图观察。现在只生成一个视觉诊断章节，输出中文，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不得引用未提供的图片ID。每条结论必须说明推导方法，并列出支持图、反例图、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代表图、样本数、筛选条件和观察字段。不得写销量、曝光、点击、转化或ROI，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不得推断敏感属性、人群画像或代表红人。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章节={section_id}({SECTION_TITLES[section_id]})。要求：{requirements[section_id]}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范围：{scope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EVIDENCE:{按章节角色与字段裁剪后的 evidence JSON}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EAC3784E-B5F4-4399-BEBE-CEE0CAB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FE44330-6837-4D5E-8816-B4613374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8672249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E7885193-4ECD-4A12-8227-FD5BA8EF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REQUIREMENTS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3F0194-75CD-4AFD-AD6D-6F51C480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附录A8/9：五章要求＋执行摘要Prompt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38BB8B-260A-48B1-BBB0-1936177C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这五段requirements是真实发送内容；章节完成后再用一个独立Prompt压缩为2–4条执行摘要。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052B37-B79E-4D53-9168-7752929A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" name="cod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4AD93893-AB83-4F87-9ED0-B4F280D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F6A6035D-609D-4E7E-9613-F392083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requirements[section_id]（生产原文）</a:t>
            </a:r>
          </a:p>
        </p:txBody>
      </p:sp>
      <p:sp>
        <p:nvSpPr>
          <p:cNvPr id="7" name="code-body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02D563E6-6F13-4ED6-94C3-C3610B94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brand_positioning：说明店铺基本信息、全量重点品类、视觉风格划分与品牌信号；商品数和品类占比可引用全量目录，视觉判断只能引用目标店逐图证据。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product_display：分别覆盖前三重点品类，并用补充品类交叉验证产品卖点、动作、常见搭配、廓形、设计细节、材质纹理和图片位互补。不得按position顺序猜正背面。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store_visual_audit：覆盖拍摄布景、拍摄风格、光线、构图、图文叠加和可见模特画像；模特只记录人数、面部可见性、发型、妆容、表情和视线。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competitive_gap：分别写Princess Polly、Motel Rocks、PrettyLittleThing，至少每家一条独立结论；支持图或代表图必须属于该品牌。全量标签分布是统计分母，高清图只复核典型与边界。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visual_upgrade：只根据前四章已验证结论提出升级方向，并复用其有效图片ID；每条建议要说明对应问题、证据和预期视觉改进，不得杜撰新观察。</a:t>
            </a:r>
          </a:p>
        </p:txBody>
      </p:sp>
      <p:sp>
        <p:nvSpPr>
          <p:cNvPr id="8" name="cod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BE3B47A0-6926-4E9D-93C6-7E660B11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9D7BAE13-4E2E-4FFC-BC6D-67A47890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执行摘要Prompt（生产原文）</a:t>
            </a:r>
          </a:p>
        </p:txBody>
      </p:sp>
      <p:sp>
        <p:nvSpPr>
          <p:cNvPr id="10" name="code-body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B1C003D5-C14E-46E6-8B5D-F9F09D7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根据五个已验证章节写2至4条中文执行摘要。不得增加新事实或图片ID。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SECTIONS={五个已完成section JSON}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7EF6829-AE13-47B3-A7AB-09ABB897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20C02DA4-9381-4167-B581-686B72F8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5473875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D765E78-F41C-4C8A-AA90-8F87C54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REVISION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C93E04-9B40-4BF2-A30A-11E610E6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附录A9/9：单章修订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957577-12D3-47BB-8C92-87469B6D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用户判定某章不满意时，只重跑该section；其他四章不重新分析，已完成逐图观察也不重做。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F04260-900C-4D8C-B58C-9E6C33B8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5" name="cod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56182C27-D7D1-4212-B2B1-BCE191D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686853FB-3CB0-48CE-92C9-ED9E9799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revise(section, suggestion, evidence, scope) 完整文本</a:t>
            </a:r>
          </a:p>
        </p:txBody>
      </p:sp>
      <p:sp>
        <p:nvSpPr>
          <p:cNvPr id="7" name="code-body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FF1F531F-449D-4A58-9D34-48AE3912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根据审核意见重新分析一个视觉诊断章节。只能使用给定证据，不得编造图片ID。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保留可支持的结论，修改证据不足或表达不清的部分。输出中文。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SECTION={current section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REVIEW={user suggestion}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SCOPE={scope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EVIDENCE={complete evidence JSON}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989FE38D-E485-45A5-81F8-260F298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FAC0B6-808C-4C2F-8D28-FDE8DFC7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修订仍使用单章严格Schema，并再次检查图片ID；若修订competitive_gap，还会再次执行三品牌点名与品牌证据归属校验。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8DDC82E-00EF-4A51-A4D3-CD6B545A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2B8D92E-95E1-4632-BF34-346D98C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1899681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3B46E05-8ACD-4FAB-80C0-B673A25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0C71F11-E4AD-4DFC-BA1A-94011597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下一步，哪些投入值得做？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C6AFD8A-31B8-4AE2-A806-FC945DC2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054FFA-6892-47BD-BF5D-5A6B7174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竞品覆盖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9CDC881-E8AD-4EA0-946C-92322A3E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是否补齐三家竞品DRESSES、BLOUSES等品类的12维标签，再扩展同品类比较？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11C3ECE-A24C-4BC8-9D61-57B22CFC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9BD573-54A7-4FBA-A890-FFAE60B6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D9F420-E7CC-4B38-A9B7-6AFC9D42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样本规模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A37E15-E5F2-4494-8AC0-22BB3C72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固定抽样是否足够，还是应根据品类规模、视觉差异和结论风险动态扩样？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299A690-C522-4374-9452-2BF3DBF8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FC6D1BC-B427-4500-A039-4C45CEC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DC3B74-7B0A-4B5C-B42D-C7C2E74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E35803F-7AEA-486A-BB66-E4ACFCC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PDF止于结论，还是继续连接拍摄brief、图序规范与选图验收？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83F7B428-56C3-4A67-B8AD-9AB6C798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82C40C-BC9B-458E-8E2A-0A80B1E0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974B354-31BF-4EE0-A775-700D75F0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效果验证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051E3E0-B7A1-4D76-BC17-1E56CC40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如何把视觉规范版本与后续点击、转化或退货指标连接，形成可回看实验？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A8F80F2-ED6C-484F-A2F7-B2025A03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EA9E039-58EB-4C04-B448-3C3EA70E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486373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2026-08-27T13:54:19.7250000Z</dcterms:created>
  <dcterms:modified xsi:type="dcterms:W3CDTF">2026-08-27T13:54:19.7250000Z</dcterms:modified>
</coreProperties>
</file>