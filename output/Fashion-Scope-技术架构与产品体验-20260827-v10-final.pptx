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0636edf1e64436" /><Relationship Type="http://schemas.openxmlformats.org/officeDocument/2006/relationships/extended-properties" Target="/docProps/app.xml" Id="R09c09d7f3d57424c" /><Relationship Type="http://schemas.openxmlformats.org/officeDocument/2006/relationships/officeDocument" Target="/ppt/presentation.xml" Id="Rc4513e98fcf941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87a369162d4df8"/>
  </p:sldMasterIdLst>
  <p:notesMasterIdLst>
    <p:notesMasterId xmlns:r="http://schemas.openxmlformats.org/officeDocument/2006/relationships" r:id="R170b5ef0930c4dc8"/>
  </p:notesMasterIdLst>
  <p:sldIdLst>
    <p:sldId xmlns:r="http://schemas.openxmlformats.org/officeDocument/2006/relationships" id="256" r:id="R55b8a5af312a44fa"/>
    <p:sldId xmlns:r="http://schemas.openxmlformats.org/officeDocument/2006/relationships" id="257" r:id="Rad40ab4d03414d8e"/>
    <p:sldId xmlns:r="http://schemas.openxmlformats.org/officeDocument/2006/relationships" id="258" r:id="Ra9be077093694260"/>
    <p:sldId xmlns:r="http://schemas.openxmlformats.org/officeDocument/2006/relationships" id="259" r:id="R946adcdfa7b34739"/>
    <p:sldId xmlns:r="http://schemas.openxmlformats.org/officeDocument/2006/relationships" id="260" r:id="Rff834786ac224e91"/>
    <p:sldId xmlns:r="http://schemas.openxmlformats.org/officeDocument/2006/relationships" id="261" r:id="R1d2c1e2c60a24316"/>
    <p:sldId xmlns:r="http://schemas.openxmlformats.org/officeDocument/2006/relationships" id="262" r:id="Rad60bc0a981e4afa"/>
    <p:sldId xmlns:r="http://schemas.openxmlformats.org/officeDocument/2006/relationships" id="263" r:id="R26bd7099535c48c3"/>
    <p:sldId xmlns:r="http://schemas.openxmlformats.org/officeDocument/2006/relationships" id="264" r:id="R0e30d4e3fff04531"/>
    <p:sldId xmlns:r="http://schemas.openxmlformats.org/officeDocument/2006/relationships" id="265" r:id="Rc0d097f7769e44c3"/>
    <p:sldId xmlns:r="http://schemas.openxmlformats.org/officeDocument/2006/relationships" id="266" r:id="R89c1209b90a04754"/>
    <p:sldId xmlns:r="http://schemas.openxmlformats.org/officeDocument/2006/relationships" id="267" r:id="Rcdc413dccc674862"/>
    <p:sldId xmlns:r="http://schemas.openxmlformats.org/officeDocument/2006/relationships" id="268" r:id="R7f36934f8e7742a5"/>
    <p:sldId xmlns:r="http://schemas.openxmlformats.org/officeDocument/2006/relationships" id="269" r:id="R51f87715f6b84520"/>
    <p:sldId xmlns:r="http://schemas.openxmlformats.org/officeDocument/2006/relationships" id="270" r:id="Raf2e11e847194862"/>
    <p:sldId xmlns:r="http://schemas.openxmlformats.org/officeDocument/2006/relationships" id="271" r:id="R90e41189223343c3"/>
    <p:sldId xmlns:r="http://schemas.openxmlformats.org/officeDocument/2006/relationships" id="272" r:id="Rb96f134e12f44774"/>
    <p:sldId xmlns:r="http://schemas.openxmlformats.org/officeDocument/2006/relationships" id="273" r:id="Rf58c688b38fa4f47"/>
    <p:sldId xmlns:r="http://schemas.openxmlformats.org/officeDocument/2006/relationships" id="274" r:id="R7dd6ad0b9e1d40e7"/>
    <p:sldId xmlns:r="http://schemas.openxmlformats.org/officeDocument/2006/relationships" id="275" r:id="R685e163c12804657"/>
    <p:sldId xmlns:r="http://schemas.openxmlformats.org/officeDocument/2006/relationships" id="276" r:id="R80eabee497224e41"/>
    <p:sldId xmlns:r="http://schemas.openxmlformats.org/officeDocument/2006/relationships" id="277" r:id="Rb3f21a866e4b48e2"/>
    <p:sldId xmlns:r="http://schemas.openxmlformats.org/officeDocument/2006/relationships" id="278" r:id="R887d5d84d868497b"/>
    <p:sldId xmlns:r="http://schemas.openxmlformats.org/officeDocument/2006/relationships" id="279" r:id="Re908ff776261423a"/>
    <p:sldId xmlns:r="http://schemas.openxmlformats.org/officeDocument/2006/relationships" id="280" r:id="R4153a6439bf34512"/>
    <p:sldId xmlns:r="http://schemas.openxmlformats.org/officeDocument/2006/relationships" id="281" r:id="Rebb70b77242a42dc"/>
    <p:sldId xmlns:r="http://schemas.openxmlformats.org/officeDocument/2006/relationships" id="282" r:id="R9fe52507348a4688"/>
    <p:sldId xmlns:r="http://schemas.openxmlformats.org/officeDocument/2006/relationships" id="283" r:id="R1bd1cbd7cb4b44cf"/>
    <p:sldId xmlns:r="http://schemas.openxmlformats.org/officeDocument/2006/relationships" id="284" r:id="R37988672bbf741fe"/>
    <p:sldId xmlns:r="http://schemas.openxmlformats.org/officeDocument/2006/relationships" id="285" r:id="R79f9cfce8b964ba7"/>
    <p:sldId xmlns:r="http://schemas.openxmlformats.org/officeDocument/2006/relationships" id="286" r:id="R8cf6f8c31c8e45cd"/>
    <p:sldId xmlns:r="http://schemas.openxmlformats.org/officeDocument/2006/relationships" id="287" r:id="Rcd9d4ff3bf4b4f04"/>
    <p:sldId xmlns:r="http://schemas.openxmlformats.org/officeDocument/2006/relationships" id="288" r:id="Rcb65fb94eb2f4ddd"/>
    <p:sldId xmlns:r="http://schemas.openxmlformats.org/officeDocument/2006/relationships" id="289" r:id="R5e2b386a955449cc"/>
    <p:sldId xmlns:r="http://schemas.openxmlformats.org/officeDocument/2006/relationships" id="290" r:id="R8b564210ad394fa3"/>
    <p:sldId xmlns:r="http://schemas.openxmlformats.org/officeDocument/2006/relationships" id="291" r:id="R255b9ef339c74cf0"/>
    <p:sldId xmlns:r="http://schemas.openxmlformats.org/officeDocument/2006/relationships" id="292" r:id="R54d3ba8993214f7a"/>
    <p:sldId xmlns:r="http://schemas.openxmlformats.org/officeDocument/2006/relationships" id="293" r:id="R5a3897fae6f44a04"/>
    <p:sldId xmlns:r="http://schemas.openxmlformats.org/officeDocument/2006/relationships" id="294" r:id="R9ac4f7d082f643dc"/>
    <p:sldId xmlns:r="http://schemas.openxmlformats.org/officeDocument/2006/relationships" id="295" r:id="R69ac8c9efe214ba4"/>
    <p:sldId xmlns:r="http://schemas.openxmlformats.org/officeDocument/2006/relationships" id="296" r:id="R2edfe1700d5d477a"/>
    <p:sldId xmlns:r="http://schemas.openxmlformats.org/officeDocument/2006/relationships" id="297" r:id="Rb4d35328d2234da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032eeb291ac4fc6" /><Relationship Type="http://schemas.openxmlformats.org/officeDocument/2006/relationships/slideMaster" Target="/ppt/slideMasters/slideMaster1.xml" Id="Re787a369162d4df8" /><Relationship Type="http://schemas.openxmlformats.org/officeDocument/2006/relationships/notesMaster" Target="/ppt/notesMasters/notesMaster1.xml" Id="R170b5ef0930c4dc8" /><Relationship Type="http://schemas.openxmlformats.org/officeDocument/2006/relationships/presProps" Target="/ppt/presProps.xml" Id="R83f631ba22304de3" /><Relationship Type="http://schemas.openxmlformats.org/officeDocument/2006/relationships/tableStyles" Target="/ppt/tableStyles.xml" Id="R60b7fc6dce7b4825" /><Relationship Type="http://schemas.openxmlformats.org/officeDocument/2006/relationships/slide" Target="/ppt/slides/slide1.xml" Id="R55b8a5af312a44fa" /><Relationship Type="http://schemas.openxmlformats.org/officeDocument/2006/relationships/slide" Target="/ppt/slides/slide2.xml" Id="Rad40ab4d03414d8e" /><Relationship Type="http://schemas.openxmlformats.org/officeDocument/2006/relationships/slide" Target="/ppt/slides/slide3.xml" Id="Ra9be077093694260" /><Relationship Type="http://schemas.openxmlformats.org/officeDocument/2006/relationships/slide" Target="/ppt/slides/slide4.xml" Id="R946adcdfa7b34739" /><Relationship Type="http://schemas.openxmlformats.org/officeDocument/2006/relationships/slide" Target="/ppt/slides/slide5.xml" Id="Rff834786ac224e91" /><Relationship Type="http://schemas.openxmlformats.org/officeDocument/2006/relationships/slide" Target="/ppt/slides/slide6.xml" Id="R1d2c1e2c60a24316" /><Relationship Type="http://schemas.openxmlformats.org/officeDocument/2006/relationships/slide" Target="/ppt/slides/slide7.xml" Id="Rad60bc0a981e4afa" /><Relationship Type="http://schemas.openxmlformats.org/officeDocument/2006/relationships/slide" Target="/ppt/slides/slide8.xml" Id="R26bd7099535c48c3" /><Relationship Type="http://schemas.openxmlformats.org/officeDocument/2006/relationships/slide" Target="/ppt/slides/slide9.xml" Id="R0e30d4e3fff04531" /><Relationship Type="http://schemas.openxmlformats.org/officeDocument/2006/relationships/slide" Target="/ppt/slides/slide10.xml" Id="Rc0d097f7769e44c3" /><Relationship Type="http://schemas.openxmlformats.org/officeDocument/2006/relationships/slide" Target="/ppt/slides/slide11.xml" Id="R89c1209b90a04754" /><Relationship Type="http://schemas.openxmlformats.org/officeDocument/2006/relationships/slide" Target="/ppt/slides/slide12.xml" Id="Rcdc413dccc674862" /><Relationship Type="http://schemas.openxmlformats.org/officeDocument/2006/relationships/slide" Target="/ppt/slides/slide13.xml" Id="R7f36934f8e7742a5" /><Relationship Type="http://schemas.openxmlformats.org/officeDocument/2006/relationships/slide" Target="/ppt/slides/slide14.xml" Id="R51f87715f6b84520" /><Relationship Type="http://schemas.openxmlformats.org/officeDocument/2006/relationships/slide" Target="/ppt/slides/slide15.xml" Id="Raf2e11e847194862" /><Relationship Type="http://schemas.openxmlformats.org/officeDocument/2006/relationships/slide" Target="/ppt/slides/slide16.xml" Id="R90e41189223343c3" /><Relationship Type="http://schemas.openxmlformats.org/officeDocument/2006/relationships/slide" Target="/ppt/slides/slide17.xml" Id="Rb96f134e12f44774" /><Relationship Type="http://schemas.openxmlformats.org/officeDocument/2006/relationships/slide" Target="/ppt/slides/slide18.xml" Id="Rf58c688b38fa4f47" /><Relationship Type="http://schemas.openxmlformats.org/officeDocument/2006/relationships/slide" Target="/ppt/slides/slide19.xml" Id="R7dd6ad0b9e1d40e7" /><Relationship Type="http://schemas.openxmlformats.org/officeDocument/2006/relationships/slide" Target="/ppt/slides/slide20.xml" Id="R685e163c12804657" /><Relationship Type="http://schemas.openxmlformats.org/officeDocument/2006/relationships/slide" Target="/ppt/slides/slide21.xml" Id="R80eabee497224e41" /><Relationship Type="http://schemas.openxmlformats.org/officeDocument/2006/relationships/slide" Target="/ppt/slides/slide22.xml" Id="Rb3f21a866e4b48e2" /><Relationship Type="http://schemas.openxmlformats.org/officeDocument/2006/relationships/slide" Target="/ppt/slides/slide23.xml" Id="R887d5d84d868497b" /><Relationship Type="http://schemas.openxmlformats.org/officeDocument/2006/relationships/slide" Target="/ppt/slides/slide24.xml" Id="Re908ff776261423a" /><Relationship Type="http://schemas.openxmlformats.org/officeDocument/2006/relationships/slide" Target="/ppt/slides/slide25.xml" Id="R4153a6439bf34512" /><Relationship Type="http://schemas.openxmlformats.org/officeDocument/2006/relationships/slide" Target="/ppt/slides/slide26.xml" Id="Rebb70b77242a42dc" /><Relationship Type="http://schemas.openxmlformats.org/officeDocument/2006/relationships/slide" Target="/ppt/slides/slide27.xml" Id="R9fe52507348a4688" /><Relationship Type="http://schemas.openxmlformats.org/officeDocument/2006/relationships/slide" Target="/ppt/slides/slide28.xml" Id="R1bd1cbd7cb4b44cf" /><Relationship Type="http://schemas.openxmlformats.org/officeDocument/2006/relationships/slide" Target="/ppt/slides/slide29.xml" Id="R37988672bbf741fe" /><Relationship Type="http://schemas.openxmlformats.org/officeDocument/2006/relationships/slide" Target="/ppt/slides/slide30.xml" Id="R79f9cfce8b964ba7" /><Relationship Type="http://schemas.openxmlformats.org/officeDocument/2006/relationships/slide" Target="/ppt/slides/slide31.xml" Id="R8cf6f8c31c8e45cd" /><Relationship Type="http://schemas.openxmlformats.org/officeDocument/2006/relationships/slide" Target="/ppt/slides/slide32.xml" Id="Rcd9d4ff3bf4b4f04" /><Relationship Type="http://schemas.openxmlformats.org/officeDocument/2006/relationships/slide" Target="/ppt/slides/slide33.xml" Id="Rcb65fb94eb2f4ddd" /><Relationship Type="http://schemas.openxmlformats.org/officeDocument/2006/relationships/slide" Target="/ppt/slides/slide34.xml" Id="R5e2b386a955449cc" /><Relationship Type="http://schemas.openxmlformats.org/officeDocument/2006/relationships/slide" Target="/ppt/slides/slide35.xml" Id="R8b564210ad394fa3" /><Relationship Type="http://schemas.openxmlformats.org/officeDocument/2006/relationships/slide" Target="/ppt/slides/slide36.xml" Id="R255b9ef339c74cf0" /><Relationship Type="http://schemas.openxmlformats.org/officeDocument/2006/relationships/slide" Target="/ppt/slides/slide37.xml" Id="R54d3ba8993214f7a" /><Relationship Type="http://schemas.openxmlformats.org/officeDocument/2006/relationships/slide" Target="/ppt/slides/slide38.xml" Id="R5a3897fae6f44a04" /><Relationship Type="http://schemas.openxmlformats.org/officeDocument/2006/relationships/slide" Target="/ppt/slides/slide39.xml" Id="R9ac4f7d082f643dc" /><Relationship Type="http://schemas.openxmlformats.org/officeDocument/2006/relationships/slide" Target="/ppt/slides/slide40.xml" Id="R69ac8c9efe214ba4" /><Relationship Type="http://schemas.openxmlformats.org/officeDocument/2006/relationships/slide" Target="/ppt/slides/slide41.xml" Id="R2edfe1700d5d477a" /><Relationship Type="http://schemas.openxmlformats.org/officeDocument/2006/relationships/slide" Target="/ppt/slides/slide42.xml" Id="Rb4d35328d2234d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2725a21b12f49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9949b175624277" /><Relationship Type="http://schemas.openxmlformats.org/officeDocument/2006/relationships/notesMaster" Target="/ppt/notesMasters/notesMaster1.xml" Id="Ree60f930f798419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2c49047e64e40a5" /><Relationship Type="http://schemas.openxmlformats.org/officeDocument/2006/relationships/notesMaster" Target="/ppt/notesMasters/notesMaster1.xml" Id="Rd81c1b11ed7a461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39b4c4e459644c2" /><Relationship Type="http://schemas.openxmlformats.org/officeDocument/2006/relationships/notesMaster" Target="/ppt/notesMasters/notesMaster1.xml" Id="R4c003f30f890436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83b7538c7c84720" /><Relationship Type="http://schemas.openxmlformats.org/officeDocument/2006/relationships/notesMaster" Target="/ppt/notesMasters/notesMaster1.xml" Id="R21829f04f7054b2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501bccf2b164063" /><Relationship Type="http://schemas.openxmlformats.org/officeDocument/2006/relationships/notesMaster" Target="/ppt/notesMasters/notesMaster1.xml" Id="Rbebb97e7947a447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eee0a0102974986" /><Relationship Type="http://schemas.openxmlformats.org/officeDocument/2006/relationships/notesMaster" Target="/ppt/notesMasters/notesMaster1.xml" Id="Ra83b72db516e4e4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8090c0348a14e98" /><Relationship Type="http://schemas.openxmlformats.org/officeDocument/2006/relationships/notesMaster" Target="/ppt/notesMasters/notesMaster1.xml" Id="Rad03d3e8eee7466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6bd286563b74bef" /><Relationship Type="http://schemas.openxmlformats.org/officeDocument/2006/relationships/notesMaster" Target="/ppt/notesMasters/notesMaster1.xml" Id="R7d2eee08daaf4e2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266352cdd8245c3" /><Relationship Type="http://schemas.openxmlformats.org/officeDocument/2006/relationships/notesMaster" Target="/ppt/notesMasters/notesMaster1.xml" Id="R4ae0682c1aee40b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a4ce15228334e5b" /><Relationship Type="http://schemas.openxmlformats.org/officeDocument/2006/relationships/notesMaster" Target="/ppt/notesMasters/notesMaster1.xml" Id="R050d413aa23c490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5b2b4eaa9a245dc" /><Relationship Type="http://schemas.openxmlformats.org/officeDocument/2006/relationships/notesMaster" Target="/ppt/notesMasters/notesMaster1.xml" Id="R7d9f9b22646c437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4276b6c149a4023" /><Relationship Type="http://schemas.openxmlformats.org/officeDocument/2006/relationships/notesMaster" Target="/ppt/notesMasters/notesMaster1.xml" Id="R22f559b79007453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791c51e6f20464e" /><Relationship Type="http://schemas.openxmlformats.org/officeDocument/2006/relationships/notesMaster" Target="/ppt/notesMasters/notesMaster1.xml" Id="Rf1f7ec8f294743d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9c240c3cd744a7e" /><Relationship Type="http://schemas.openxmlformats.org/officeDocument/2006/relationships/notesMaster" Target="/ppt/notesMasters/notesMaster1.xml" Id="R16fd9757e3d8422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c3d97d4b526486d" /><Relationship Type="http://schemas.openxmlformats.org/officeDocument/2006/relationships/notesMaster" Target="/ppt/notesMasters/notesMaster1.xml" Id="R6e0a449b40f5480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816e128477f4929" /><Relationship Type="http://schemas.openxmlformats.org/officeDocument/2006/relationships/notesMaster" Target="/ppt/notesMasters/notesMaster1.xml" Id="R684be179b8df432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9975ca2f1374530" /><Relationship Type="http://schemas.openxmlformats.org/officeDocument/2006/relationships/notesMaster" Target="/ppt/notesMasters/notesMaster1.xml" Id="Rcd198b783c64489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253042daed247d0" /><Relationship Type="http://schemas.openxmlformats.org/officeDocument/2006/relationships/notesMaster" Target="/ppt/notesMasters/notesMaster1.xml" Id="Rff0777622b0e4bb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d532753eb5740a9" /><Relationship Type="http://schemas.openxmlformats.org/officeDocument/2006/relationships/notesMaster" Target="/ppt/notesMasters/notesMaster1.xml" Id="Rfa2b077e02a040c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130c6fc701d4b34" /><Relationship Type="http://schemas.openxmlformats.org/officeDocument/2006/relationships/notesMaster" Target="/ppt/notesMasters/notesMaster1.xml" Id="R8b33630e55bf49c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291a8594da64221" /><Relationship Type="http://schemas.openxmlformats.org/officeDocument/2006/relationships/notesMaster" Target="/ppt/notesMasters/notesMaster1.xml" Id="R7d0460a8d2124f6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7bc8e7ab4464442" /><Relationship Type="http://schemas.openxmlformats.org/officeDocument/2006/relationships/notesMaster" Target="/ppt/notesMasters/notesMaster1.xml" Id="R6668ce28cd014f2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8bc192ab1d94861" /><Relationship Type="http://schemas.openxmlformats.org/officeDocument/2006/relationships/notesMaster" Target="/ppt/notesMasters/notesMaster1.xml" Id="R49c5751f3b094ec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2e9063796e74ce4" /><Relationship Type="http://schemas.openxmlformats.org/officeDocument/2006/relationships/notesMaster" Target="/ppt/notesMasters/notesMaster1.xml" Id="R21a06ac3e91f426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8aae229405f4f11" /><Relationship Type="http://schemas.openxmlformats.org/officeDocument/2006/relationships/notesMaster" Target="/ppt/notesMasters/notesMaster1.xml" Id="Ra74d73cc652546b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175d7f1f32040c2" /><Relationship Type="http://schemas.openxmlformats.org/officeDocument/2006/relationships/notesMaster" Target="/ppt/notesMasters/notesMaster1.xml" Id="Re5d33884a7bd4e2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c207ba95ad64e8a" /><Relationship Type="http://schemas.openxmlformats.org/officeDocument/2006/relationships/notesMaster" Target="/ppt/notesMasters/notesMaster1.xml" Id="R7d37f8fe08614e9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4c49de6087846f4" /><Relationship Type="http://schemas.openxmlformats.org/officeDocument/2006/relationships/notesMaster" Target="/ppt/notesMasters/notesMaster1.xml" Id="R8adc1b87b74f445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abfb4acda614406" /><Relationship Type="http://schemas.openxmlformats.org/officeDocument/2006/relationships/notesMaster" Target="/ppt/notesMasters/notesMaster1.xml" Id="R6d44df58c3024db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83c506133aa64981" /><Relationship Type="http://schemas.openxmlformats.org/officeDocument/2006/relationships/notesMaster" Target="/ppt/notesMasters/notesMaster1.xml" Id="R97407b6c6b4b427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34ecf34e8834b12" /><Relationship Type="http://schemas.openxmlformats.org/officeDocument/2006/relationships/notesMaster" Target="/ppt/notesMasters/notesMaster1.xml" Id="Raddf9f8b92744a0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7f8a22cab2f241d1" /><Relationship Type="http://schemas.openxmlformats.org/officeDocument/2006/relationships/notesMaster" Target="/ppt/notesMasters/notesMaster1.xml" Id="R24f157840b7d4ba0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ae10779a54c94beb" /><Relationship Type="http://schemas.openxmlformats.org/officeDocument/2006/relationships/notesMaster" Target="/ppt/notesMasters/notesMaster1.xml" Id="Rda1a7322111b45fb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f0afa43f1ebb4903" /><Relationship Type="http://schemas.openxmlformats.org/officeDocument/2006/relationships/notesMaster" Target="/ppt/notesMasters/notesMaster1.xml" Id="R8fa5b625c12649e6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f16d9a52cf854afd" /><Relationship Type="http://schemas.openxmlformats.org/officeDocument/2006/relationships/notesMaster" Target="/ppt/notesMasters/notesMaster1.xml" Id="R35f7067a7ca84117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159a52f27eac49eb" /><Relationship Type="http://schemas.openxmlformats.org/officeDocument/2006/relationships/notesMaster" Target="/ppt/notesMasters/notesMaster1.xml" Id="R6dbaabe2d8774cc2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fac3d9e51a5d4a22" /><Relationship Type="http://schemas.openxmlformats.org/officeDocument/2006/relationships/notesMaster" Target="/ppt/notesMasters/notesMaster1.xml" Id="Re93a1e57e12c4818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564d66a119fe4856" /><Relationship Type="http://schemas.openxmlformats.org/officeDocument/2006/relationships/notesMaster" Target="/ppt/notesMasters/notesMaster1.xml" Id="R4582c1e7b6bf4610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3938a4f1d7324422" /><Relationship Type="http://schemas.openxmlformats.org/officeDocument/2006/relationships/notesMaster" Target="/ppt/notesMasters/notesMaster1.xml" Id="R510fa85296ec4e0b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53f2a5dbc0624fa9" /><Relationship Type="http://schemas.openxmlformats.org/officeDocument/2006/relationships/notesMaster" Target="/ppt/notesMasters/notesMaster1.xml" Id="R4323cd2ce42745e0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d9c14014b89944de" /><Relationship Type="http://schemas.openxmlformats.org/officeDocument/2006/relationships/notesMaster" Target="/ppt/notesMasters/notesMaster1.xml" Id="R0f0f5e610f224351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35284a4b53324843" /><Relationship Type="http://schemas.openxmlformats.org/officeDocument/2006/relationships/notesMaster" Target="/ppt/notesMasters/notesMaster1.xml" Id="R348dd4d748634a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./slides/fashion-scope/assets/page-53.jpg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./app/server.py</a:t>
            </a:r>
          </a:p>
          <a:p xmlns:a="http://schemas.openxmlformats.org/drawingml/2006/main">
            <a:r>
              <a:t>- ./app/database_builder.py</a:t>
            </a:r>
          </a:p>
          <a:p xmlns:a="http://schemas.openxmlformats.org/drawingml/2006/main">
            <a:r>
              <a:t>- ./app/deploy_kevindigital.sh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./pipelines/collection/collect_catalogs.py</a:t>
            </a:r>
          </a:p>
          <a:p xmlns:a="http://schemas.openxmlformats.org/drawingml/2006/main">
            <a:r>
              <a:t>- ./app/database_builder.py</a:t>
            </a:r>
          </a:p>
          <a:p xmlns:a="http://schemas.openxmlformats.org/drawingml/2006/main">
            <a:r>
              <a:t>- ./pipelines/analysis/prepare_aloruh_shein_for_explorer.py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./app/explorer.db</a:t>
            </a:r>
          </a:p>
          <a:p xmlns:a="http://schemas.openxmlformats.org/drawingml/2006/main">
            <a:r>
              <a:t>- ./app/database_builder.py</a:t>
            </a:r>
          </a:p>
          <a:p xmlns:a="http://schemas.openxmlformats.org/drawingml/2006/main">
            <a:r>
              <a:t>- Remote relabeled SQLite aggregate query executed 2026-08-27: 27,355 analyzed images and 650,411 tag rows.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./data/aloruh_shein_browser_export.json</a:t>
            </a:r>
          </a:p>
          <a:p xmlns:a="http://schemas.openxmlformats.org/drawingml/2006/main">
            <a:r>
              <a:t>- ./data/aloruh_shein_browser_export.recollect.partial.json</a:t>
            </a:r>
          </a:p>
          <a:p xmlns:a="http://schemas.openxmlformats.org/drawingml/2006/main">
            <a:r>
              <a:t>- ./pipelines/analysis/prepare_aloruh_shein_for_explorer.py</a:t>
            </a:r>
          </a:p>
          <a:p xmlns:a="http://schemas.openxmlformats.org/drawingml/2006/main">
            <a:r>
              <a:t>- User-confirmed Browser Use login and captcha workflow in current conversation, 2026-08-26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./pipelines/collection/collect_catalogs.py</a:t>
            </a:r>
          </a:p>
          <a:p xmlns:a="http://schemas.openxmlformats.org/drawingml/2006/main">
            <a:r>
              <a:t>- ./app/database_builder.py</a:t>
            </a:r>
          </a:p>
          <a:p xmlns:a="http://schemas.openxmlformats.org/drawingml/2006/main">
            <a:r>
              <a:t>- ./pipelines/analysis/high_resolution_images.py</a:t>
            </a:r>
          </a:p>
          <a:p xmlns:a="http://schemas.openxmlformats.org/drawingml/2006/main">
            <a:r>
              <a:t>- ./pipelines/analysis/report_analysis_runner.py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./pipelines/analysis/fashion_image_analysis.py</a:t>
            </a:r>
          </a:p>
          <a:p xmlns:a="http://schemas.openxmlformats.org/drawingml/2006/main">
            <a:r>
              <a:t>- ./app/src/imageAnalysis.js</a:t>
            </a:r>
          </a:p>
          <a:p xmlns:a="http://schemas.openxmlformats.org/drawingml/2006/main">
            <a:r>
              <a:t>- ./app/database_builder.py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./pipelines/analysis/fashion_image_analysis.py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./pipelines/analysis/fashion_image_analysis.py</a:t>
            </a:r>
          </a:p>
          <a:p xmlns:a="http://schemas.openxmlformats.org/drawingml/2006/main">
            <a:r>
              <a:t>- ./pipelines/analysis/azure_openai_fashion_analyzer.py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./pipelines/analysis/analyze_explorer_images.py</a:t>
            </a:r>
          </a:p>
          <a:p xmlns:a="http://schemas.openxmlformats.org/drawingml/2006/main">
            <a:r>
              <a:t>- ./pipelines/analysis/azure_openai_fashion_analyzer.py</a:t>
            </a:r>
          </a:p>
          <a:p xmlns:a="http://schemas.openxmlformats.org/drawingml/2006/main">
            <a:r>
              <a:t>- ./pipelines/analysis/detailed_visual_analysis.py</a:t>
            </a:r>
          </a:p>
          <a:p xmlns:a="http://schemas.openxmlformats.org/drawingml/2006/main">
            <a:r>
              <a:t>- ./pipelines/analysis/report_analysis_model.py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./pipelines/analysis/azure_openai_fashion_analyzer.py</a:t>
            </a:r>
          </a:p>
          <a:p xmlns:a="http://schemas.openxmlformats.org/drawingml/2006/main">
            <a:r>
              <a:t>- ./pipelines/analysis/fashion_image_analysis.py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./pipelines/analysis/detailed_visual_analysis.py</a:t>
            </a:r>
          </a:p>
          <a:p xmlns:a="http://schemas.openxmlformats.org/drawingml/2006/main">
            <a:r>
              <a:t>- ./pipelines/analysis/report_analysis_model.py</a:t>
            </a:r>
          </a:p>
          <a:p xmlns:a="http://schemas.openxmlformats.org/drawingml/2006/main">
            <a:r>
              <a:t>- ./pipelines/analysis/report_analysis_runner.py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./app/src/ImageDimensions.jsx</a:t>
            </a:r>
          </a:p>
          <a:p xmlns:a="http://schemas.openxmlformats.org/drawingml/2006/main">
            <a:r>
              <a:t>- ./pipelines/analysis/analyze_dimension_selection.py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./pipelines/analysis/analyze_dimension_selection.py</a:t>
            </a:r>
          </a:p>
          <a:p xmlns:a="http://schemas.openxmlformats.org/drawingml/2006/main">
            <a:r>
              <a:t>- ./pipelines/analysis/detailed_visual_analysis.py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slides/fashion-scope/assets/experience1-step1-enter-dimensions.png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slides/fashion-scope/assets/experience1-step2-select-dimensions.png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slides/fashion-scope/assets/experience1-step3-and-filter.png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slides/fashion-scope/assets/experience1-step4-matched-results.png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slides/fashion-scope/assets/experience1-step5-select-for-analysis.png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slides/fashion-scope/assets/experience1-step6-analysis-running.png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slides/fashion-scope/assets/experience1-step7-analysis-result.png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./pipelines/analysis/report_analysis_runner.py</a:t>
            </a:r>
          </a:p>
          <a:p xmlns:a="http://schemas.openxmlformats.org/drawingml/2006/main">
            <a:r>
              <a:t>- ./pipelines/analysis/report_analysis_model.py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./pipelines/analysis/report_analysis_runner.py</a:t>
            </a:r>
          </a:p>
          <a:p xmlns:a="http://schemas.openxmlformats.org/drawingml/2006/main">
            <a:r>
              <a:t>- ./pipelines/analysis/report_analysis_model.py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./pipelines/analysis/report_analysis_model.py</a:t>
            </a:r>
          </a:p>
          <a:p xmlns:a="http://schemas.openxmlformats.org/drawingml/2006/main">
            <a:r>
              <a:t>- ./pipelines/analysis/report_analysis_runner.py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./pipelines/analysis/report_analysis_model.py</a:t>
            </a:r>
          </a:p>
          <a:p xmlns:a="http://schemas.openxmlformats.org/drawingml/2006/main">
            <a:r>
              <a:t>- ./pipelines/analysis/report_analysis_runner.py</a:t>
            </a:r>
          </a:p>
          <a:p xmlns:a="http://schemas.openxmlformats.org/drawingml/2006/main">
            <a:r>
              <a:t>- ./app/src/Reports.jsx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slides/fashion-scope/assets/experience2-step1-start-report-v9.png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slides/fashion-scope/assets/experience2-step2-completed-analysis.png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slides/fashion-scope/assets/experience2-step3-review-section.png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slides/fashion-scope/assets/experience2-step4-approve-section.png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slides/fashion-scope/assets/experience2-step5-final-pdf.png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./app/report_pdf_pages.py</a:t>
            </a:r>
          </a:p>
          <a:p xmlns:a="http://schemas.openxmlformats.org/drawingml/2006/main">
            <a:r>
              <a:t>- ./output/pdf/Aloruh店铺视觉诊断-内容驱动版-20260827.pdf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./output/pdf/Aloruh店铺视觉诊断-内容驱动版-20260827.pdf</a:t>
            </a:r>
          </a:p>
          <a:p xmlns:a="http://schemas.openxmlformats.org/drawingml/2006/main">
            <a:r>
              <a:t>- ./slides/fashion-scope/assets/page-53.jpg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./pipelines/analysis/azure_openai_fashion_analyzer.py</a:t>
            </a:r>
          </a:p>
          <a:p xmlns:a="http://schemas.openxmlformats.org/drawingml/2006/main">
            <a:r>
              <a:t>- ./pipelines/analysis/fashion_image_analysis.py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./pipelines/analysis/fashion_image_analysis.py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./pipelines/analysis/fashion_image_analysis.py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./pipelines/analysis/azure_openai_fashion_analyzer.py</a:t>
            </a:r>
          </a:p>
          <a:p xmlns:a="http://schemas.openxmlformats.org/drawingml/2006/main">
            <a:r>
              <a:t>- ./pipelines/analysis/fashion_image_analysis.py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./pipelines/analysis/detailed_visual_analysis.py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./pipelines/analysis/report_analysis_model.py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./pipelines/analysis/report_analysis_model.py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./pipelines/analysis/report_analysis_model.py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./pipelines/analysis/report_analysis_model.py</a:t>
            </a:r>
          </a:p>
          <a:p xmlns:a="http://schemas.openxmlformats.org/drawingml/2006/main">
            <a:r>
              <a:t>- ./pipelines/analysis/report_analysis_runner.py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synthesis based on the verified Fashion Scope product and report workflow.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4713092e0544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93404b8f944370" /><Relationship Type="http://schemas.openxmlformats.org/officeDocument/2006/relationships/slideLayout" Target="/ppt/slideLayouts/slideLayout1.xml" Id="R40848439af454f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848439af454f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abf57b6c8c47d0" /><Relationship Type="http://schemas.openxmlformats.org/officeDocument/2006/relationships/image" Target="/ppt/media/image.jpeg" Id="R8bf9f3709c874f65" /><Relationship Type="http://schemas.openxmlformats.org/officeDocument/2006/relationships/notesSlide" Target="/ppt/notesSlides/notesSlide1.xml" Id="R9bbd9b96585c40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cd65d8413e4fb9" /><Relationship Type="http://schemas.openxmlformats.org/officeDocument/2006/relationships/notesSlide" Target="/ppt/notesSlides/notesSlide2.xml" Id="Rdaf76d9535564b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a6a549d3de4e69" /><Relationship Type="http://schemas.openxmlformats.org/officeDocument/2006/relationships/notesSlide" Target="/ppt/notesSlides/notesSlide3.xml" Id="Rfce5e794e4ac4df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d691d319764b2f" /><Relationship Type="http://schemas.openxmlformats.org/officeDocument/2006/relationships/notesSlide" Target="/ppt/notesSlides/notesSlide4.xml" Id="Rea5d393d906a46c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eba20f39c44439" /><Relationship Type="http://schemas.openxmlformats.org/officeDocument/2006/relationships/notesSlide" Target="/ppt/notesSlides/notesSlide5.xml" Id="R73fc0a2fc6d949d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ff071aa8014c2b" /><Relationship Type="http://schemas.openxmlformats.org/officeDocument/2006/relationships/notesSlide" Target="/ppt/notesSlides/notesSlide6.xml" Id="Rb477996af11646d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395c6440c0480c" /><Relationship Type="http://schemas.openxmlformats.org/officeDocument/2006/relationships/notesSlide" Target="/ppt/notesSlides/notesSlide7.xml" Id="R26b41bacb8a240d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d99ddc96e34bcb" /><Relationship Type="http://schemas.openxmlformats.org/officeDocument/2006/relationships/notesSlide" Target="/ppt/notesSlides/notesSlide8.xml" Id="R2c0b3e2128f74d8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1dfa2f2e6c4ba5" /><Relationship Type="http://schemas.openxmlformats.org/officeDocument/2006/relationships/notesSlide" Target="/ppt/notesSlides/notesSlide9.xml" Id="Rc841770e04aa424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01c6f3031d41b2" /><Relationship Type="http://schemas.openxmlformats.org/officeDocument/2006/relationships/notesSlide" Target="/ppt/notesSlides/notesSlide10.xml" Id="Rba8fe1ae2331483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c1902a376c4fbe" /><Relationship Type="http://schemas.openxmlformats.org/officeDocument/2006/relationships/notesSlide" Target="/ppt/notesSlides/notesSlide11.xml" Id="Rf42e72129256400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7bb858b5d94c56" /><Relationship Type="http://schemas.openxmlformats.org/officeDocument/2006/relationships/notesSlide" Target="/ppt/notesSlides/notesSlide12.xml" Id="R00e9f37222214c8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19cc3f96d54881" /><Relationship Type="http://schemas.openxmlformats.org/officeDocument/2006/relationships/notesSlide" Target="/ppt/notesSlides/notesSlide13.xml" Id="Re69f997215a0419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832900e36247a1" /><Relationship Type="http://schemas.openxmlformats.org/officeDocument/2006/relationships/notesSlide" Target="/ppt/notesSlides/notesSlide14.xml" Id="R4cf9716e9e77481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f46c51dd674caf" /><Relationship Type="http://schemas.openxmlformats.org/officeDocument/2006/relationships/image" Target="/ppt/media/image.png" Id="R58e3de4593e94942" /><Relationship Type="http://schemas.openxmlformats.org/officeDocument/2006/relationships/notesSlide" Target="/ppt/notesSlides/notesSlide15.xml" Id="Rfb1a54813cd2494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e19fb41624457c" /><Relationship Type="http://schemas.openxmlformats.org/officeDocument/2006/relationships/image" Target="/ppt/media/image2.png" Id="Rf42391d14da14526" /><Relationship Type="http://schemas.openxmlformats.org/officeDocument/2006/relationships/notesSlide" Target="/ppt/notesSlides/notesSlide16.xml" Id="R4fde4a980619459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26156824f7411c" /><Relationship Type="http://schemas.openxmlformats.org/officeDocument/2006/relationships/image" Target="/ppt/media/image3.png" Id="R416b58a848164769" /><Relationship Type="http://schemas.openxmlformats.org/officeDocument/2006/relationships/notesSlide" Target="/ppt/notesSlides/notesSlide17.xml" Id="R355dda1a4fcd48d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d1091a15704bf0" /><Relationship Type="http://schemas.openxmlformats.org/officeDocument/2006/relationships/image" Target="/ppt/media/image4.png" Id="R276b9a252f704a71" /><Relationship Type="http://schemas.openxmlformats.org/officeDocument/2006/relationships/notesSlide" Target="/ppt/notesSlides/notesSlide18.xml" Id="R25858177435c4f4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c8371ffc574bca" /><Relationship Type="http://schemas.openxmlformats.org/officeDocument/2006/relationships/image" Target="/ppt/media/image5.png" Id="Rea61a742bdf548cf" /><Relationship Type="http://schemas.openxmlformats.org/officeDocument/2006/relationships/notesSlide" Target="/ppt/notesSlides/notesSlide19.xml" Id="R4497c8cc4827469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a3bea58b8d4e52" /><Relationship Type="http://schemas.openxmlformats.org/officeDocument/2006/relationships/image" Target="/ppt/media/image6.png" Id="R11b700db14aa4f1e" /><Relationship Type="http://schemas.openxmlformats.org/officeDocument/2006/relationships/notesSlide" Target="/ppt/notesSlides/notesSlide20.xml" Id="Raeb4a89d6f36415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1b8be3233047b9" /><Relationship Type="http://schemas.openxmlformats.org/officeDocument/2006/relationships/image" Target="/ppt/media/image7.png" Id="R9b613aaf91e74019" /><Relationship Type="http://schemas.openxmlformats.org/officeDocument/2006/relationships/notesSlide" Target="/ppt/notesSlides/notesSlide21.xml" Id="R6cd2a28e1199497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2177a7b8064045" /><Relationship Type="http://schemas.openxmlformats.org/officeDocument/2006/relationships/notesSlide" Target="/ppt/notesSlides/notesSlide22.xml" Id="Re5e667805a6a4a4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917b1288764f10" /><Relationship Type="http://schemas.openxmlformats.org/officeDocument/2006/relationships/notesSlide" Target="/ppt/notesSlides/notesSlide23.xml" Id="R8a5cca550b08403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d19473965c4213" /><Relationship Type="http://schemas.openxmlformats.org/officeDocument/2006/relationships/notesSlide" Target="/ppt/notesSlides/notesSlide24.xml" Id="Raf2b5ae985d1435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feb82bfb884214" /><Relationship Type="http://schemas.openxmlformats.org/officeDocument/2006/relationships/notesSlide" Target="/ppt/notesSlides/notesSlide25.xml" Id="R1ea4e66e7176472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0fdb2b3b2a4e05" /><Relationship Type="http://schemas.openxmlformats.org/officeDocument/2006/relationships/image" Target="/ppt/media/image8.png" Id="Rf5357f2d1af14387" /><Relationship Type="http://schemas.openxmlformats.org/officeDocument/2006/relationships/notesSlide" Target="/ppt/notesSlides/notesSlide26.xml" Id="Rfa58dbf9daf243a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23b0c2197a49cf" /><Relationship Type="http://schemas.openxmlformats.org/officeDocument/2006/relationships/image" Target="/ppt/media/image9.png" Id="R5907e631a4b64f84" /><Relationship Type="http://schemas.openxmlformats.org/officeDocument/2006/relationships/notesSlide" Target="/ppt/notesSlides/notesSlide27.xml" Id="R7ef1ce27f28f4ad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e73225abbe40dd" /><Relationship Type="http://schemas.openxmlformats.org/officeDocument/2006/relationships/image" Target="/ppt/media/image10.png" Id="Rb0ba00824e6541f5" /><Relationship Type="http://schemas.openxmlformats.org/officeDocument/2006/relationships/notesSlide" Target="/ppt/notesSlides/notesSlide28.xml" Id="Rb79fa4d643e345d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d2ad7ccc104163" /><Relationship Type="http://schemas.openxmlformats.org/officeDocument/2006/relationships/image" Target="/ppt/media/image11.png" Id="R8cfe68f99dd140e3" /><Relationship Type="http://schemas.openxmlformats.org/officeDocument/2006/relationships/notesSlide" Target="/ppt/notesSlides/notesSlide29.xml" Id="Rc311649a95fd4d0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dfaaf3b2b54f9f" /><Relationship Type="http://schemas.openxmlformats.org/officeDocument/2006/relationships/image" Target="/ppt/media/image12.png" Id="Radc490e8cd61490b" /><Relationship Type="http://schemas.openxmlformats.org/officeDocument/2006/relationships/notesSlide" Target="/ppt/notesSlides/notesSlide30.xml" Id="R6a5e9234390d4793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63ac128d484823" /><Relationship Type="http://schemas.openxmlformats.org/officeDocument/2006/relationships/image" Target="/ppt/media/image2.jpeg" Id="Re3d00fe6630148e8" /><Relationship Type="http://schemas.openxmlformats.org/officeDocument/2006/relationships/image" Target="/ppt/media/image3.jpeg" Id="Rec04445aaece4c31" /><Relationship Type="http://schemas.openxmlformats.org/officeDocument/2006/relationships/image" Target="/ppt/media/image4.jpeg" Id="Rfa757a9d874e414a" /><Relationship Type="http://schemas.openxmlformats.org/officeDocument/2006/relationships/image" Target="/ppt/media/image5.jpeg" Id="Ra428d6153e8748ee" /><Relationship Type="http://schemas.openxmlformats.org/officeDocument/2006/relationships/image" Target="/ppt/media/image6.jpeg" Id="Ra77ce1fa670049bd" /><Relationship Type="http://schemas.openxmlformats.org/officeDocument/2006/relationships/notesSlide" Target="/ppt/notesSlides/notesSlide31.xml" Id="R571767aca7994e1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0fb5041b3c4552" /><Relationship Type="http://schemas.openxmlformats.org/officeDocument/2006/relationships/image" Target="/ppt/media/image7.jpeg" Id="R3e068908cdad4543" /><Relationship Type="http://schemas.openxmlformats.org/officeDocument/2006/relationships/image" Target="/ppt/media/image8.jpeg" Id="Rc91d047703c243c4" /><Relationship Type="http://schemas.openxmlformats.org/officeDocument/2006/relationships/image" Target="/ppt/media/image9.jpeg" Id="Rbc6e7d86b537472f" /><Relationship Type="http://schemas.openxmlformats.org/officeDocument/2006/relationships/image" Target="/ppt/media/image10.jpeg" Id="R87b9582b64a046c6" /><Relationship Type="http://schemas.openxmlformats.org/officeDocument/2006/relationships/notesSlide" Target="/ppt/notesSlides/notesSlide32.xml" Id="R92a213f207b74802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68ed7769b94e30" /><Relationship Type="http://schemas.openxmlformats.org/officeDocument/2006/relationships/notesSlide" Target="/ppt/notesSlides/notesSlide33.xml" Id="Rd347f2f4fa3242a2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4769138f4d4181" /><Relationship Type="http://schemas.openxmlformats.org/officeDocument/2006/relationships/notesSlide" Target="/ppt/notesSlides/notesSlide34.xml" Id="Re91be6656edd4ac7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dceaf7830942f7" /><Relationship Type="http://schemas.openxmlformats.org/officeDocument/2006/relationships/notesSlide" Target="/ppt/notesSlides/notesSlide35.xml" Id="R08e18cf959264acb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f930d993524549" /><Relationship Type="http://schemas.openxmlformats.org/officeDocument/2006/relationships/notesSlide" Target="/ppt/notesSlides/notesSlide36.xml" Id="R7c842bbebb574033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0b677af3584863" /><Relationship Type="http://schemas.openxmlformats.org/officeDocument/2006/relationships/notesSlide" Target="/ppt/notesSlides/notesSlide37.xml" Id="Refb08d271a564314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e184fd28aa4ac5" /><Relationship Type="http://schemas.openxmlformats.org/officeDocument/2006/relationships/notesSlide" Target="/ppt/notesSlides/notesSlide38.xml" Id="R2723ba311f3342fc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f6f53740944653" /><Relationship Type="http://schemas.openxmlformats.org/officeDocument/2006/relationships/notesSlide" Target="/ppt/notesSlides/notesSlide39.xml" Id="R978ec449097f49a0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8e4b667806458b" /><Relationship Type="http://schemas.openxmlformats.org/officeDocument/2006/relationships/notesSlide" Target="/ppt/notesSlides/notesSlide40.xml" Id="R2c7bb9ac858a42e9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edd33975a94ab6" /><Relationship Type="http://schemas.openxmlformats.org/officeDocument/2006/relationships/notesSlide" Target="/ppt/notesSlides/notesSlide41.xml" Id="R09133cb73a7d48ed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5e5b6610d64ab1" /><Relationship Type="http://schemas.openxmlformats.org/officeDocument/2006/relationships/notesSlide" Target="/ppt/notesSlides/notesSlide42.xml" Id="R7702148e29a4438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5609D7B-5E89-411B-8333-9726EF29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FASHION SCOPE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0DA6EDF6-D360-4CB9-9DB1-E4969F6E0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47800"/>
            <a:ext cx="4572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商铺视觉数据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如何变成可交付结论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6932C5E5-8F0A-4659-A0E2-3B9BBE235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00450"/>
            <a:ext cx="457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rPr>
              <a:t>外部数据源 → Aloruh首图15维（竞品12维） → 两种分析工作流 → 内容驱动PDF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E563C7FA-C6C6-407F-BCC6-92F57E377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67300"/>
            <a:ext cx="419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3BAD295-AC3D-48B3-8F55-7350C7CFF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959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COLLECT  /  STANDARDIZE  /  ANALYZE  /  DELIVER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9FC2823-57D1-4ECC-8106-726CDE32D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579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D919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8D9198"/>
                </a:solidFill>
                <a:latin typeface="Arial"/>
                <a:ea typeface="Arial"/>
                <a:cs typeface="Arial"/>
              </a:rPr>
              <a:t>Discussion deck · 2026.08.27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BE1DCA6-603A-4403-A1A1-D6462773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905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D919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D9198"/>
                </a:solidFill>
                <a:latin typeface="Arial"/>
                <a:ea typeface="Arial"/>
                <a:cs typeface="Arial"/>
              </a:rPr>
              <a:t>FINAL DELIVERY / PLAN B</a:t>
            </a:r>
          </a:p>
        </p:txBody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F590EB3A-58ED-4EFA-A548-494AE995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914400"/>
            <a:ext cx="6153150" cy="5219700"/>
          </a:xfrm>
          <a:prstGeom xmlns:a="http://schemas.openxmlformats.org/drawingml/2006/main" prst="roundRect">
            <a:avLst>
              <a:gd name="adj" fmla="val 1460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f9f3709c874f65"/>
          <a:stretch xmlns:a="http://schemas.openxmlformats.org/drawingml/2006/main"/>
        </p:blipFill>
        <p:spPr>
          <a:xfrm xmlns:a="http://schemas.openxmlformats.org/drawingml/2006/main">
            <a:off x="5772150" y="1896273"/>
            <a:ext cx="5772150" cy="324642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0959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eyebrow">
            <a:extLst xmlns:a="http://schemas.openxmlformats.org/drawingml/2006/main">
              <a:ext uri="{FF2B5EF4-FFF2-40B4-BE49-F238E27FC236}">
                <a16:creationId xmlns:a16="http://schemas.microsoft.com/office/drawing/2014/main" id="{5D3F0CD5-5585-499F-8650-4DC9429E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TECHNICAL ARCHITECTURE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42124EC-FB3B-4553-8DAB-65884DE2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架构核心是“批量数据底座＋按需视觉推理”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FFB9BE8-B835-4599-BFC7-1CAF7A71C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高频浏览与筛选由本地数据层承担；只有需要语义判断时才调用视觉模型。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610D8C0-7F5C-46B8-86B2-50188C00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arrow-0">
            <a:extLst xmlns:a="http://schemas.openxmlformats.org/drawingml/2006/main">
              <a:ext uri="{FF2B5EF4-FFF2-40B4-BE49-F238E27FC236}">
                <a16:creationId xmlns:a16="http://schemas.microsoft.com/office/drawing/2014/main" id="{21D2562B-DF57-4723-99D2-84784B5ED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1432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arrow-1">
            <a:extLst xmlns:a="http://schemas.openxmlformats.org/drawingml/2006/main">
              <a:ext uri="{FF2B5EF4-FFF2-40B4-BE49-F238E27FC236}">
                <a16:creationId xmlns:a16="http://schemas.microsoft.com/office/drawing/2014/main" id="{5C23EF9E-D96F-49C9-A5AF-FFFD85C8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1432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arrow-2">
            <a:extLst xmlns:a="http://schemas.openxmlformats.org/drawingml/2006/main">
              <a:ext uri="{FF2B5EF4-FFF2-40B4-BE49-F238E27FC236}">
                <a16:creationId xmlns:a16="http://schemas.microsoft.com/office/drawing/2014/main" id="{12B7B845-3311-4A95-AFF6-5A320BF70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1432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stage-0">
            <a:extLst xmlns:a="http://schemas.openxmlformats.org/drawingml/2006/main">
              <a:ext uri="{FF2B5EF4-FFF2-40B4-BE49-F238E27FC236}">
                <a16:creationId xmlns:a16="http://schemas.microsoft.com/office/drawing/2014/main" id="{3A22EE39-B060-4A0F-AFEF-92159B503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2400300" cy="34290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3C9282B-5E67-41B5-BE80-C7A3AF8A4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574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804E54D-180F-4A45-BB09-04FBD4BCD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33650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外部数据源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7FEAA48-060D-457E-A19F-EF1191263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19526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Shopify /products.json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Algolia browse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WooCommerce Store API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Browser Use＋人工验证</a:t>
            </a:r>
          </a:p>
        </p:txBody>
      </p:sp>
      <p:sp>
        <p:nvSpPr>
          <p:cNvPr id="12" name="stage-1">
            <a:extLst xmlns:a="http://schemas.openxmlformats.org/drawingml/2006/main">
              <a:ext uri="{FF2B5EF4-FFF2-40B4-BE49-F238E27FC236}">
                <a16:creationId xmlns:a16="http://schemas.microsoft.com/office/drawing/2014/main" id="{17AEC6FD-E827-48C6-AF29-4966BA52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09750"/>
            <a:ext cx="2400300" cy="34290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7BEBE6E-DE44-4B31-9E8B-88F615EC1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574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27D2F10D-AB43-4F2D-AA4A-0C17FD12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33650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标准化数据层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C340C23-B801-4C7A-BFDB-376BE0538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33750"/>
            <a:ext cx="19526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统一商品/图片 JSONL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稳定键＋URL/内容去重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Aloruh 1,782张首图15维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竞品12维可比分布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SQLite查询层</a:t>
            </a:r>
          </a:p>
        </p:txBody>
      </p:sp>
      <p:sp>
        <p:nvSpPr>
          <p:cNvPr id="16" name="stage-2">
            <a:extLst xmlns:a="http://schemas.openxmlformats.org/drawingml/2006/main">
              <a:ext uri="{FF2B5EF4-FFF2-40B4-BE49-F238E27FC236}">
                <a16:creationId xmlns:a16="http://schemas.microsoft.com/office/drawing/2014/main" id="{D59B39CD-63C5-47A3-A763-01F0982ED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09750"/>
            <a:ext cx="2400300" cy="34290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3D101FAE-C999-439B-B66B-992C1554D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574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E38F4A2-F334-4BDB-A698-13B77628B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33650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分析与证据引擎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C1AAAAF-BC72-4341-9BB0-EDA8694C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33750"/>
            <a:ext cx="19526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体验1：组合筛选＋精读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体验2：整体分析＋报告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Terra批量打标 / Sol精读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报告共享高清缓存与证据</a:t>
            </a:r>
          </a:p>
        </p:txBody>
      </p:sp>
      <p:sp>
        <p:nvSpPr>
          <p:cNvPr id="20" name="stage-3">
            <a:extLst xmlns:a="http://schemas.openxmlformats.org/drawingml/2006/main">
              <a:ext uri="{FF2B5EF4-FFF2-40B4-BE49-F238E27FC236}">
                <a16:creationId xmlns:a16="http://schemas.microsoft.com/office/drawing/2014/main" id="{A1F1CE75-41B2-4DE5-A499-4D5B247BD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09750"/>
            <a:ext cx="2400300" cy="34290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8699C34B-942E-4CC6-AB19-10925CC5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574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845BB40D-244A-4F2D-ABCB-2BD279DF5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33650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产品与交付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5F1F5C11-3FD5-4CA6-8630-792F135C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33750"/>
            <a:ext cx="19526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React 19 + Vite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Python HTTP API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五个Section逐章审核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ReportLab/Pillow内容驱动PDF</a:t>
            </a:r>
          </a:p>
        </p:txBody>
      </p:sp>
      <p:sp>
        <p:nvSpPr>
          <p:cNvPr id="24" name="box">
            <a:extLst xmlns:a="http://schemas.openxmlformats.org/drawingml/2006/main">
              <a:ext uri="{FF2B5EF4-FFF2-40B4-BE49-F238E27FC236}">
                <a16:creationId xmlns:a16="http://schemas.microsoft.com/office/drawing/2014/main" id="{108C1DA8-FBE3-4882-A4AF-94B6E4AB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05450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DF112FD0-CC98-4851-BCE4-8D053435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生产运行：Nginx 反向代理 → Azure VM 上的 systemd 服务 → 127.0.0.1:8603 → 持久化任务与报告目录</a:t>
            </a:r>
          </a:p>
        </p:txBody>
      </p:sp>
      <p:sp>
        <p:nvSpPr>
          <p:cNvPr id="26" name="rule">
            <a:extLst xmlns:a="http://schemas.openxmlformats.org/drawingml/2006/main">
              <a:ext uri="{FF2B5EF4-FFF2-40B4-BE49-F238E27FC236}">
                <a16:creationId xmlns:a16="http://schemas.microsoft.com/office/drawing/2014/main" id="{C1089F19-BE6A-443B-B092-4C01A249B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footer">
            <a:extLst xmlns:a="http://schemas.openxmlformats.org/drawingml/2006/main">
              <a:ext uri="{FF2B5EF4-FFF2-40B4-BE49-F238E27FC236}">
                <a16:creationId xmlns:a16="http://schemas.microsoft.com/office/drawing/2014/main" id="{25072714-F835-46F4-897F-8877409F4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7598278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eyebrow">
            <a:extLst xmlns:a="http://schemas.openxmlformats.org/drawingml/2006/main">
              <a:ext uri="{FF2B5EF4-FFF2-40B4-BE49-F238E27FC236}">
                <a16:creationId xmlns:a16="http://schemas.microsoft.com/office/drawing/2014/main" id="{738C8DC2-DF31-472C-9C5A-2F7D0BE99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1 · COLLECTION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3A27B5F-E2D0-48E9-ADC3-CC7FD784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外部数据源：每个站点采用最适合它的采集入口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75FB500-F569-4D1A-A66E-FB948BFB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这一页只看四种采集入口与统一入库过程；Aloruh（SHEIN）的人机协作细节在第5页单独展开。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6B96343-CDBB-4E25-B8BB-A6AF85C0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FFD82F81-56AE-41C9-9F29-813C9CBE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26479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28AA9CE-FFD8-435C-8DE4-B76C9E349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226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SHOPIFY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4733897-49F2-47B3-94F5-C7FF19805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Princess Polly / Motel Rocks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960F941-6BF0-4426-A821-44A096682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24150"/>
            <a:ext cx="2286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/products.json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250件/页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集合页补 new / best / sale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8036BEC-F604-4508-B0BF-2A9F23F0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576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商品 · 变体 · 价格 · 图片URL</a:t>
            </a:r>
          </a:p>
        </p:txBody>
      </p:sp>
      <p:sp>
        <p:nvSpPr>
          <p:cNvPr id="10" name="box">
            <a:extLst xmlns:a="http://schemas.openxmlformats.org/drawingml/2006/main">
              <a:ext uri="{FF2B5EF4-FFF2-40B4-BE49-F238E27FC236}">
                <a16:creationId xmlns:a16="http://schemas.microsoft.com/office/drawing/2014/main" id="{A7587D77-E900-49C4-81D1-56D31BD9D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619250"/>
            <a:ext cx="26479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F4601C1-C9EC-4BAE-80A4-68E914909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809750"/>
            <a:ext cx="226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ALGOLIA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9A3E98C-C406-4F8E-8079-AB89D5800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5265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PrettyLittleThing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893B1EE-FA6E-477F-AFE1-3ADDDA824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724150"/>
            <a:ext cx="2286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browse index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1,000件/批＋cursor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另查索引排名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FC2060F7-938D-4E85-907E-397CA4EC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576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商品 · 库存 · 图片 · 热销标记</a:t>
            </a:r>
          </a:p>
        </p:txBody>
      </p: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C38141DE-3568-4D43-84EE-BE38E6884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26479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1536E7C-B1A6-403C-AEA5-502A277C1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09750"/>
            <a:ext cx="226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WOOCOMMERCE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D8FA6DDA-5095-455D-B587-B3F7E03A5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5265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Aloruh local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C17DE860-8791-4036-9F06-91939EEA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24150"/>
            <a:ext cx="2286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Store API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per_page=100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保留robots/sitemap快照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437F3120-941E-4B45-A79B-05088CDB1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576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本地商品 · 标签 · 图片</a:t>
            </a:r>
          </a:p>
        </p:txBody>
      </p:sp>
      <p:sp>
        <p:nvSpPr>
          <p:cNvPr id="20" name="box">
            <a:extLst xmlns:a="http://schemas.openxmlformats.org/drawingml/2006/main">
              <a:ext uri="{FF2B5EF4-FFF2-40B4-BE49-F238E27FC236}">
                <a16:creationId xmlns:a16="http://schemas.microsoft.com/office/drawing/2014/main" id="{C9198F51-62A4-428D-868F-EB6719C14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19250"/>
            <a:ext cx="26479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C4280858-17D0-4135-927A-400CB27ED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809750"/>
            <a:ext cx="226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BROWSER USE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5FA35FCA-E6EB-4254-897D-86632C43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5265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Aloruh SHEIN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CA9CB250-0ED3-4CF9-A047-C13383F8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24150"/>
            <a:ext cx="2286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真实浏览器会话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目录与必要详情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完整流程见第5页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641C9641-FF0F-46B1-B730-866AC76AD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6576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品牌目录 · 商品详情 · 图片序列</a:t>
            </a:r>
          </a:p>
        </p:txBody>
      </p:sp>
      <p:sp>
        <p:nvSpPr>
          <p:cNvPr id="25" name="box">
            <a:extLst xmlns:a="http://schemas.openxmlformats.org/drawingml/2006/main">
              <a:ext uri="{FF2B5EF4-FFF2-40B4-BE49-F238E27FC236}">
                <a16:creationId xmlns:a16="http://schemas.microsoft.com/office/drawing/2014/main" id="{817FABF9-5240-4187-B1C2-D14BAC08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24350"/>
            <a:ext cx="1110615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flow-arrow">
            <a:extLst xmlns:a="http://schemas.openxmlformats.org/drawingml/2006/main">
              <a:ext uri="{FF2B5EF4-FFF2-40B4-BE49-F238E27FC236}">
                <a16:creationId xmlns:a16="http://schemas.microsoft.com/office/drawing/2014/main" id="{3BB7873E-0B82-41CA-B517-514FA35D5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23875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7" name="flow-arrow">
            <a:extLst xmlns:a="http://schemas.openxmlformats.org/drawingml/2006/main">
              <a:ext uri="{FF2B5EF4-FFF2-40B4-BE49-F238E27FC236}">
                <a16:creationId xmlns:a16="http://schemas.microsoft.com/office/drawing/2014/main" id="{D59A2AFF-50BE-44D8-AE09-04BD2975A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23875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8" name="flow-arrow">
            <a:extLst xmlns:a="http://schemas.openxmlformats.org/drawingml/2006/main">
              <a:ext uri="{FF2B5EF4-FFF2-40B4-BE49-F238E27FC236}">
                <a16:creationId xmlns:a16="http://schemas.microsoft.com/office/drawing/2014/main" id="{3CA06A89-F822-462A-88A2-8F58B3BFF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23875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9" name="flow-arrow">
            <a:extLst xmlns:a="http://schemas.openxmlformats.org/drawingml/2006/main">
              <a:ext uri="{FF2B5EF4-FFF2-40B4-BE49-F238E27FC236}">
                <a16:creationId xmlns:a16="http://schemas.microsoft.com/office/drawing/2014/main" id="{6475150B-2E3C-4AB2-8B63-9CEE44467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23875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BF60C6C8-B267-4A7E-9410-861DD3DDF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ALL SOURCES / SHARED LANDING PIPELINE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C8F0F25D-E557-4BA8-BA61-ACB2DDCF3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900AD540-DF18-4C1E-9466-5B632A58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924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分页读取来源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76B780C2-2DFB-416F-9D83-A84FD23F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9530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977BE7DD-84AB-4283-862C-5B033EF6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257800"/>
            <a:ext cx="1924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保存原始响应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0A53A342-6BF2-43B5-A7E1-01BB95BB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9530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C40CBEE6-2D9F-48A6-85D4-11C3019B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257800"/>
            <a:ext cx="1924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展开商品与图片URL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F0EA4DBA-0252-4BA8-A6B4-82A36DAC5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9530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C165865A-CB51-4EF0-840E-3F2BC7409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257800"/>
            <a:ext cx="1924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生成稳定键＋去重</a:t>
            </a:r>
          </a:p>
        </p:txBody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52A919E8-311B-49C6-BB19-965E365C0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9530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473E0E73-4D7C-4742-8E89-4FD07F24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257800"/>
            <a:ext cx="1924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写入SQLite供UI查询</a:t>
            </a:r>
          </a:p>
        </p:txBody>
      </p:sp>
      <p:sp>
        <p:nvSpPr>
          <p:cNvPr id="41" name="rule">
            <a:extLst xmlns:a="http://schemas.openxmlformats.org/drawingml/2006/main">
              <a:ext uri="{FF2B5EF4-FFF2-40B4-BE49-F238E27FC236}">
                <a16:creationId xmlns:a16="http://schemas.microsoft.com/office/drawing/2014/main" id="{2EC10867-13B4-47BC-BAC0-4066D678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footer">
            <a:extLst xmlns:a="http://schemas.openxmlformats.org/drawingml/2006/main">
              <a:ext uri="{FF2B5EF4-FFF2-40B4-BE49-F238E27FC236}">
                <a16:creationId xmlns:a16="http://schemas.microsoft.com/office/drawing/2014/main" id="{91C43E85-B6E6-46F9-80E5-5F2B0448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21017321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eyebrow">
            <a:extLst xmlns:a="http://schemas.openxmlformats.org/drawingml/2006/main">
              <a:ext uri="{FF2B5EF4-FFF2-40B4-BE49-F238E27FC236}">
                <a16:creationId xmlns:a16="http://schemas.microsoft.com/office/drawing/2014/main" id="{1A40AA0B-A494-4782-A384-02D156658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1 · COLLECTION INVENTORY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C89E7F7-6D4D-422B-AC9F-1D4902B15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60,260个商品对应288,831条图片地址，先建索引再按需下载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1D1A66A-4619-4E26-BD9B-717BF4608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一条图片索引 = 一个图片URL＋所属店铺、商品和图片位置；它记录“去哪里取图”，本身不是图片文件。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5BF894C-340A-4110-A816-BD95635BA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inventory-metric-0">
            <a:extLst xmlns:a="http://schemas.openxmlformats.org/drawingml/2006/main">
              <a:ext uri="{FF2B5EF4-FFF2-40B4-BE49-F238E27FC236}">
                <a16:creationId xmlns:a16="http://schemas.microsoft.com/office/drawing/2014/main" id="{FB747C0C-3087-458C-B14C-44C3D30DE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68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60,260</a:t>
            </a:r>
          </a:p>
        </p:txBody>
      </p:sp>
      <p:sp>
        <p:nvSpPr>
          <p:cNvPr id="6" name="inventory-metric-label-0">
            <a:extLst xmlns:a="http://schemas.openxmlformats.org/drawingml/2006/main">
              <a:ext uri="{FF2B5EF4-FFF2-40B4-BE49-F238E27FC236}">
                <a16:creationId xmlns:a16="http://schemas.microsoft.com/office/drawing/2014/main" id="{A4977CEC-0AC4-44D7-8AEF-B63371E53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商品记录</a:t>
            </a:r>
          </a:p>
        </p:txBody>
      </p:sp>
      <p:sp>
        <p:nvSpPr>
          <p:cNvPr id="7" name="inventory-metric-1">
            <a:extLst xmlns:a="http://schemas.openxmlformats.org/drawingml/2006/main">
              <a:ext uri="{FF2B5EF4-FFF2-40B4-BE49-F238E27FC236}">
                <a16:creationId xmlns:a16="http://schemas.microsoft.com/office/drawing/2014/main" id="{DA9B730F-5608-4B3C-AEE3-1CBDEF4EA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4668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288,831</a:t>
            </a:r>
          </a:p>
        </p:txBody>
      </p:sp>
      <p:sp>
        <p:nvSpPr>
          <p:cNvPr id="8" name="inventory-metric-label-1">
            <a:extLst xmlns:a="http://schemas.openxmlformats.org/drawingml/2006/main">
              <a:ext uri="{FF2B5EF4-FFF2-40B4-BE49-F238E27FC236}">
                <a16:creationId xmlns:a16="http://schemas.microsoft.com/office/drawing/2014/main" id="{E8AAFDDD-6064-412A-8C0C-0F397F647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9812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图片URL索引（非文件）</a:t>
            </a:r>
          </a:p>
        </p:txBody>
      </p:sp>
      <p:sp>
        <p:nvSpPr>
          <p:cNvPr id="9" name="inventory-metric-2">
            <a:extLst xmlns:a="http://schemas.openxmlformats.org/drawingml/2006/main">
              <a:ext uri="{FF2B5EF4-FFF2-40B4-BE49-F238E27FC236}">
                <a16:creationId xmlns:a16="http://schemas.microsoft.com/office/drawing/2014/main" id="{56430772-B433-40F0-9050-70FD95F59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4668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27,355</a:t>
            </a:r>
          </a:p>
        </p:txBody>
      </p:sp>
      <p:sp>
        <p:nvSpPr>
          <p:cNvPr id="10" name="inventory-metric-label-2">
            <a:extLst xmlns:a="http://schemas.openxmlformats.org/drawingml/2006/main">
              <a:ext uri="{FF2B5EF4-FFF2-40B4-BE49-F238E27FC236}">
                <a16:creationId xmlns:a16="http://schemas.microsoft.com/office/drawing/2014/main" id="{E306A40A-E8F8-41B9-9B3E-21DE445A2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812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已完成标签分析图片</a:t>
            </a:r>
          </a:p>
        </p:txBody>
      </p:sp>
      <p:sp>
        <p:nvSpPr>
          <p:cNvPr id="11" name="inventory-metric-3">
            <a:extLst xmlns:a="http://schemas.openxmlformats.org/drawingml/2006/main">
              <a:ext uri="{FF2B5EF4-FFF2-40B4-BE49-F238E27FC236}">
                <a16:creationId xmlns:a16="http://schemas.microsoft.com/office/drawing/2014/main" id="{8C3DB1CC-5BC7-40C1-AAA5-F7B635D36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4668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650,411</a:t>
            </a:r>
          </a:p>
        </p:txBody>
      </p:sp>
      <p:sp>
        <p:nvSpPr>
          <p:cNvPr id="12" name="inventory-metric-label-3">
            <a:extLst xmlns:a="http://schemas.openxmlformats.org/drawingml/2006/main">
              <a:ext uri="{FF2B5EF4-FFF2-40B4-BE49-F238E27FC236}">
                <a16:creationId xmlns:a16="http://schemas.microsoft.com/office/drawing/2014/main" id="{97EB9A6A-9EF2-492F-A7CF-824B3338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9812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累计分析标签</a:t>
            </a:r>
          </a:p>
        </p:txBody>
      </p:sp>
      <p:sp>
        <p:nvSpPr>
          <p:cNvPr id="13" name="inventory-table-header">
            <a:extLst xmlns:a="http://schemas.openxmlformats.org/drawingml/2006/main">
              <a:ext uri="{FF2B5EF4-FFF2-40B4-BE49-F238E27FC236}">
                <a16:creationId xmlns:a16="http://schemas.microsoft.com/office/drawing/2014/main" id="{652B6953-B9EA-4E6A-BFD5-870EA2D5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33650"/>
            <a:ext cx="11106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inventory-header-0">
            <a:extLst xmlns:a="http://schemas.openxmlformats.org/drawingml/2006/main">
              <a:ext uri="{FF2B5EF4-FFF2-40B4-BE49-F238E27FC236}">
                <a16:creationId xmlns:a16="http://schemas.microsoft.com/office/drawing/2014/main" id="{79559617-2E3A-4776-8613-BA166A15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店铺</a:t>
            </a:r>
          </a:p>
        </p:txBody>
      </p:sp>
      <p:sp>
        <p:nvSpPr>
          <p:cNvPr id="15" name="inventory-header-1">
            <a:extLst xmlns:a="http://schemas.openxmlformats.org/drawingml/2006/main">
              <a:ext uri="{FF2B5EF4-FFF2-40B4-BE49-F238E27FC236}">
                <a16:creationId xmlns:a16="http://schemas.microsoft.com/office/drawing/2014/main" id="{11A39D41-EE28-4A26-AB0D-B0D29830E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479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商品记录</a:t>
            </a:r>
          </a:p>
        </p:txBody>
      </p:sp>
      <p:sp>
        <p:nvSpPr>
          <p:cNvPr id="16" name="inventory-header-2">
            <a:extLst xmlns:a="http://schemas.openxmlformats.org/drawingml/2006/main">
              <a:ext uri="{FF2B5EF4-FFF2-40B4-BE49-F238E27FC236}">
                <a16:creationId xmlns:a16="http://schemas.microsoft.com/office/drawing/2014/main" id="{24570AB2-69A6-4419-B197-BAEAFAFD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479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图片URL索引（条）</a:t>
            </a:r>
          </a:p>
        </p:txBody>
      </p:sp>
      <p:sp>
        <p:nvSpPr>
          <p:cNvPr id="17" name="inventory-header-3">
            <a:extLst xmlns:a="http://schemas.openxmlformats.org/drawingml/2006/main">
              <a:ext uri="{FF2B5EF4-FFF2-40B4-BE49-F238E27FC236}">
                <a16:creationId xmlns:a16="http://schemas.microsoft.com/office/drawing/2014/main" id="{20E3CC45-6F23-46FA-B232-5E3DFAFD2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6479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已分析图片</a:t>
            </a:r>
          </a:p>
        </p:txBody>
      </p:sp>
      <p:sp>
        <p:nvSpPr>
          <p:cNvPr id="18" name="inventory-store-0">
            <a:extLst xmlns:a="http://schemas.openxmlformats.org/drawingml/2006/main">
              <a:ext uri="{FF2B5EF4-FFF2-40B4-BE49-F238E27FC236}">
                <a16:creationId xmlns:a16="http://schemas.microsoft.com/office/drawing/2014/main" id="{149A902B-85EB-4ECB-A5C7-17D3F0D3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765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Aloruh（SHEIN）</a:t>
            </a:r>
          </a:p>
        </p:txBody>
      </p:sp>
      <p:sp>
        <p:nvSpPr>
          <p:cNvPr id="19" name="inventory-products-0">
            <a:extLst xmlns:a="http://schemas.openxmlformats.org/drawingml/2006/main">
              <a:ext uri="{FF2B5EF4-FFF2-40B4-BE49-F238E27FC236}">
                <a16:creationId xmlns:a16="http://schemas.microsoft.com/office/drawing/2014/main" id="{B127B55A-3CF8-4627-A30B-7984DF817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765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2,848</a:t>
            </a:r>
          </a:p>
        </p:txBody>
      </p:sp>
      <p:sp>
        <p:nvSpPr>
          <p:cNvPr id="20" name="inventory-images-0">
            <a:extLst xmlns:a="http://schemas.openxmlformats.org/drawingml/2006/main">
              <a:ext uri="{FF2B5EF4-FFF2-40B4-BE49-F238E27FC236}">
                <a16:creationId xmlns:a16="http://schemas.microsoft.com/office/drawing/2014/main" id="{F7E19302-5481-400B-8473-FBC417323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765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4,352</a:t>
            </a:r>
          </a:p>
        </p:txBody>
      </p:sp>
      <p:sp>
        <p:nvSpPr>
          <p:cNvPr id="21" name="inventory-analyzed-0">
            <a:extLst xmlns:a="http://schemas.openxmlformats.org/drawingml/2006/main">
              <a:ext uri="{FF2B5EF4-FFF2-40B4-BE49-F238E27FC236}">
                <a16:creationId xmlns:a16="http://schemas.microsoft.com/office/drawing/2014/main" id="{9246943A-E8C1-45DF-8903-F7CCCBBDD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0765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1,782</a:t>
            </a:r>
          </a:p>
        </p:txBody>
      </p:sp>
      <p:sp>
        <p:nvSpPr>
          <p:cNvPr id="22" name="rule">
            <a:extLst xmlns:a="http://schemas.openxmlformats.org/drawingml/2006/main">
              <a:ext uri="{FF2B5EF4-FFF2-40B4-BE49-F238E27FC236}">
                <a16:creationId xmlns:a16="http://schemas.microsoft.com/office/drawing/2014/main" id="{2F7C0B1C-39A7-4246-A0E9-40308994A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19475"/>
            <a:ext cx="11106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inventory-row-bg-1">
            <a:extLst xmlns:a="http://schemas.openxmlformats.org/drawingml/2006/main">
              <a:ext uri="{FF2B5EF4-FFF2-40B4-BE49-F238E27FC236}">
                <a16:creationId xmlns:a16="http://schemas.microsoft.com/office/drawing/2014/main" id="{237303B8-6811-4775-B63E-F31326159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11106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inventory-store-1">
            <a:extLst xmlns:a="http://schemas.openxmlformats.org/drawingml/2006/main">
              <a:ext uri="{FF2B5EF4-FFF2-40B4-BE49-F238E27FC236}">
                <a16:creationId xmlns:a16="http://schemas.microsoft.com/office/drawing/2014/main" id="{54F22594-8783-4EA4-BE0E-0EEF5F930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Aloruh local</a:t>
            </a:r>
          </a:p>
        </p:txBody>
      </p:sp>
      <p:sp>
        <p:nvSpPr>
          <p:cNvPr id="25" name="inventory-products-1">
            <a:extLst xmlns:a="http://schemas.openxmlformats.org/drawingml/2006/main">
              <a:ext uri="{FF2B5EF4-FFF2-40B4-BE49-F238E27FC236}">
                <a16:creationId xmlns:a16="http://schemas.microsoft.com/office/drawing/2014/main" id="{80479DDC-8B5B-48F9-A4B3-61F95DCF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718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10,487</a:t>
            </a:r>
          </a:p>
        </p:txBody>
      </p:sp>
      <p:sp>
        <p:nvSpPr>
          <p:cNvPr id="26" name="inventory-images-1">
            <a:extLst xmlns:a="http://schemas.openxmlformats.org/drawingml/2006/main">
              <a:ext uri="{FF2B5EF4-FFF2-40B4-BE49-F238E27FC236}">
                <a16:creationId xmlns:a16="http://schemas.microsoft.com/office/drawing/2014/main" id="{BA1425DC-196B-4B1D-968A-32C56AE6C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718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10,771</a:t>
            </a:r>
          </a:p>
        </p:txBody>
      </p:sp>
      <p:sp>
        <p:nvSpPr>
          <p:cNvPr id="27" name="inventory-analyzed-1">
            <a:extLst xmlns:a="http://schemas.openxmlformats.org/drawingml/2006/main">
              <a:ext uri="{FF2B5EF4-FFF2-40B4-BE49-F238E27FC236}">
                <a16:creationId xmlns:a16="http://schemas.microsoft.com/office/drawing/2014/main" id="{4F3EE474-79BD-4F90-A8FC-464B0C97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5718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10,466</a:t>
            </a:r>
          </a:p>
        </p:txBody>
      </p:sp>
      <p:sp>
        <p:nvSpPr>
          <p:cNvPr id="28" name="rule">
            <a:extLst xmlns:a="http://schemas.openxmlformats.org/drawingml/2006/main">
              <a:ext uri="{FF2B5EF4-FFF2-40B4-BE49-F238E27FC236}">
                <a16:creationId xmlns:a16="http://schemas.microsoft.com/office/drawing/2014/main" id="{6934DAD0-CBDF-41A6-A2BC-7BA26BB02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14775"/>
            <a:ext cx="11106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inventory-store-2">
            <a:extLst xmlns:a="http://schemas.openxmlformats.org/drawingml/2006/main">
              <a:ext uri="{FF2B5EF4-FFF2-40B4-BE49-F238E27FC236}">
                <a16:creationId xmlns:a16="http://schemas.microsoft.com/office/drawing/2014/main" id="{A81112BB-A29C-445E-80A7-247E1066C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671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Princess Polly</a:t>
            </a:r>
          </a:p>
        </p:txBody>
      </p:sp>
      <p:sp>
        <p:nvSpPr>
          <p:cNvPr id="30" name="inventory-products-2">
            <a:extLst xmlns:a="http://schemas.openxmlformats.org/drawingml/2006/main">
              <a:ext uri="{FF2B5EF4-FFF2-40B4-BE49-F238E27FC236}">
                <a16:creationId xmlns:a16="http://schemas.microsoft.com/office/drawing/2014/main" id="{76797049-4926-4F74-A8F6-574F5F7E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671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17,008</a:t>
            </a:r>
          </a:p>
        </p:txBody>
      </p:sp>
      <p:sp>
        <p:nvSpPr>
          <p:cNvPr id="31" name="inventory-images-2">
            <a:extLst xmlns:a="http://schemas.openxmlformats.org/drawingml/2006/main">
              <a:ext uri="{FF2B5EF4-FFF2-40B4-BE49-F238E27FC236}">
                <a16:creationId xmlns:a16="http://schemas.microsoft.com/office/drawing/2014/main" id="{D6625751-4E41-4369-A137-5452CE4C7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671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119,205</a:t>
            </a:r>
          </a:p>
        </p:txBody>
      </p:sp>
      <p:sp>
        <p:nvSpPr>
          <p:cNvPr id="32" name="inventory-analyzed-2">
            <a:extLst xmlns:a="http://schemas.openxmlformats.org/drawingml/2006/main">
              <a:ext uri="{FF2B5EF4-FFF2-40B4-BE49-F238E27FC236}">
                <a16:creationId xmlns:a16="http://schemas.microsoft.com/office/drawing/2014/main" id="{50C4C55C-B2B3-4294-AB28-F801029C6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0671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5,613</a:t>
            </a:r>
          </a:p>
        </p:txBody>
      </p:sp>
      <p:sp>
        <p:nvSpPr>
          <p:cNvPr id="33" name="rule">
            <a:extLst xmlns:a="http://schemas.openxmlformats.org/drawingml/2006/main">
              <a:ext uri="{FF2B5EF4-FFF2-40B4-BE49-F238E27FC236}">
                <a16:creationId xmlns:a16="http://schemas.microsoft.com/office/drawing/2014/main" id="{5FE94322-7C58-41B8-8A99-993BB82E0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10075"/>
            <a:ext cx="11106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inventory-row-bg-3">
            <a:extLst xmlns:a="http://schemas.openxmlformats.org/drawingml/2006/main">
              <a:ext uri="{FF2B5EF4-FFF2-40B4-BE49-F238E27FC236}">
                <a16:creationId xmlns:a16="http://schemas.microsoft.com/office/drawing/2014/main" id="{CCCCC7E1-4F19-4476-8372-80A6CA37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19600"/>
            <a:ext cx="11106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inventory-store-3">
            <a:extLst xmlns:a="http://schemas.openxmlformats.org/drawingml/2006/main">
              <a:ext uri="{FF2B5EF4-FFF2-40B4-BE49-F238E27FC236}">
                <a16:creationId xmlns:a16="http://schemas.microsoft.com/office/drawing/2014/main" id="{517E8FB2-59B3-41FF-8DA9-D51FCDDF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Motel Rocks</a:t>
            </a:r>
          </a:p>
        </p:txBody>
      </p:sp>
      <p:sp>
        <p:nvSpPr>
          <p:cNvPr id="36" name="inventory-products-3">
            <a:extLst xmlns:a="http://schemas.openxmlformats.org/drawingml/2006/main">
              <a:ext uri="{FF2B5EF4-FFF2-40B4-BE49-F238E27FC236}">
                <a16:creationId xmlns:a16="http://schemas.microsoft.com/office/drawing/2014/main" id="{598ADF76-F752-4BC8-8D2A-175DB76A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5624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4,422</a:t>
            </a:r>
          </a:p>
        </p:txBody>
      </p:sp>
      <p:sp>
        <p:nvSpPr>
          <p:cNvPr id="37" name="inventory-images-3">
            <a:extLst xmlns:a="http://schemas.openxmlformats.org/drawingml/2006/main">
              <a:ext uri="{FF2B5EF4-FFF2-40B4-BE49-F238E27FC236}">
                <a16:creationId xmlns:a16="http://schemas.microsoft.com/office/drawing/2014/main" id="{A958024D-E8A6-42E2-8B2A-D3C5C1B4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624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26,676</a:t>
            </a:r>
          </a:p>
        </p:txBody>
      </p:sp>
      <p:sp>
        <p:nvSpPr>
          <p:cNvPr id="38" name="inventory-analyzed-3">
            <a:extLst xmlns:a="http://schemas.openxmlformats.org/drawingml/2006/main">
              <a:ext uri="{FF2B5EF4-FFF2-40B4-BE49-F238E27FC236}">
                <a16:creationId xmlns:a16="http://schemas.microsoft.com/office/drawing/2014/main" id="{8392B38F-EC03-4C65-8D36-FAA22C4F8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5624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2,141</a:t>
            </a:r>
          </a:p>
        </p:txBody>
      </p:sp>
      <p:sp>
        <p:nvSpPr>
          <p:cNvPr id="39" name="rule">
            <a:extLst xmlns:a="http://schemas.openxmlformats.org/drawingml/2006/main">
              <a:ext uri="{FF2B5EF4-FFF2-40B4-BE49-F238E27FC236}">
                <a16:creationId xmlns:a16="http://schemas.microsoft.com/office/drawing/2014/main" id="{9C907863-0F25-4835-BA0A-390C6653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05375"/>
            <a:ext cx="11106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inventory-store-4">
            <a:extLst xmlns:a="http://schemas.openxmlformats.org/drawingml/2006/main">
              <a:ext uri="{FF2B5EF4-FFF2-40B4-BE49-F238E27FC236}">
                <a16:creationId xmlns:a16="http://schemas.microsoft.com/office/drawing/2014/main" id="{3627E3DF-5D1B-4AD5-B749-657CE3613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PrettyLittleThing</a:t>
            </a:r>
          </a:p>
        </p:txBody>
      </p:sp>
      <p:sp>
        <p:nvSpPr>
          <p:cNvPr id="41" name="inventory-products-4">
            <a:extLst xmlns:a="http://schemas.openxmlformats.org/drawingml/2006/main">
              <a:ext uri="{FF2B5EF4-FFF2-40B4-BE49-F238E27FC236}">
                <a16:creationId xmlns:a16="http://schemas.microsoft.com/office/drawing/2014/main" id="{2E8E8691-B95A-4E47-A4AA-92E00DB9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0577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25,495</a:t>
            </a:r>
          </a:p>
        </p:txBody>
      </p:sp>
      <p:sp>
        <p:nvSpPr>
          <p:cNvPr id="42" name="inventory-images-4">
            <a:extLst xmlns:a="http://schemas.openxmlformats.org/drawingml/2006/main">
              <a:ext uri="{FF2B5EF4-FFF2-40B4-BE49-F238E27FC236}">
                <a16:creationId xmlns:a16="http://schemas.microsoft.com/office/drawing/2014/main" id="{BC1737EB-0430-4939-8FA6-2BDECA7C9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0577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127,827</a:t>
            </a:r>
          </a:p>
        </p:txBody>
      </p:sp>
      <p:sp>
        <p:nvSpPr>
          <p:cNvPr id="43" name="inventory-analyzed-4">
            <a:extLst xmlns:a="http://schemas.openxmlformats.org/drawingml/2006/main">
              <a:ext uri="{FF2B5EF4-FFF2-40B4-BE49-F238E27FC236}">
                <a16:creationId xmlns:a16="http://schemas.microsoft.com/office/drawing/2014/main" id="{F6351EEA-397D-4B42-9FEE-240D7873C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0577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7,353</a:t>
            </a:r>
          </a:p>
        </p:txBody>
      </p:sp>
      <p:sp>
        <p:nvSpPr>
          <p:cNvPr id="44" name="rule">
            <a:extLst xmlns:a="http://schemas.openxmlformats.org/drawingml/2006/main">
              <a:ext uri="{FF2B5EF4-FFF2-40B4-BE49-F238E27FC236}">
                <a16:creationId xmlns:a16="http://schemas.microsoft.com/office/drawing/2014/main" id="{DA635BA2-588E-4631-8F08-C302709F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00675"/>
            <a:ext cx="11106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inventory-total">
            <a:extLst xmlns:a="http://schemas.openxmlformats.org/drawingml/2006/main">
              <a:ext uri="{FF2B5EF4-FFF2-40B4-BE49-F238E27FC236}">
                <a16:creationId xmlns:a16="http://schemas.microsoft.com/office/drawing/2014/main" id="{31D125EE-C75A-4FEE-AA64-408F5F97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43550"/>
            <a:ext cx="11106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inventory-total-label">
            <a:extLst xmlns:a="http://schemas.openxmlformats.org/drawingml/2006/main">
              <a:ext uri="{FF2B5EF4-FFF2-40B4-BE49-F238E27FC236}">
                <a16:creationId xmlns:a16="http://schemas.microsoft.com/office/drawing/2014/main" id="{30CFFD19-55DD-481B-B1AB-4591E2645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全站合计</a:t>
            </a:r>
          </a:p>
        </p:txBody>
      </p:sp>
      <p:sp>
        <p:nvSpPr>
          <p:cNvPr id="47" name="inventory-total-products">
            <a:extLst xmlns:a="http://schemas.openxmlformats.org/drawingml/2006/main">
              <a:ext uri="{FF2B5EF4-FFF2-40B4-BE49-F238E27FC236}">
                <a16:creationId xmlns:a16="http://schemas.microsoft.com/office/drawing/2014/main" id="{7F690080-57E3-4C75-A43B-29799490A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6959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60,260</a:t>
            </a:r>
          </a:p>
        </p:txBody>
      </p:sp>
      <p:sp>
        <p:nvSpPr>
          <p:cNvPr id="48" name="inventory-total-images">
            <a:extLst xmlns:a="http://schemas.openxmlformats.org/drawingml/2006/main">
              <a:ext uri="{FF2B5EF4-FFF2-40B4-BE49-F238E27FC236}">
                <a16:creationId xmlns:a16="http://schemas.microsoft.com/office/drawing/2014/main" id="{1814D46C-E1CA-4B6E-A9B3-41798FD95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695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288,831</a:t>
            </a:r>
          </a:p>
        </p:txBody>
      </p:sp>
      <p:sp>
        <p:nvSpPr>
          <p:cNvPr id="49" name="inventory-total-analyzed">
            <a:extLst xmlns:a="http://schemas.openxmlformats.org/drawingml/2006/main">
              <a:ext uri="{FF2B5EF4-FFF2-40B4-BE49-F238E27FC236}">
                <a16:creationId xmlns:a16="http://schemas.microsoft.com/office/drawing/2014/main" id="{8F6576BD-C49A-45E9-ACB5-A6AF0F3B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695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27,355</a:t>
            </a:r>
          </a:p>
        </p:txBody>
      </p:sp>
      <p:sp>
        <p:nvSpPr>
          <p:cNvPr id="50" name="inventory-method-note">
            <a:extLst xmlns:a="http://schemas.openxmlformats.org/drawingml/2006/main">
              <a:ext uri="{FF2B5EF4-FFF2-40B4-BE49-F238E27FC236}">
                <a16:creationId xmlns:a16="http://schemas.microsoft.com/office/drawing/2014/main" id="{BBE400C8-CEEC-4DBF-9E18-9DB485235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53150"/>
            <a:ext cx="11106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读法：1个商品若有5张图，就产生5条图片URL索引；Aloruh 1,782张首图已完成15维，竞品仍为12维。</a:t>
            </a:r>
          </a:p>
        </p:txBody>
      </p:sp>
      <p:sp>
        <p:nvSpPr>
          <p:cNvPr id="51" name="rule">
            <a:extLst xmlns:a="http://schemas.openxmlformats.org/drawingml/2006/main">
              <a:ext uri="{FF2B5EF4-FFF2-40B4-BE49-F238E27FC236}">
                <a16:creationId xmlns:a16="http://schemas.microsoft.com/office/drawing/2014/main" id="{9FD3178E-E3C5-4AE3-BBF0-CA7C00AD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footer">
            <a:extLst xmlns:a="http://schemas.openxmlformats.org/drawingml/2006/main">
              <a:ext uri="{FF2B5EF4-FFF2-40B4-BE49-F238E27FC236}">
                <a16:creationId xmlns:a16="http://schemas.microsoft.com/office/drawing/2014/main" id="{69D41DA9-8030-4D07-B019-A6DAEF25A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explorer.db live inventory · 2026-08-27</a:t>
            </a:r>
          </a:p>
        </p:txBody>
      </p:sp>
    </p:spTree>
    <p:extLst>
      <p:ext uri="{BB962C8B-B14F-4D97-AF65-F5344CB8AC3E}">
        <p14:creationId xmlns:p14="http://schemas.microsoft.com/office/powerpoint/2010/main" val="7556042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eyebrow">
            <a:extLst xmlns:a="http://schemas.openxmlformats.org/drawingml/2006/main">
              <a:ext uri="{FF2B5EF4-FFF2-40B4-BE49-F238E27FC236}">
                <a16:creationId xmlns:a16="http://schemas.microsoft.com/office/drawing/2014/main" id="{1D63C7AC-A938-4DA4-B1EB-2553FEE7A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1 · SHEIN DEEP DIVE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C767420-C805-4228-B6AF-A33A9FFDA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Aloruh（SHEIN）的采集核心是可暂停、可恢复的人机协同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9B000B3-B059-405F-9A93-94FECC65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Browser Use负责操作真实浏览器；用户本人负责登录与验证码；采集器只导出公开商品卡片和必要详情。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EE602C9-18F7-43A3-A79F-34069E4E4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metric-目录页完成">
            <a:extLst xmlns:a="http://schemas.openxmlformats.org/drawingml/2006/main">
              <a:ext uri="{FF2B5EF4-FFF2-40B4-BE49-F238E27FC236}">
                <a16:creationId xmlns:a16="http://schemas.microsoft.com/office/drawing/2014/main" id="{005A3376-72D2-4F7C-81D8-57E2B1495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26/26</a:t>
            </a:r>
          </a:p>
        </p:txBody>
      </p:sp>
      <p:sp>
        <p:nvSpPr>
          <p:cNvPr id="6" name="metric-label-目录页完成">
            <a:extLst xmlns:a="http://schemas.openxmlformats.org/drawingml/2006/main">
              <a:ext uri="{FF2B5EF4-FFF2-40B4-BE49-F238E27FC236}">
                <a16:creationId xmlns:a16="http://schemas.microsoft.com/office/drawing/2014/main" id="{F3AFACEB-FA4D-4B7D-A1AB-1063B514E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574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目录页完成</a:t>
            </a:r>
          </a:p>
        </p:txBody>
      </p:sp>
      <p:sp>
        <p:nvSpPr>
          <p:cNvPr id="7" name="metric-原始商品卡片">
            <a:extLst xmlns:a="http://schemas.openxmlformats.org/drawingml/2006/main">
              <a:ext uri="{FF2B5EF4-FFF2-40B4-BE49-F238E27FC236}">
                <a16:creationId xmlns:a16="http://schemas.microsoft.com/office/drawing/2014/main" id="{6471C548-93AF-4D41-9222-F12E34B0D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428750"/>
            <a:ext cx="228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3,006</a:t>
            </a:r>
          </a:p>
        </p:txBody>
      </p:sp>
      <p:sp>
        <p:nvSpPr>
          <p:cNvPr id="8" name="metric-label-原始商品卡片">
            <a:extLst xmlns:a="http://schemas.openxmlformats.org/drawingml/2006/main">
              <a:ext uri="{FF2B5EF4-FFF2-40B4-BE49-F238E27FC236}">
                <a16:creationId xmlns:a16="http://schemas.microsoft.com/office/drawing/2014/main" id="{A6DD59ED-0B2C-4123-8940-7921D94F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原始商品卡片</a:t>
            </a:r>
          </a:p>
        </p:txBody>
      </p:sp>
      <p:sp>
        <p:nvSpPr>
          <p:cNvPr id="9" name="metric-抽样商品详情">
            <a:extLst xmlns:a="http://schemas.openxmlformats.org/drawingml/2006/main">
              <a:ext uri="{FF2B5EF4-FFF2-40B4-BE49-F238E27FC236}">
                <a16:creationId xmlns:a16="http://schemas.microsoft.com/office/drawing/2014/main" id="{552CC493-0F6B-4C54-B0C9-FB49E2F12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42875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150</a:t>
            </a:r>
          </a:p>
        </p:txBody>
      </p:sp>
      <p:sp>
        <p:nvSpPr>
          <p:cNvPr id="10" name="metric-label-抽样商品详情">
            <a:extLst xmlns:a="http://schemas.openxmlformats.org/drawingml/2006/main">
              <a:ext uri="{FF2B5EF4-FFF2-40B4-BE49-F238E27FC236}">
                <a16:creationId xmlns:a16="http://schemas.microsoft.com/office/drawing/2014/main" id="{DD6A1D59-DAA4-45A4-B98E-A64D05CE3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0574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抽样商品详情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CAE6BBE-6B76-4B7F-A51E-12520299A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19250"/>
            <a:ext cx="3638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导出文件明确不包含 cookies、tokens、headers、credentials 或风险参数。</a:t>
            </a:r>
          </a:p>
        </p:txBody>
      </p:sp>
      <p:sp>
        <p:nvSpPr>
          <p:cNvPr id="12" name="flow-arrow">
            <a:extLst xmlns:a="http://schemas.openxmlformats.org/drawingml/2006/main">
              <a:ext uri="{FF2B5EF4-FFF2-40B4-BE49-F238E27FC236}">
                <a16:creationId xmlns:a16="http://schemas.microsoft.com/office/drawing/2014/main" id="{59EFC1CA-7E8A-4504-8319-DD8C32E5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638550"/>
            <a:ext cx="20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3618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flow-arrow">
            <a:extLst xmlns:a="http://schemas.openxmlformats.org/drawingml/2006/main">
              <a:ext uri="{FF2B5EF4-FFF2-40B4-BE49-F238E27FC236}">
                <a16:creationId xmlns:a16="http://schemas.microsoft.com/office/drawing/2014/main" id="{7F1AF63D-6CB8-415B-BD6E-BAC6CD69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638550"/>
            <a:ext cx="20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3618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flow-arrow">
            <a:extLst xmlns:a="http://schemas.openxmlformats.org/drawingml/2006/main">
              <a:ext uri="{FF2B5EF4-FFF2-40B4-BE49-F238E27FC236}">
                <a16:creationId xmlns:a16="http://schemas.microsoft.com/office/drawing/2014/main" id="{950DBDEF-46D6-4CA5-9EEB-F6BE1F6F7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638550"/>
            <a:ext cx="20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3618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flow-arrow">
            <a:extLst xmlns:a="http://schemas.openxmlformats.org/drawingml/2006/main">
              <a:ext uri="{FF2B5EF4-FFF2-40B4-BE49-F238E27FC236}">
                <a16:creationId xmlns:a16="http://schemas.microsoft.com/office/drawing/2014/main" id="{F56CADBA-595B-4B7B-8F9A-8ACEB02B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38550"/>
            <a:ext cx="20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3618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flow-arrow">
            <a:extLst xmlns:a="http://schemas.openxmlformats.org/drawingml/2006/main">
              <a:ext uri="{FF2B5EF4-FFF2-40B4-BE49-F238E27FC236}">
                <a16:creationId xmlns:a16="http://schemas.microsoft.com/office/drawing/2014/main" id="{A9B5B9DF-1068-4C97-ABB4-30E6999C8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638550"/>
            <a:ext cx="20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3618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shein-step-0">
            <a:extLst xmlns:a="http://schemas.openxmlformats.org/drawingml/2006/main">
              <a:ext uri="{FF2B5EF4-FFF2-40B4-BE49-F238E27FC236}">
                <a16:creationId xmlns:a16="http://schemas.microsoft.com/office/drawing/2014/main" id="{84AEDD86-0D6B-4ED7-B160-0C2C8E773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47950"/>
            <a:ext cx="1714500" cy="2381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8B6A9AA-B76A-4CEE-A09A-5C29A45D9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788CB3C-F8E4-4516-AF5C-BD63789D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1409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打开真实会话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EAE34A26-9007-48FF-96E4-B6FEB6747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1409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Browser Use进入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SHEIN SG Aloruh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品牌排序页</a:t>
            </a:r>
          </a:p>
        </p:txBody>
      </p:sp>
      <p:sp>
        <p:nvSpPr>
          <p:cNvPr id="21" name="shein-step-1">
            <a:extLst xmlns:a="http://schemas.openxmlformats.org/drawingml/2006/main">
              <a:ext uri="{FF2B5EF4-FFF2-40B4-BE49-F238E27FC236}">
                <a16:creationId xmlns:a16="http://schemas.microsoft.com/office/drawing/2014/main" id="{65FB2568-02A0-46EE-A01E-62E9A7EE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647950"/>
            <a:ext cx="1714500" cy="2381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5D2883C6-43B6-4B07-B0A9-2954F0462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8194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FA9B1279-5668-4772-9CD6-61DAE817A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181350"/>
            <a:ext cx="1409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人工过验证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2010C509-AFAE-4F1D-B23B-ED4EDDA99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771900"/>
            <a:ext cx="1409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用户本人登录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并处理验证码/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风险验证</a:t>
            </a:r>
          </a:p>
        </p:txBody>
      </p:sp>
      <p:sp>
        <p:nvSpPr>
          <p:cNvPr id="25" name="shein-step-2">
            <a:extLst xmlns:a="http://schemas.openxmlformats.org/drawingml/2006/main">
              <a:ext uri="{FF2B5EF4-FFF2-40B4-BE49-F238E27FC236}">
                <a16:creationId xmlns:a16="http://schemas.microsoft.com/office/drawing/2014/main" id="{1702F999-4F95-42C7-A317-4A81D1665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647950"/>
            <a:ext cx="1714500" cy="2381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3DA30B0E-5624-4B45-8164-D04C78E04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194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CA534DD8-4460-4BD0-9B9A-D0F9B8CC8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81350"/>
            <a:ext cx="1409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逐页取卡片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F3F31F62-8901-4FD6-AB82-5FFE5137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71900"/>
            <a:ext cx="1409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page=1…26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提取商品ID、价格、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分类、销量文案、图片URL</a:t>
            </a:r>
          </a:p>
        </p:txBody>
      </p:sp>
      <p:sp>
        <p:nvSpPr>
          <p:cNvPr id="29" name="shein-step-3">
            <a:extLst xmlns:a="http://schemas.openxmlformats.org/drawingml/2006/main">
              <a:ext uri="{FF2B5EF4-FFF2-40B4-BE49-F238E27FC236}">
                <a16:creationId xmlns:a16="http://schemas.microsoft.com/office/drawing/2014/main" id="{121F8248-0784-47D5-BB64-15FECE0F8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47950"/>
            <a:ext cx="1714500" cy="2381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A24F51B2-891F-4BF2-B86B-DFC6AE7B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194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FDFEBCF0-967F-4967-BDF7-CE351AA75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81350"/>
            <a:ext cx="1409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每页写检查点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6F5C96D5-83F9-4291-9BCB-2362AE1B1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71900"/>
            <a:ext cx="1409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记录已完成页码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遇风险拦截即停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保留partial文件</a:t>
            </a:r>
          </a:p>
        </p:txBody>
      </p:sp>
      <p:sp>
        <p:nvSpPr>
          <p:cNvPr id="33" name="shein-step-4">
            <a:extLst xmlns:a="http://schemas.openxmlformats.org/drawingml/2006/main">
              <a:ext uri="{FF2B5EF4-FFF2-40B4-BE49-F238E27FC236}">
                <a16:creationId xmlns:a16="http://schemas.microsoft.com/office/drawing/2014/main" id="{1F119B3A-72DF-4A46-B22F-370605F62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47950"/>
            <a:ext cx="1714500" cy="2381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1BC4FF51-B5F5-4F27-ADD3-AFF9076A3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194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3F8B74B5-E391-48AB-8014-F07244EAC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81350"/>
            <a:ext cx="1409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补必要详情</a:t>
            </a:r>
          </a:p>
        </p:txBody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134F647F-E079-4EE0-8CC5-AF9C7D1CC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71900"/>
            <a:ext cx="1409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对150个目标商品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读取尺码、颜色、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更完整图片序列</a:t>
            </a:r>
          </a:p>
        </p:txBody>
      </p:sp>
      <p:sp>
        <p:nvSpPr>
          <p:cNvPr id="37" name="shein-step-5">
            <a:extLst xmlns:a="http://schemas.openxmlformats.org/drawingml/2006/main">
              <a:ext uri="{FF2B5EF4-FFF2-40B4-BE49-F238E27FC236}">
                <a16:creationId xmlns:a16="http://schemas.microsoft.com/office/drawing/2014/main" id="{687DCF9C-6E34-452D-8102-67BF531C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647950"/>
            <a:ext cx="1714500" cy="2381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97A232B4-943C-48E4-AE8E-1B9A4E227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8194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4B006032-2CBC-46AD-A073-51D161347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181350"/>
            <a:ext cx="1409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导出可审计原始层</a:t>
            </a:r>
          </a:p>
        </p:txBody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89483AD7-0593-48F5-8403-26BA35D52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771900"/>
            <a:ext cx="1409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目录页、商品组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失败记录、采集状态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全部保留</a:t>
            </a:r>
          </a:p>
        </p:txBody>
      </p:sp>
      <p:sp>
        <p:nvSpPr>
          <p:cNvPr id="41" name="box">
            <a:extLst xmlns:a="http://schemas.openxmlformats.org/drawingml/2006/main">
              <a:ext uri="{FF2B5EF4-FFF2-40B4-BE49-F238E27FC236}">
                <a16:creationId xmlns:a16="http://schemas.microsoft.com/office/drawing/2014/main" id="{4E82692E-74CE-41FE-A7CB-17E7ED252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144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text">
            <a:extLst xmlns:a="http://schemas.openxmlformats.org/drawingml/2006/main">
              <a:ext uri="{FF2B5EF4-FFF2-40B4-BE49-F238E27FC236}">
                <a16:creationId xmlns:a16="http://schemas.microsoft.com/office/drawing/2014/main" id="{1C85F792-9848-4DDE-BD7D-8B30FF7E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D4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D4F2"/>
                </a:solidFill>
                <a:latin typeface="Microsoft YaHei"/>
                <a:ea typeface="Microsoft YaHei"/>
                <a:cs typeface="Microsoft YaHei"/>
              </a:rPr>
              <a:t>恢复策略</a:t>
            </a:r>
          </a:p>
        </p:txBody>
      </p:sp>
      <p:sp>
        <p:nvSpPr>
          <p:cNvPr id="43" name="text">
            <a:extLst xmlns:a="http://schemas.openxmlformats.org/drawingml/2006/main">
              <a:ext uri="{FF2B5EF4-FFF2-40B4-BE49-F238E27FC236}">
                <a16:creationId xmlns:a16="http://schemas.microsoft.com/office/drawing/2014/main" id="{332E04D8-B980-4FA4-A08B-A5F819DA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86400"/>
            <a:ext cx="952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风险拦截时不伪装成功：保留最后完成页、失败页和原因；人工解除验证后从检查点继续，再合并新旧卡片。</a:t>
            </a:r>
          </a:p>
        </p:txBody>
      </p:sp>
      <p:sp>
        <p:nvSpPr>
          <p:cNvPr id="44" name="rule">
            <a:extLst xmlns:a="http://schemas.openxmlformats.org/drawingml/2006/main">
              <a:ext uri="{FF2B5EF4-FFF2-40B4-BE49-F238E27FC236}">
                <a16:creationId xmlns:a16="http://schemas.microsoft.com/office/drawing/2014/main" id="{545E2D3F-4263-4FD4-994D-778E9A8DD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footer">
            <a:extLst xmlns:a="http://schemas.openxmlformats.org/drawingml/2006/main">
              <a:ext uri="{FF2B5EF4-FFF2-40B4-BE49-F238E27FC236}">
                <a16:creationId xmlns:a16="http://schemas.microsoft.com/office/drawing/2014/main" id="{3EDBCD62-8C72-4FA9-83ED-C3892C07F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7199170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eyebrow">
            <a:extLst xmlns:a="http://schemas.openxmlformats.org/drawingml/2006/main">
              <a:ext uri="{FF2B5EF4-FFF2-40B4-BE49-F238E27FC236}">
                <a16:creationId xmlns:a16="http://schemas.microsoft.com/office/drawing/2014/main" id="{C93E2D37-6AD2-4AF6-AB57-33583FCD0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1 → 2 · DATA MOVEMENT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0535372-3172-40C8-81E5-F39E4EBB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快的是URL索引；高清下载与AI推理只在需要时发生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4DC3E89-457A-4623-BF1F-C3302CB6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把“商品元数据、图片URL、图片文件、AI结果”拆成不同层，才能快速更新、精确去重并控制费用。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37F9830-2E75-4821-9A5C-740909E2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flow-arrow">
            <a:extLst xmlns:a="http://schemas.openxmlformats.org/drawingml/2006/main">
              <a:ext uri="{FF2B5EF4-FFF2-40B4-BE49-F238E27FC236}">
                <a16:creationId xmlns:a16="http://schemas.microsoft.com/office/drawing/2014/main" id="{D40AF8FF-CD05-412D-98DD-1E1AEFD8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62300"/>
            <a:ext cx="41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flow-arrow">
            <a:extLst xmlns:a="http://schemas.openxmlformats.org/drawingml/2006/main">
              <a:ext uri="{FF2B5EF4-FFF2-40B4-BE49-F238E27FC236}">
                <a16:creationId xmlns:a16="http://schemas.microsoft.com/office/drawing/2014/main" id="{0BDDB68F-7230-4FAB-A527-6A9FB8650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62300"/>
            <a:ext cx="41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data-lane-0">
            <a:extLst xmlns:a="http://schemas.openxmlformats.org/drawingml/2006/main">
              <a:ext uri="{FF2B5EF4-FFF2-40B4-BE49-F238E27FC236}">
                <a16:creationId xmlns:a16="http://schemas.microsoft.com/office/drawing/2014/main" id="{959753F7-C475-4D69-B7FC-1227E0580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3429000" cy="34861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F71001D-1543-41E7-8D85-5B5D57C4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01 / URL INDEX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D41A792-1DF1-4417-9C30-4CF21DD6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官方响应已经带 image_urls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664A4E62-1962-44E7-AF3A-C83822F6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03FC4E8-73CB-4995-9F8B-D292874B2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29527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本地展开为 images_*.jsonl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键：store_id＋product_id＋position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计算 url_sha256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不下载图片文件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因此可以快速形成全量索引</a:t>
            </a:r>
          </a:p>
        </p:txBody>
      </p:sp>
      <p:sp>
        <p:nvSpPr>
          <p:cNvPr id="12" name="data-lane-1">
            <a:extLst xmlns:a="http://schemas.openxmlformats.org/drawingml/2006/main">
              <a:ext uri="{FF2B5EF4-FFF2-40B4-BE49-F238E27FC236}">
                <a16:creationId xmlns:a16="http://schemas.microsoft.com/office/drawing/2014/main" id="{96641080-3B26-4258-9C26-E6E559766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0"/>
            <a:ext cx="3429000" cy="34861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3EBDC94-3339-4C32-808C-F12C975CB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8478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02 / NORMALIZED DB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4F572508-06FF-49C2-AAE6-5BD355A70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26695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去重后进入SQLite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0B9699A7-D43A-4D26-B5A0-6FE70B78B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048000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03F9FAB-7230-4B4F-B0ED-C646DAFBB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276600"/>
            <a:ext cx="29527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商品ID去重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店铺内 source_url 唯一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同URL分析一次并复用结果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Aloruh首图写入15维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竞品保留12维可比分布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UI只分页读取需要的行</a:t>
            </a:r>
          </a:p>
        </p:txBody>
      </p:sp>
      <p:sp>
        <p:nvSpPr>
          <p:cNvPr id="17" name="data-lane-2">
            <a:extLst xmlns:a="http://schemas.openxmlformats.org/drawingml/2006/main">
              <a:ext uri="{FF2B5EF4-FFF2-40B4-BE49-F238E27FC236}">
                <a16:creationId xmlns:a16="http://schemas.microsoft.com/office/drawing/2014/main" id="{B85DD5E0-E9AA-4B76-9D84-5B6F37ADF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619250"/>
            <a:ext cx="3429000" cy="34861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FC2EAB5-DAE3-49C3-94F6-03561C7B0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8478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 / HD + AI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73F6DC6-C5D2-4854-AC3E-26921999F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26695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付费分析才取高清字节</a:t>
            </a:r>
          </a:p>
        </p:txBody>
      </p:sp>
      <p:sp>
        <p:nvSpPr>
          <p:cNvPr id="20" name="rule">
            <a:extLst xmlns:a="http://schemas.openxmlformats.org/drawingml/2006/main">
              <a:ext uri="{FF2B5EF4-FFF2-40B4-BE49-F238E27FC236}">
                <a16:creationId xmlns:a16="http://schemas.microsoft.com/office/drawing/2014/main" id="{0D076C61-ADCD-4352-ACBE-F70B0CE03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48000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E27E5893-0862-4FF8-9F6A-48774C6D2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276600"/>
            <a:ext cx="29527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尝试去缩略图URL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校验公网主机、格式、尺寸和SHA256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整体报告任务共享 _image_cache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缓存损坏或不达高清门槛才重下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随后由Sol读取detail=high</a:t>
            </a:r>
          </a:p>
        </p:txBody>
      </p:sp>
      <p:sp>
        <p:nvSpPr>
          <p:cNvPr id="22" name="box">
            <a:extLst xmlns:a="http://schemas.openxmlformats.org/drawingml/2006/main">
              <a:ext uri="{FF2B5EF4-FFF2-40B4-BE49-F238E27FC236}">
                <a16:creationId xmlns:a16="http://schemas.microsoft.com/office/drawing/2014/main" id="{B2C2E114-D358-4123-BAEE-741FE861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91150"/>
            <a:ext cx="105156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614C305D-1867-44A8-B877-35D002C2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05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关键边界：url_sha256只证明“URL已索引”；content_sha256或缓存SHA256才证明“图片字节已下载并校验”。</a:t>
            </a:r>
          </a:p>
        </p:txBody>
      </p:sp>
      <p:sp>
        <p:nvSpPr>
          <p:cNvPr id="24" name="rule">
            <a:extLst xmlns:a="http://schemas.openxmlformats.org/drawingml/2006/main">
              <a:ext uri="{FF2B5EF4-FFF2-40B4-BE49-F238E27FC236}">
                <a16:creationId xmlns:a16="http://schemas.microsoft.com/office/drawing/2014/main" id="{37A7C3DC-CF25-417C-AC8F-A3F4C0645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footer">
            <a:extLst xmlns:a="http://schemas.openxmlformats.org/drawingml/2006/main">
              <a:ext uri="{FF2B5EF4-FFF2-40B4-BE49-F238E27FC236}">
                <a16:creationId xmlns:a16="http://schemas.microsoft.com/office/drawing/2014/main" id="{9ECA7DC9-E729-4975-BCE3-0FAFF446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6140883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eyebrow">
            <a:extLst xmlns:a="http://schemas.openxmlformats.org/drawingml/2006/main">
              <a:ext uri="{FF2B5EF4-FFF2-40B4-BE49-F238E27FC236}">
                <a16:creationId xmlns:a16="http://schemas.microsoft.com/office/drawing/2014/main" id="{4AF062A2-4E72-4F16-8552-2D9421F1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2 · NORMALIZATION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02D831B-4944-4D3C-BE7F-92F0AA319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标准化数据层：Aloruh 1,782张首图已完成15维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877C337-7799-466C-9104-23E28BE7B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每张图片保留 store_id / product_id / position / source_url；三家竞品继续用既有12维标签作为可比分布。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D528CBC-9D5F-48E7-9068-8E8C076A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flow-arrow">
            <a:extLst xmlns:a="http://schemas.openxmlformats.org/drawingml/2006/main">
              <a:ext uri="{FF2B5EF4-FFF2-40B4-BE49-F238E27FC236}">
                <a16:creationId xmlns:a16="http://schemas.microsoft.com/office/drawing/2014/main" id="{7CC523E7-063E-469D-9E0C-CC1D6EBB4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85950"/>
            <a:ext cx="34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flow-arrow">
            <a:extLst xmlns:a="http://schemas.openxmlformats.org/drawingml/2006/main">
              <a:ext uri="{FF2B5EF4-FFF2-40B4-BE49-F238E27FC236}">
                <a16:creationId xmlns:a16="http://schemas.microsoft.com/office/drawing/2014/main" id="{E8D906BE-8348-4EDF-B4E1-BD14DEC0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85950"/>
            <a:ext cx="34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flow-arrow">
            <a:extLst xmlns:a="http://schemas.openxmlformats.org/drawingml/2006/main">
              <a:ext uri="{FF2B5EF4-FFF2-40B4-BE49-F238E27FC236}">
                <a16:creationId xmlns:a16="http://schemas.microsoft.com/office/drawing/2014/main" id="{C0583D64-4F9D-474E-8E55-5AB7D7473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885950"/>
            <a:ext cx="34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flow-arrow">
            <a:extLst xmlns:a="http://schemas.openxmlformats.org/drawingml/2006/main">
              <a:ext uri="{FF2B5EF4-FFF2-40B4-BE49-F238E27FC236}">
                <a16:creationId xmlns:a16="http://schemas.microsoft.com/office/drawing/2014/main" id="{4442AABF-2888-4EF0-BB00-D89C9F738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885950"/>
            <a:ext cx="34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7AC336D5-5A22-4A85-B1B8-DD1F4C2C5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981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56ED5EF-BBC7-4834-B84A-7D335AE3C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原始来源</a:t>
            </a:r>
          </a:p>
        </p:txBody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3B43B85E-20A5-40CC-BC7A-43C011BC3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676400"/>
            <a:ext cx="1981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A65F113-B75F-4FB7-AA34-9749E08B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商品JSONL</a:t>
            </a:r>
          </a:p>
        </p:txBody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CD73319C-50EE-4B60-BEF6-E883500C1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676400"/>
            <a:ext cx="1981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BA87F9E0-40F6-4E03-8E88-D45A73364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图片JSONL</a:t>
            </a:r>
          </a:p>
        </p:txBody>
      </p: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279A64F9-7819-4862-84EF-8015C48AB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76400"/>
            <a:ext cx="1981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8F23ED0-66A5-4128-A297-E30648C4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URL/内容去重</a:t>
            </a:r>
          </a:p>
        </p:txBody>
      </p:sp>
      <p:sp>
        <p:nvSpPr>
          <p:cNvPr id="17" name="box">
            <a:extLst xmlns:a="http://schemas.openxmlformats.org/drawingml/2006/main">
              <a:ext uri="{FF2B5EF4-FFF2-40B4-BE49-F238E27FC236}">
                <a16:creationId xmlns:a16="http://schemas.microsoft.com/office/drawing/2014/main" id="{6E1930DD-AB5D-4C22-A205-2A2E29400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676400"/>
            <a:ext cx="1981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31B1074-7C6D-4E00-A04A-AB5F9B7B3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SQLite索引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2C59479D-B348-44BF-9827-560142B43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003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15 DIMENSIONS / FASHION-IMAGE-V2</a:t>
            </a:r>
          </a:p>
        </p:txBody>
      </p:sp>
      <p:sp>
        <p:nvSpPr>
          <p:cNvPr id="20" name="rule">
            <a:extLst xmlns:a="http://schemas.openxmlformats.org/drawingml/2006/main">
              <a:ext uri="{FF2B5EF4-FFF2-40B4-BE49-F238E27FC236}">
                <a16:creationId xmlns:a16="http://schemas.microsoft.com/office/drawing/2014/main" id="{8852290E-A851-4F9A-85F2-04CFF73CE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5755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7ED33BF7-C621-4465-B4F8-44F792795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商品属性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CFBB228B-762F-4D90-A0CB-2B504F9F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43350"/>
            <a:ext cx="3238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01 商品类别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02 廓形与版型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03 设计元素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04 穿着场合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09 材质纹理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10 色彩图案</a:t>
            </a:r>
          </a:p>
        </p:txBody>
      </p:sp>
      <p:sp>
        <p:nvSpPr>
          <p:cNvPr id="23" name="rule">
            <a:extLst xmlns:a="http://schemas.openxmlformats.org/drawingml/2006/main">
              <a:ext uri="{FF2B5EF4-FFF2-40B4-BE49-F238E27FC236}">
                <a16:creationId xmlns:a16="http://schemas.microsoft.com/office/drawing/2014/main" id="{260E2BE0-74C9-459E-A112-0AD0E588F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25755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01543566-0C06-4727-9FEB-7D3037031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4290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镜头与呈现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FF8447A6-ADFF-4F12-8F2B-9509D5CF1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43350"/>
            <a:ext cx="3238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05 构图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06 视角动作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07 卖点部位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08 拍摄场景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13 光线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14 模特状态</a:t>
            </a:r>
          </a:p>
        </p:txBody>
      </p:sp>
      <p:sp>
        <p:nvSpPr>
          <p:cNvPr id="26" name="rule">
            <a:extLst xmlns:a="http://schemas.openxmlformats.org/drawingml/2006/main">
              <a:ext uri="{FF2B5EF4-FFF2-40B4-BE49-F238E27FC236}">
                <a16:creationId xmlns:a16="http://schemas.microsoft.com/office/drawing/2014/main" id="{802AEEC4-3BE1-4E68-8A8C-9E6BD078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5755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99057BA5-71A0-4DD8-8D4B-8EA12D996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风格与版面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9E0EF077-4532-4F17-B8C8-C31A8627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43350"/>
            <a:ext cx="3238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11 视觉语言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12 搭配方式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15 图文叠加</a:t>
            </a:r>
          </a:p>
        </p:txBody>
      </p:sp>
      <p:sp>
        <p:nvSpPr>
          <p:cNvPr id="29" name="box">
            <a:extLst xmlns:a="http://schemas.openxmlformats.org/drawingml/2006/main">
              <a:ext uri="{FF2B5EF4-FFF2-40B4-BE49-F238E27FC236}">
                <a16:creationId xmlns:a16="http://schemas.microsoft.com/office/drawing/2014/main" id="{AC7EEAC3-4821-4160-BE21-673E600B3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34050"/>
            <a:ext cx="108775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989D4A14-071B-4404-A778-3DB406FA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420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Aloruh：1,782张首图 × 15维完整，0个缺失 · 竞品：15,107张图片保留12维可比分布</a:t>
            </a:r>
          </a:p>
        </p:txBody>
      </p:sp>
      <p:sp>
        <p:nvSpPr>
          <p:cNvPr id="31" name="rule">
            <a:extLst xmlns:a="http://schemas.openxmlformats.org/drawingml/2006/main">
              <a:ext uri="{FF2B5EF4-FFF2-40B4-BE49-F238E27FC236}">
                <a16:creationId xmlns:a16="http://schemas.microsoft.com/office/drawing/2014/main" id="{1811AF1F-4108-466D-8373-C01CF1B93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footer">
            <a:extLst xmlns:a="http://schemas.openxmlformats.org/drawingml/2006/main">
              <a:ext uri="{FF2B5EF4-FFF2-40B4-BE49-F238E27FC236}">
                <a16:creationId xmlns:a16="http://schemas.microsoft.com/office/drawing/2014/main" id="{62184D05-B16E-4EAA-8398-1027FF4AB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5871877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eyebrow">
            <a:extLst xmlns:a="http://schemas.openxmlformats.org/drawingml/2006/main">
              <a:ext uri="{FF2B5EF4-FFF2-40B4-BE49-F238E27FC236}">
                <a16:creationId xmlns:a16="http://schemas.microsoft.com/office/drawing/2014/main" id="{64B936C0-706F-40CE-90A2-382B81B0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2 · TAXONOMY EXAMPLES 1/2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34A24F-4420-4AC1-9691-A77792D61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15维不是抽象概念：前8维把商品与镜头变成可组合条件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7D6E760-87D8-4DBD-99F0-60C50B3DE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15维已用于Aloruh 1,782张首图；每个例子都来自fashion-image-v2受控字典，UI显示中文，数据库保存英文代码。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5550455-4EF0-461C-B0F6-7A1CBD20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dimension-index-01">
            <a:extLst xmlns:a="http://schemas.openxmlformats.org/drawingml/2006/main">
              <a:ext uri="{FF2B5EF4-FFF2-40B4-BE49-F238E27FC236}">
                <a16:creationId xmlns:a16="http://schemas.microsoft.com/office/drawing/2014/main" id="{FF1B514B-3CE4-497C-9B66-20A213A0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dimension-title-01">
            <a:extLst xmlns:a="http://schemas.openxmlformats.org/drawingml/2006/main">
              <a:ext uri="{FF2B5EF4-FFF2-40B4-BE49-F238E27FC236}">
                <a16:creationId xmlns:a16="http://schemas.microsoft.com/office/drawing/2014/main" id="{75845281-D7D3-42A0-9570-C506EF9E0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049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商品类别 / product_category</a:t>
            </a:r>
          </a:p>
        </p:txBody>
      </p:sp>
      <p:sp>
        <p:nvSpPr>
          <p:cNvPr id="7" name="dimension-tags-01">
            <a:extLst xmlns:a="http://schemas.openxmlformats.org/drawingml/2006/main">
              <a:ext uri="{FF2B5EF4-FFF2-40B4-BE49-F238E27FC236}">
                <a16:creationId xmlns:a16="http://schemas.microsoft.com/office/drawing/2014/main" id="{9F5E49FA-9E88-423A-A427-78C2573B5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上衣 · 半身裙 · 连衣裙 · 套装</a:t>
            </a:r>
          </a:p>
        </p:txBody>
      </p:sp>
      <p:sp>
        <p:nvSpPr>
          <p:cNvPr id="8" name="dimension-note-01">
            <a:extLst xmlns:a="http://schemas.openxmlformats.org/drawingml/2006/main">
              <a:ext uri="{FF2B5EF4-FFF2-40B4-BE49-F238E27FC236}">
                <a16:creationId xmlns:a16="http://schemas.microsoft.com/office/drawing/2014/main" id="{7F457F54-4425-444C-93C6-1481927E1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先回答主售商品是什么；这是唯一必须单值的维度。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224B454A-04BB-4D30-8F5A-C32200E2A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imension-index-02">
            <a:extLst xmlns:a="http://schemas.openxmlformats.org/drawingml/2006/main">
              <a:ext uri="{FF2B5EF4-FFF2-40B4-BE49-F238E27FC236}">
                <a16:creationId xmlns:a16="http://schemas.microsoft.com/office/drawing/2014/main" id="{37BE4A01-1865-46FF-B7D6-979C23F58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0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dimension-title-02">
            <a:extLst xmlns:a="http://schemas.openxmlformats.org/drawingml/2006/main">
              <a:ext uri="{FF2B5EF4-FFF2-40B4-BE49-F238E27FC236}">
                <a16:creationId xmlns:a16="http://schemas.microsoft.com/office/drawing/2014/main" id="{6892F34A-C085-4D60-89BA-88A690449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廓形版型 / silhouette_fit</a:t>
            </a:r>
          </a:p>
        </p:txBody>
      </p:sp>
      <p:sp>
        <p:nvSpPr>
          <p:cNvPr id="12" name="dimension-tags-02">
            <a:extLst xmlns:a="http://schemas.openxmlformats.org/drawingml/2006/main">
              <a:ext uri="{FF2B5EF4-FFF2-40B4-BE49-F238E27FC236}">
                <a16:creationId xmlns:a16="http://schemas.microsoft.com/office/drawing/2014/main" id="{CDD6836B-7A41-486E-B1EF-2C21A4BD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修身包体 · 宽松 · A字廓形 · 紧身胸衣式</a:t>
            </a:r>
          </a:p>
        </p:txBody>
      </p:sp>
      <p:sp>
        <p:nvSpPr>
          <p:cNvPr id="13" name="dimension-note-02">
            <a:extLst xmlns:a="http://schemas.openxmlformats.org/drawingml/2006/main">
              <a:ext uri="{FF2B5EF4-FFF2-40B4-BE49-F238E27FC236}">
                <a16:creationId xmlns:a16="http://schemas.microsoft.com/office/drawing/2014/main" id="{ADDA3477-8C5A-4063-9371-7ECE4AD3A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用于比较贴体、宽松、A字与结构塑形的展示差异。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7E1F62FB-334C-4AA6-9B5B-2C97CA844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528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dimension-index-03">
            <a:extLst xmlns:a="http://schemas.openxmlformats.org/drawingml/2006/main">
              <a:ext uri="{FF2B5EF4-FFF2-40B4-BE49-F238E27FC236}">
                <a16:creationId xmlns:a16="http://schemas.microsoft.com/office/drawing/2014/main" id="{480B906A-00AC-459A-B00D-1C4182EEC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imension-title-03">
            <a:extLst xmlns:a="http://schemas.openxmlformats.org/drawingml/2006/main">
              <a:ext uri="{FF2B5EF4-FFF2-40B4-BE49-F238E27FC236}">
                <a16:creationId xmlns:a16="http://schemas.microsoft.com/office/drawing/2014/main" id="{2723F3CD-2AED-40D3-A2EA-6463007ED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671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设计元素 / design_elements</a:t>
            </a:r>
          </a:p>
        </p:txBody>
      </p:sp>
      <p:sp>
        <p:nvSpPr>
          <p:cNvPr id="17" name="dimension-tags-03">
            <a:extLst xmlns:a="http://schemas.openxmlformats.org/drawingml/2006/main">
              <a:ext uri="{FF2B5EF4-FFF2-40B4-BE49-F238E27FC236}">
                <a16:creationId xmlns:a16="http://schemas.microsoft.com/office/drawing/2014/main" id="{F88DC575-B9A9-4F70-AD4B-5C2699701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00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露背 · 镂空 · 褶皱 · 压褶</a:t>
            </a:r>
          </a:p>
        </p:txBody>
      </p:sp>
      <p:sp>
        <p:nvSpPr>
          <p:cNvPr id="18" name="dimension-note-03">
            <a:extLst xmlns:a="http://schemas.openxmlformats.org/drawingml/2006/main">
              <a:ext uri="{FF2B5EF4-FFF2-40B4-BE49-F238E27FC236}">
                <a16:creationId xmlns:a16="http://schemas.microsoft.com/office/drawing/2014/main" id="{F751E7E1-83C6-4BA5-9F31-5BAE255CB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01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把露背、挖空、褶皱、压褶等具体结构显式化。</a:t>
            </a: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61502F7C-F494-4D6E-8DF0-8D52278DF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339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dimension-index-04">
            <a:extLst xmlns:a="http://schemas.openxmlformats.org/drawingml/2006/main">
              <a:ext uri="{FF2B5EF4-FFF2-40B4-BE49-F238E27FC236}">
                <a16:creationId xmlns:a16="http://schemas.microsoft.com/office/drawing/2014/main" id="{FE4596D2-A6F0-406A-AA74-2ADCF608B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673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dimension-title-04">
            <a:extLst xmlns:a="http://schemas.openxmlformats.org/drawingml/2006/main">
              <a:ext uri="{FF2B5EF4-FFF2-40B4-BE49-F238E27FC236}">
                <a16:creationId xmlns:a16="http://schemas.microsoft.com/office/drawing/2014/main" id="{DDE96E65-3937-43DD-935B-646525FA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穿着场合 / occasion</a:t>
            </a:r>
          </a:p>
        </p:txBody>
      </p:sp>
      <p:sp>
        <p:nvSpPr>
          <p:cNvPr id="22" name="dimension-tags-04">
            <a:extLst xmlns:a="http://schemas.openxmlformats.org/drawingml/2006/main">
              <a:ext uri="{FF2B5EF4-FFF2-40B4-BE49-F238E27FC236}">
                <a16:creationId xmlns:a16="http://schemas.microsoft.com/office/drawing/2014/main" id="{96B11DB2-3598-4994-83E6-892300AB6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911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日常 · 外出聚会 · 度假 · 婚礼宾客</a:t>
            </a:r>
          </a:p>
        </p:txBody>
      </p:sp>
      <p:sp>
        <p:nvSpPr>
          <p:cNvPr id="23" name="dimension-note-04">
            <a:extLst xmlns:a="http://schemas.openxmlformats.org/drawingml/2006/main">
              <a:ext uri="{FF2B5EF4-FFF2-40B4-BE49-F238E27FC236}">
                <a16:creationId xmlns:a16="http://schemas.microsoft.com/office/drawing/2014/main" id="{BF26BF0F-D4AA-40F5-83E0-42FC4FA22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912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描述服装适用语境，不等于照片实际拍摄地点。</a:t>
            </a:r>
          </a:p>
        </p:txBody>
      </p:sp>
      <p:sp>
        <p:nvSpPr>
          <p:cNvPr id="24" name="rule">
            <a:extLst xmlns:a="http://schemas.openxmlformats.org/drawingml/2006/main">
              <a:ext uri="{FF2B5EF4-FFF2-40B4-BE49-F238E27FC236}">
                <a16:creationId xmlns:a16="http://schemas.microsoft.com/office/drawing/2014/main" id="{5948BBAA-F985-4843-A60C-B5D145786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150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dimension-index-05">
            <a:extLst xmlns:a="http://schemas.openxmlformats.org/drawingml/2006/main">
              <a:ext uri="{FF2B5EF4-FFF2-40B4-BE49-F238E27FC236}">
                <a16:creationId xmlns:a16="http://schemas.microsoft.com/office/drawing/2014/main" id="{56BA6834-6802-42B6-8008-21EE5278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6" name="dimension-title-05">
            <a:extLst xmlns:a="http://schemas.openxmlformats.org/drawingml/2006/main">
              <a:ext uri="{FF2B5EF4-FFF2-40B4-BE49-F238E27FC236}">
                <a16:creationId xmlns:a16="http://schemas.microsoft.com/office/drawing/2014/main" id="{F4304913-4725-44EB-A92C-2F8BBAD7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5049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画面构图 / composition</a:t>
            </a:r>
          </a:p>
        </p:txBody>
      </p:sp>
      <p:sp>
        <p:nvSpPr>
          <p:cNvPr id="27" name="dimension-tags-05">
            <a:extLst xmlns:a="http://schemas.openxmlformats.org/drawingml/2006/main">
              <a:ext uri="{FF2B5EF4-FFF2-40B4-BE49-F238E27FC236}">
                <a16:creationId xmlns:a16="http://schemas.microsoft.com/office/drawing/2014/main" id="{0BFBBCE5-1341-4DEA-82BF-EC72AEAB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8478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全身 · 近景 · 细节特写 · 纯商品图</a:t>
            </a:r>
          </a:p>
        </p:txBody>
      </p:sp>
      <p:sp>
        <p:nvSpPr>
          <p:cNvPr id="28" name="dimension-note-05">
            <a:extLst xmlns:a="http://schemas.openxmlformats.org/drawingml/2006/main">
              <a:ext uri="{FF2B5EF4-FFF2-40B4-BE49-F238E27FC236}">
                <a16:creationId xmlns:a16="http://schemas.microsoft.com/office/drawing/2014/main" id="{4B32B37B-8DD9-4BD3-AB42-0AEB9AB39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479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区分全身、近景、细节与无模特商品图。</a:t>
            </a:r>
          </a:p>
        </p:txBody>
      </p:sp>
      <p:sp>
        <p:nvSpPr>
          <p:cNvPr id="29" name="rule">
            <a:extLst xmlns:a="http://schemas.openxmlformats.org/drawingml/2006/main">
              <a:ext uri="{FF2B5EF4-FFF2-40B4-BE49-F238E27FC236}">
                <a16:creationId xmlns:a16="http://schemas.microsoft.com/office/drawing/2014/main" id="{05E11485-452B-4D04-AACD-9AFEF29D8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717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dimension-index-06">
            <a:extLst xmlns:a="http://schemas.openxmlformats.org/drawingml/2006/main">
              <a:ext uri="{FF2B5EF4-FFF2-40B4-BE49-F238E27FC236}">
                <a16:creationId xmlns:a16="http://schemas.microsoft.com/office/drawing/2014/main" id="{F36A89CE-922A-4501-B66E-29EB8095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0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dimension-title-06">
            <a:extLst xmlns:a="http://schemas.openxmlformats.org/drawingml/2006/main">
              <a:ext uri="{FF2B5EF4-FFF2-40B4-BE49-F238E27FC236}">
                <a16:creationId xmlns:a16="http://schemas.microsoft.com/office/drawing/2014/main" id="{A55F9BD6-8C1F-4C81-AE68-EB919010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860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视角动作 / view_action</a:t>
            </a:r>
          </a:p>
        </p:txBody>
      </p:sp>
      <p:sp>
        <p:nvSpPr>
          <p:cNvPr id="32" name="dimension-tags-06">
            <a:extLst xmlns:a="http://schemas.openxmlformats.org/drawingml/2006/main">
              <a:ext uri="{FF2B5EF4-FFF2-40B4-BE49-F238E27FC236}">
                <a16:creationId xmlns:a16="http://schemas.microsoft.com/office/drawing/2014/main" id="{91AC46B6-30ED-4A6E-B4E3-7DC033B89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289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正面 · 背面 · 行走 · 镜面自拍</a:t>
            </a:r>
          </a:p>
        </p:txBody>
      </p:sp>
      <p:sp>
        <p:nvSpPr>
          <p:cNvPr id="33" name="dimension-note-06">
            <a:extLst xmlns:a="http://schemas.openxmlformats.org/drawingml/2006/main">
              <a:ext uri="{FF2B5EF4-FFF2-40B4-BE49-F238E27FC236}">
                <a16:creationId xmlns:a16="http://schemas.microsoft.com/office/drawing/2014/main" id="{48B7D229-D707-4229-B791-E11F5277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290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把正面、背面、行走与自拍等观看方式固定下来。</a:t>
            </a:r>
          </a:p>
        </p:txBody>
      </p:sp>
      <p:sp>
        <p:nvSpPr>
          <p:cNvPr id="34" name="rule">
            <a:extLst xmlns:a="http://schemas.openxmlformats.org/drawingml/2006/main">
              <a:ext uri="{FF2B5EF4-FFF2-40B4-BE49-F238E27FC236}">
                <a16:creationId xmlns:a16="http://schemas.microsoft.com/office/drawing/2014/main" id="{B2C41DC7-5F3C-453E-A403-28F0626C0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528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dimension-index-07">
            <a:extLst xmlns:a="http://schemas.openxmlformats.org/drawingml/2006/main">
              <a:ext uri="{FF2B5EF4-FFF2-40B4-BE49-F238E27FC236}">
                <a16:creationId xmlns:a16="http://schemas.microsoft.com/office/drawing/2014/main" id="{4F821ADB-AA96-4AB4-9C6B-CEAA4164A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862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6" name="dimension-title-07">
            <a:extLst xmlns:a="http://schemas.openxmlformats.org/drawingml/2006/main">
              <a:ext uri="{FF2B5EF4-FFF2-40B4-BE49-F238E27FC236}">
                <a16:creationId xmlns:a16="http://schemas.microsoft.com/office/drawing/2014/main" id="{42DC3B59-CD61-487A-92A8-EDBEEF61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671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卖点部位 / selling_points</a:t>
            </a:r>
          </a:p>
        </p:txBody>
      </p:sp>
      <p:sp>
        <p:nvSpPr>
          <p:cNvPr id="37" name="dimension-tags-07">
            <a:extLst xmlns:a="http://schemas.openxmlformats.org/drawingml/2006/main">
              <a:ext uri="{FF2B5EF4-FFF2-40B4-BE49-F238E27FC236}">
                <a16:creationId xmlns:a16="http://schemas.microsoft.com/office/drawing/2014/main" id="{0689EF0C-9253-4E3F-B842-330A45BA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100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领口 · 腰胯 · 面料纹理 · 整体造型</a:t>
            </a:r>
          </a:p>
        </p:txBody>
      </p:sp>
      <p:sp>
        <p:nvSpPr>
          <p:cNvPr id="38" name="dimension-note-07">
            <a:extLst xmlns:a="http://schemas.openxmlformats.org/drawingml/2006/main">
              <a:ext uri="{FF2B5EF4-FFF2-40B4-BE49-F238E27FC236}">
                <a16:creationId xmlns:a16="http://schemas.microsoft.com/office/drawing/2014/main" id="{5777915F-86F2-4A61-89C2-67B7A7AE2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101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记录镜头主要在解释领口、腰胯、面料还是整套造型。</a:t>
            </a:r>
          </a:p>
        </p:txBody>
      </p:sp>
      <p:sp>
        <p:nvSpPr>
          <p:cNvPr id="39" name="rule">
            <a:extLst xmlns:a="http://schemas.openxmlformats.org/drawingml/2006/main">
              <a:ext uri="{FF2B5EF4-FFF2-40B4-BE49-F238E27FC236}">
                <a16:creationId xmlns:a16="http://schemas.microsoft.com/office/drawing/2014/main" id="{FAF19C99-22E9-4181-9398-4EF22F32D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339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dimension-index-08">
            <a:extLst xmlns:a="http://schemas.openxmlformats.org/drawingml/2006/main">
              <a:ext uri="{FF2B5EF4-FFF2-40B4-BE49-F238E27FC236}">
                <a16:creationId xmlns:a16="http://schemas.microsoft.com/office/drawing/2014/main" id="{63B480E3-40C5-4CB4-B4F4-958EC89F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673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1" name="dimension-title-08">
            <a:extLst xmlns:a="http://schemas.openxmlformats.org/drawingml/2006/main">
              <a:ext uri="{FF2B5EF4-FFF2-40B4-BE49-F238E27FC236}">
                <a16:creationId xmlns:a16="http://schemas.microsoft.com/office/drawing/2014/main" id="{6A3802B4-22CF-4E9A-AECC-C14113D9B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0482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拍摄场景 / scene</a:t>
            </a:r>
          </a:p>
        </p:txBody>
      </p:sp>
      <p:sp>
        <p:nvSpPr>
          <p:cNvPr id="42" name="dimension-tags-08">
            <a:extLst xmlns:a="http://schemas.openxmlformats.org/drawingml/2006/main">
              <a:ext uri="{FF2B5EF4-FFF2-40B4-BE49-F238E27FC236}">
                <a16:creationId xmlns:a16="http://schemas.microsoft.com/office/drawing/2014/main" id="{6CD61188-9E37-471E-AE63-1E079944F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3911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中性棚拍 · 街道 · 海滩 · 建筑空间</a:t>
            </a:r>
          </a:p>
        </p:txBody>
      </p:sp>
      <p:sp>
        <p:nvSpPr>
          <p:cNvPr id="43" name="dimension-note-08">
            <a:extLst xmlns:a="http://schemas.openxmlformats.org/drawingml/2006/main">
              <a:ext uri="{FF2B5EF4-FFF2-40B4-BE49-F238E27FC236}">
                <a16:creationId xmlns:a16="http://schemas.microsoft.com/office/drawing/2014/main" id="{E313E5C4-0079-488F-81DB-8C9D75819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7912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描述图片真实背景：棚拍、街道、海滩或建筑空间。</a:t>
            </a:r>
          </a:p>
        </p:txBody>
      </p:sp>
      <p:sp>
        <p:nvSpPr>
          <p:cNvPr id="44" name="rule">
            <a:extLst xmlns:a="http://schemas.openxmlformats.org/drawingml/2006/main">
              <a:ext uri="{FF2B5EF4-FFF2-40B4-BE49-F238E27FC236}">
                <a16:creationId xmlns:a16="http://schemas.microsoft.com/office/drawing/2014/main" id="{0956F64F-D6EC-487A-BC7E-6D169349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1150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rule">
            <a:extLst xmlns:a="http://schemas.openxmlformats.org/drawingml/2006/main">
              <a:ext uri="{FF2B5EF4-FFF2-40B4-BE49-F238E27FC236}">
                <a16:creationId xmlns:a16="http://schemas.microsoft.com/office/drawing/2014/main" id="{46103B41-C410-4348-AEB1-E405D9389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footer">
            <a:extLst xmlns:a="http://schemas.openxmlformats.org/drawingml/2006/main">
              <a:ext uri="{FF2B5EF4-FFF2-40B4-BE49-F238E27FC236}">
                <a16:creationId xmlns:a16="http://schemas.microsoft.com/office/drawing/2014/main" id="{A5AB3EBF-B47B-4127-B7C6-F203AE11C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6850765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eyebrow">
            <a:extLst xmlns:a="http://schemas.openxmlformats.org/drawingml/2006/main">
              <a:ext uri="{FF2B5EF4-FFF2-40B4-BE49-F238E27FC236}">
                <a16:creationId xmlns:a16="http://schemas.microsoft.com/office/drawing/2014/main" id="{D82A992F-8E3A-4E00-BAFF-BBB684FBA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2 · TAXONOMY EXAMPLES 2/2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51C09D1-8C6A-447E-BD84-EEE9820C0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后7维补足材质、视觉语言与版面信号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AABE464-831A-4BE8-A484-4FA0F45BA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Aloruh的09–15维均已完成；光线、模特状态和图文叠加让报告可覆盖白皮书中的拍摄与可见模特要求。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CBDFFF4-39EC-4DF3-A55F-77C077462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dimension-index-09">
            <a:extLst xmlns:a="http://schemas.openxmlformats.org/drawingml/2006/main">
              <a:ext uri="{FF2B5EF4-FFF2-40B4-BE49-F238E27FC236}">
                <a16:creationId xmlns:a16="http://schemas.microsoft.com/office/drawing/2014/main" id="{EEB56BA2-0DEC-4CA6-A42F-2BB89CDA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dimension-title-09">
            <a:extLst xmlns:a="http://schemas.openxmlformats.org/drawingml/2006/main">
              <a:ext uri="{FF2B5EF4-FFF2-40B4-BE49-F238E27FC236}">
                <a16:creationId xmlns:a16="http://schemas.microsoft.com/office/drawing/2014/main" id="{786D25AE-1F87-41AD-A330-A107FD281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049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材质纹理 / material_texture</a:t>
            </a:r>
          </a:p>
        </p:txBody>
      </p:sp>
      <p:sp>
        <p:nvSpPr>
          <p:cNvPr id="7" name="dimension-tags-09">
            <a:extLst xmlns:a="http://schemas.openxmlformats.org/drawingml/2006/main">
              <a:ext uri="{FF2B5EF4-FFF2-40B4-BE49-F238E27FC236}">
                <a16:creationId xmlns:a16="http://schemas.microsoft.com/office/drawing/2014/main" id="{E096B0E4-822B-471E-A3FF-27C8D115A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针织 · 蕾丝 · 缎面感 · 牛仔</a:t>
            </a:r>
          </a:p>
        </p:txBody>
      </p:sp>
      <p:sp>
        <p:nvSpPr>
          <p:cNvPr id="8" name="dimension-note-09">
            <a:extLst xmlns:a="http://schemas.openxmlformats.org/drawingml/2006/main">
              <a:ext uri="{FF2B5EF4-FFF2-40B4-BE49-F238E27FC236}">
                <a16:creationId xmlns:a16="http://schemas.microsoft.com/office/drawing/2014/main" id="{3DEB3F5C-5761-4998-BA13-8F07A3B26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只标记肉眼可见或标题明确支持的纹理，不猜测纤维成分。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085AF33F-487D-4AD8-8F8E-D67F7C3A0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imension-index-10">
            <a:extLst xmlns:a="http://schemas.openxmlformats.org/drawingml/2006/main">
              <a:ext uri="{FF2B5EF4-FFF2-40B4-BE49-F238E27FC236}">
                <a16:creationId xmlns:a16="http://schemas.microsoft.com/office/drawing/2014/main" id="{1DDBAB47-48BB-4815-BEDA-5A3CC6E40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0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1" name="dimension-title-10">
            <a:extLst xmlns:a="http://schemas.openxmlformats.org/drawingml/2006/main">
              <a:ext uri="{FF2B5EF4-FFF2-40B4-BE49-F238E27FC236}">
                <a16:creationId xmlns:a16="http://schemas.microsoft.com/office/drawing/2014/main" id="{0AA4A5A6-587F-461F-8C95-DB06AF95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色彩图案 / color_pattern</a:t>
            </a:r>
          </a:p>
        </p:txBody>
      </p:sp>
      <p:sp>
        <p:nvSpPr>
          <p:cNvPr id="12" name="dimension-tags-10">
            <a:extLst xmlns:a="http://schemas.openxmlformats.org/drawingml/2006/main">
              <a:ext uri="{FF2B5EF4-FFF2-40B4-BE49-F238E27FC236}">
                <a16:creationId xmlns:a16="http://schemas.microsoft.com/office/drawing/2014/main" id="{AC152FD6-8D33-4F07-BEB0-976FE35C3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黑色 · 红色 · 花卉图案 · 纯色</a:t>
            </a:r>
          </a:p>
        </p:txBody>
      </p:sp>
      <p:sp>
        <p:nvSpPr>
          <p:cNvPr id="13" name="dimension-note-10">
            <a:extLst xmlns:a="http://schemas.openxmlformats.org/drawingml/2006/main">
              <a:ext uri="{FF2B5EF4-FFF2-40B4-BE49-F238E27FC236}">
                <a16:creationId xmlns:a16="http://schemas.microsoft.com/office/drawing/2014/main" id="{BE0E711E-AF75-40E4-AEC3-F84E2632C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颜色与图案可以并存，例如红色＋纯色。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3715CFC8-B9EF-41B1-B902-0A07EC2AA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528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dimension-index-11">
            <a:extLst xmlns:a="http://schemas.openxmlformats.org/drawingml/2006/main">
              <a:ext uri="{FF2B5EF4-FFF2-40B4-BE49-F238E27FC236}">
                <a16:creationId xmlns:a16="http://schemas.microsoft.com/office/drawing/2014/main" id="{E1DFA5B9-B778-46FB-851F-CFDF5C7BD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16" name="dimension-title-11">
            <a:extLst xmlns:a="http://schemas.openxmlformats.org/drawingml/2006/main">
              <a:ext uri="{FF2B5EF4-FFF2-40B4-BE49-F238E27FC236}">
                <a16:creationId xmlns:a16="http://schemas.microsoft.com/office/drawing/2014/main" id="{9F5D627E-C9E4-4E17-9D49-DF936809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671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视觉语言 / visual_language</a:t>
            </a:r>
          </a:p>
        </p:txBody>
      </p:sp>
      <p:sp>
        <p:nvSpPr>
          <p:cNvPr id="17" name="dimension-tags-11">
            <a:extLst xmlns:a="http://schemas.openxmlformats.org/drawingml/2006/main">
              <a:ext uri="{FF2B5EF4-FFF2-40B4-BE49-F238E27FC236}">
                <a16:creationId xmlns:a16="http://schemas.microsoft.com/office/drawing/2014/main" id="{C6323BF1-B4E2-4B2B-90B0-4EB3A9C67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00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干净电商风 · 编辑大片感 · 社交UGC · 直接闪光</a:t>
            </a:r>
          </a:p>
        </p:txBody>
      </p:sp>
      <p:sp>
        <p:nvSpPr>
          <p:cNvPr id="18" name="dimension-note-11">
            <a:extLst xmlns:a="http://schemas.openxmlformats.org/drawingml/2006/main">
              <a:ext uri="{FF2B5EF4-FFF2-40B4-BE49-F238E27FC236}">
                <a16:creationId xmlns:a16="http://schemas.microsoft.com/office/drawing/2014/main" id="{A1931499-347E-48B4-B35A-EEFB772E5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01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描述商业棚拍、编辑感、社交UGC或直接闪光等表达。</a:t>
            </a: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72CD1C37-2425-480B-99AD-181404AB7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339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dimension-index-12">
            <a:extLst xmlns:a="http://schemas.openxmlformats.org/drawingml/2006/main">
              <a:ext uri="{FF2B5EF4-FFF2-40B4-BE49-F238E27FC236}">
                <a16:creationId xmlns:a16="http://schemas.microsoft.com/office/drawing/2014/main" id="{30F1E6D1-E2A9-4761-A483-A4DCD422F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673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21" name="dimension-title-12">
            <a:extLst xmlns:a="http://schemas.openxmlformats.org/drawingml/2006/main">
              <a:ext uri="{FF2B5EF4-FFF2-40B4-BE49-F238E27FC236}">
                <a16:creationId xmlns:a16="http://schemas.microsoft.com/office/drawing/2014/main" id="{91871F46-7228-4968-8F82-BB04F57F6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搭配方式 / styling</a:t>
            </a:r>
          </a:p>
        </p:txBody>
      </p:sp>
      <p:sp>
        <p:nvSpPr>
          <p:cNvPr id="22" name="dimension-tags-12">
            <a:extLst xmlns:a="http://schemas.openxmlformats.org/drawingml/2006/main">
              <a:ext uri="{FF2B5EF4-FFF2-40B4-BE49-F238E27FC236}">
                <a16:creationId xmlns:a16="http://schemas.microsoft.com/office/drawing/2014/main" id="{29DA780E-1F12-421A-8F13-C835410D6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911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单品展示 · 完整造型 · 叠穿 · 手袋</a:t>
            </a:r>
          </a:p>
        </p:txBody>
      </p:sp>
      <p:sp>
        <p:nvSpPr>
          <p:cNvPr id="23" name="dimension-note-12">
            <a:extLst xmlns:a="http://schemas.openxmlformats.org/drawingml/2006/main">
              <a:ext uri="{FF2B5EF4-FFF2-40B4-BE49-F238E27FC236}">
                <a16:creationId xmlns:a16="http://schemas.microsoft.com/office/drawing/2014/main" id="{81794196-3F25-41F7-AD7F-8FE36ECC9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912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记录单品、整套、叠穿以及可见配饰如何参与画面。</a:t>
            </a:r>
          </a:p>
        </p:txBody>
      </p:sp>
      <p:sp>
        <p:nvSpPr>
          <p:cNvPr id="24" name="rule">
            <a:extLst xmlns:a="http://schemas.openxmlformats.org/drawingml/2006/main">
              <a:ext uri="{FF2B5EF4-FFF2-40B4-BE49-F238E27FC236}">
                <a16:creationId xmlns:a16="http://schemas.microsoft.com/office/drawing/2014/main" id="{6E3813B8-797B-4ACA-9BAC-30061DA3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150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dimension-index-13">
            <a:extLst xmlns:a="http://schemas.openxmlformats.org/drawingml/2006/main">
              <a:ext uri="{FF2B5EF4-FFF2-40B4-BE49-F238E27FC236}">
                <a16:creationId xmlns:a16="http://schemas.microsoft.com/office/drawing/2014/main" id="{F6AEADCE-3386-4CCD-8F35-284864E9D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26" name="dimension-title-13">
            <a:extLst xmlns:a="http://schemas.openxmlformats.org/drawingml/2006/main">
              <a:ext uri="{FF2B5EF4-FFF2-40B4-BE49-F238E27FC236}">
                <a16:creationId xmlns:a16="http://schemas.microsoft.com/office/drawing/2014/main" id="{D7ED6775-9A71-47D6-805A-C6ED1E4E6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5049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光线 / lighting</a:t>
            </a:r>
          </a:p>
        </p:txBody>
      </p:sp>
      <p:sp>
        <p:nvSpPr>
          <p:cNvPr id="27" name="dimension-tags-13">
            <a:extLst xmlns:a="http://schemas.openxmlformats.org/drawingml/2006/main">
              <a:ext uri="{FF2B5EF4-FFF2-40B4-BE49-F238E27FC236}">
                <a16:creationId xmlns:a16="http://schemas.microsoft.com/office/drawing/2014/main" id="{F842C688-438B-431A-BC06-9C9AABC6F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8478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柔和漫射光 · 自然日光 · 直接闪光 · 低调暗光</a:t>
            </a:r>
          </a:p>
        </p:txBody>
      </p:sp>
      <p:sp>
        <p:nvSpPr>
          <p:cNvPr id="28" name="dimension-note-13">
            <a:extLst xmlns:a="http://schemas.openxmlformats.org/drawingml/2006/main">
              <a:ext uri="{FF2B5EF4-FFF2-40B4-BE49-F238E27FC236}">
                <a16:creationId xmlns:a16="http://schemas.microsoft.com/office/drawing/2014/main" id="{96336E40-8B90-4BF0-A9BC-A428DF893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479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把柔光、自然光、直闪和低调照明拆成独立可筛选信号。</a:t>
            </a:r>
          </a:p>
        </p:txBody>
      </p:sp>
      <p:sp>
        <p:nvSpPr>
          <p:cNvPr id="29" name="rule">
            <a:extLst xmlns:a="http://schemas.openxmlformats.org/drawingml/2006/main">
              <a:ext uri="{FF2B5EF4-FFF2-40B4-BE49-F238E27FC236}">
                <a16:creationId xmlns:a16="http://schemas.microsoft.com/office/drawing/2014/main" id="{7B90EACD-6CF0-4EB7-AF3C-7D2081B2F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717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dimension-index-14">
            <a:extLst xmlns:a="http://schemas.openxmlformats.org/drawingml/2006/main">
              <a:ext uri="{FF2B5EF4-FFF2-40B4-BE49-F238E27FC236}">
                <a16:creationId xmlns:a16="http://schemas.microsoft.com/office/drawing/2014/main" id="{69BEEACD-4465-4D26-87E9-D2CDCF061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0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1" name="dimension-title-14">
            <a:extLst xmlns:a="http://schemas.openxmlformats.org/drawingml/2006/main">
              <a:ext uri="{FF2B5EF4-FFF2-40B4-BE49-F238E27FC236}">
                <a16:creationId xmlns:a16="http://schemas.microsoft.com/office/drawing/2014/main" id="{DB6B5D95-5224-43A9-BC65-FB649058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860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模特状态 / model_state</a:t>
            </a:r>
          </a:p>
        </p:txBody>
      </p:sp>
      <p:sp>
        <p:nvSpPr>
          <p:cNvPr id="32" name="dimension-tags-14">
            <a:extLst xmlns:a="http://schemas.openxmlformats.org/drawingml/2006/main">
              <a:ext uri="{FF2B5EF4-FFF2-40B4-BE49-F238E27FC236}">
                <a16:creationId xmlns:a16="http://schemas.microsoft.com/office/drawing/2014/main" id="{C7AB8DD3-BA5C-480D-96C7-1AB86B2EB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289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无模特 · 站立姿势 · 视线偏离镜头 · 面部裁切</a:t>
            </a:r>
          </a:p>
        </p:txBody>
      </p:sp>
      <p:sp>
        <p:nvSpPr>
          <p:cNvPr id="33" name="dimension-note-14">
            <a:extLst xmlns:a="http://schemas.openxmlformats.org/drawingml/2006/main">
              <a:ext uri="{FF2B5EF4-FFF2-40B4-BE49-F238E27FC236}">
                <a16:creationId xmlns:a16="http://schemas.microsoft.com/office/drawing/2014/main" id="{34459E0F-EAA4-4353-9088-A959E6028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290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只记录姿态与可见状态，不推断身份、健康或吸引力。</a:t>
            </a:r>
          </a:p>
        </p:txBody>
      </p:sp>
      <p:sp>
        <p:nvSpPr>
          <p:cNvPr id="34" name="rule">
            <a:extLst xmlns:a="http://schemas.openxmlformats.org/drawingml/2006/main">
              <a:ext uri="{FF2B5EF4-FFF2-40B4-BE49-F238E27FC236}">
                <a16:creationId xmlns:a16="http://schemas.microsoft.com/office/drawing/2014/main" id="{802DAD01-952D-4EBA-9415-6B95FFD5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528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dimension-index-15">
            <a:extLst xmlns:a="http://schemas.openxmlformats.org/drawingml/2006/main">
              <a:ext uri="{FF2B5EF4-FFF2-40B4-BE49-F238E27FC236}">
                <a16:creationId xmlns:a16="http://schemas.microsoft.com/office/drawing/2014/main" id="{D12D5380-73F7-4BB5-AA3C-7AA9FB47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862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6" name="dimension-title-15">
            <a:extLst xmlns:a="http://schemas.openxmlformats.org/drawingml/2006/main">
              <a:ext uri="{FF2B5EF4-FFF2-40B4-BE49-F238E27FC236}">
                <a16:creationId xmlns:a16="http://schemas.microsoft.com/office/drawing/2014/main" id="{CC83B461-5EF9-475D-9744-E9FC8285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671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图文叠加 / graphic_overlay</a:t>
            </a:r>
          </a:p>
        </p:txBody>
      </p:sp>
      <p:sp>
        <p:nvSpPr>
          <p:cNvPr id="37" name="dimension-tags-15">
            <a:extLst xmlns:a="http://schemas.openxmlformats.org/drawingml/2006/main">
              <a:ext uri="{FF2B5EF4-FFF2-40B4-BE49-F238E27FC236}">
                <a16:creationId xmlns:a16="http://schemas.microsoft.com/office/drawing/2014/main" id="{BAE44929-AC76-469C-84BB-DD27ED7F6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100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无叠加 · 文字叠加 · 拼贴 · Logo水印</a:t>
            </a:r>
          </a:p>
        </p:txBody>
      </p:sp>
      <p:sp>
        <p:nvSpPr>
          <p:cNvPr id="38" name="dimension-note-15">
            <a:extLst xmlns:a="http://schemas.openxmlformats.org/drawingml/2006/main">
              <a:ext uri="{FF2B5EF4-FFF2-40B4-BE49-F238E27FC236}">
                <a16:creationId xmlns:a16="http://schemas.microsoft.com/office/drawing/2014/main" id="{D4C93E57-D7D4-475B-8CAB-27149DD40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101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识别纯图、文字、拼贴、Logo水印等版面处理。</a:t>
            </a:r>
          </a:p>
        </p:txBody>
      </p:sp>
      <p:sp>
        <p:nvSpPr>
          <p:cNvPr id="39" name="rule">
            <a:extLst xmlns:a="http://schemas.openxmlformats.org/drawingml/2006/main">
              <a:ext uri="{FF2B5EF4-FFF2-40B4-BE49-F238E27FC236}">
                <a16:creationId xmlns:a16="http://schemas.microsoft.com/office/drawing/2014/main" id="{B552BE99-3494-4411-97F1-BBA481EF7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339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box">
            <a:extLst xmlns:a="http://schemas.openxmlformats.org/drawingml/2006/main">
              <a:ext uri="{FF2B5EF4-FFF2-40B4-BE49-F238E27FC236}">
                <a16:creationId xmlns:a16="http://schemas.microsoft.com/office/drawing/2014/main" id="{4501F2AA-5F7F-49D3-A26E-1532F4E84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05400"/>
            <a:ext cx="52768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FF79A452-0653-40D7-B763-EB11A570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2959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D4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D4F2"/>
                </a:solidFill>
                <a:latin typeface="Microsoft YaHei"/>
                <a:ea typeface="Microsoft YaHei"/>
                <a:cs typeface="Microsoft YaHei"/>
              </a:rPr>
              <a:t>“无法判断”规则</a:t>
            </a:r>
          </a:p>
        </p:txBody>
      </p:sp>
      <p:sp>
        <p:nvSpPr>
          <p:cNvPr id="42" name="text">
            <a:extLst xmlns:a="http://schemas.openxmlformats.org/drawingml/2006/main">
              <a:ext uri="{FF2B5EF4-FFF2-40B4-BE49-F238E27FC236}">
                <a16:creationId xmlns:a16="http://schemas.microsoft.com/office/drawing/2014/main" id="{255D3B6A-11AA-4C56-B64A-A6F63C349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60070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看不清就返回“无法判断”（UNKNOWN），不再返回其他标签。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漏图、重复图或非法标签会被程序拒绝。</a:t>
            </a:r>
          </a:p>
        </p:txBody>
      </p:sp>
      <p:sp>
        <p:nvSpPr>
          <p:cNvPr id="43" name="rule">
            <a:extLst xmlns:a="http://schemas.openxmlformats.org/drawingml/2006/main">
              <a:ext uri="{FF2B5EF4-FFF2-40B4-BE49-F238E27FC236}">
                <a16:creationId xmlns:a16="http://schemas.microsoft.com/office/drawing/2014/main" id="{02B904F7-8BE7-4CA6-A18D-364655AF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footer">
            <a:extLst xmlns:a="http://schemas.openxmlformats.org/drawingml/2006/main">
              <a:ext uri="{FF2B5EF4-FFF2-40B4-BE49-F238E27FC236}">
                <a16:creationId xmlns:a16="http://schemas.microsoft.com/office/drawing/2014/main" id="{0FD59638-7234-4D1A-8247-160C7068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5995219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eyebrow">
            <a:extLst xmlns:a="http://schemas.openxmlformats.org/drawingml/2006/main">
              <a:ext uri="{FF2B5EF4-FFF2-40B4-BE49-F238E27FC236}">
                <a16:creationId xmlns:a16="http://schemas.microsoft.com/office/drawing/2014/main" id="{366F353D-5DAD-4B15-97B6-7BDC00A59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2 → 3 · AI ANALYSIS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36D7A2D-FFCA-4CA9-839D-44D62130D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Terra负责“可查询标签”，Sol负责“可交付结论”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4FC0EE1-6D4C-47C4-B610-0005F8BD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两层模型共享图片键与证据上下文，但输入清晰度、触发时机、输出结构和成本完全不同。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27C8EEA-6794-4CD6-BD4F-CA8DABD26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model-lane-0">
            <a:extLst xmlns:a="http://schemas.openxmlformats.org/drawingml/2006/main">
              <a:ext uri="{FF2B5EF4-FFF2-40B4-BE49-F238E27FC236}">
                <a16:creationId xmlns:a16="http://schemas.microsoft.com/office/drawing/2014/main" id="{C6052894-A349-437C-AF09-E94E73664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5334000" cy="4076700"/>
          </a:xfrm>
          <a:prstGeom xmlns:a="http://schemas.openxmlformats.org/drawingml/2006/main" prst="roundRect">
            <a:avLst>
              <a:gd name="adj" fmla="val 1869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912FF41-4C04-4540-806C-38313B843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GPT-5.6-TERRA / BATCH TAGGING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7232EEB-CFCF-4A8E-BDFB-154B8EFFE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Aloruh v2已完成15维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582CA0E-AAE1-4D51-A510-83A4B21D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78756F1-9A25-46D0-AC08-D0E86A5D0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57500"/>
            <a:ext cx="417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图片URL＋标题＋当前分类＋位置；detail=low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534B068-1FE9-4D79-9571-ABD68666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调度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DCD8AAE-A010-4B7F-9A52-BE12CF72A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90900"/>
            <a:ext cx="417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默认8图/批、8个worker；只处理未分析且URL去重后的图片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14D05D5-5D79-48B9-A7DB-4F9C0E379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Prompt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C58A3A2-6753-465D-A41C-B17D65A9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24300"/>
            <a:ext cx="417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受控字典＋可见证据边界＋UNKNOWN＋主售商品规则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6B1A4AE2-BDA4-44BB-AF43-62F103BBC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D649C19-2C37-4F6A-BA6C-B7D3986D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57700"/>
            <a:ext cx="417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7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Aloruh v2返回15组tags＋confidence；竞品v1保留12组；strict JSON Schema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CFC8718-275A-41C5-BCDA-937D6D43E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质控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2E7A1147-3EFA-497A-BE2C-C5B07E4C8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91100"/>
            <a:ext cx="417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增量检查点、4次重试、策略拦截拆批、图片索引校验</a:t>
            </a:r>
          </a:p>
        </p:txBody>
      </p:sp>
      <p:sp>
        <p:nvSpPr>
          <p:cNvPr id="18" name="model-lane-1">
            <a:extLst xmlns:a="http://schemas.openxmlformats.org/drawingml/2006/main">
              <a:ext uri="{FF2B5EF4-FFF2-40B4-BE49-F238E27FC236}">
                <a16:creationId xmlns:a16="http://schemas.microsoft.com/office/drawing/2014/main" id="{0EA785FF-2EF3-4032-9B3E-B13666A5D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5334000" cy="4076700"/>
          </a:xfrm>
          <a:prstGeom xmlns:a="http://schemas.openxmlformats.org/drawingml/2006/main" prst="roundRect">
            <a:avLst>
              <a:gd name="adj" fmla="val 1869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B9347D3-FBB2-468C-A3E9-47705C333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097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GPT-5.6-SOL / PAID DEEP ANALYSIS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9B3882F6-71C9-4628-94FA-B1C6A0CAA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098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按需高清精读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51FA60C1-7A82-440B-94F6-5EA593404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765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C23EE6D0-4B26-40C1-9B64-D8DDE3A74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857500"/>
            <a:ext cx="417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高清文件＋店铺/商品/品类＋固定筛选条件；detail=high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2A3E527C-D6B9-4D94-83A3-6B98AE58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099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触发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E196EFBB-54B4-4BDA-B6A9-04330AA22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90900"/>
            <a:ext cx="417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体验1点击付费分析；体验2启动整体报告专项分析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3C240250-2653-496B-904A-D1ED2876E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433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Prompt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62BC8551-09BA-4E94-9F8C-2EB904523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924300"/>
            <a:ext cx="417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先写可见事实，再解释；每个判断必须有visible_cue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32D059D3-D793-4B43-A5C1-551F82913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767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053A5296-01CB-4F6A-8369-EF3B6C402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457700"/>
            <a:ext cx="417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逐图观察、优缺点、建议、证据；再汇总店铺与Section结论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4BC95AC0-475B-40F3-9FBD-ECF1D74E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0101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质控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F595E81D-2D28-4B95-8F73-14D40D51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991100"/>
            <a:ext cx="417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不写CTR/CVR因果；校验图片ID、品牌归属与Section数量</a:t>
            </a:r>
          </a:p>
        </p:txBody>
      </p:sp>
      <p:sp>
        <p:nvSpPr>
          <p:cNvPr id="31" name="box">
            <a:extLst xmlns:a="http://schemas.openxmlformats.org/drawingml/2006/main">
              <a:ext uri="{FF2B5EF4-FFF2-40B4-BE49-F238E27FC236}">
                <a16:creationId xmlns:a16="http://schemas.microsoft.com/office/drawing/2014/main" id="{FBF2D853-E12D-4BC6-9A6E-D671BBCD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0972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13500D26-8FC8-4238-B684-4175162CF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51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Terra已把27,355张图变成检索空间：Aloruh首图15维，其他店铺12维；Sol只在用户明确付费时读取高清图。</a:t>
            </a:r>
          </a:p>
        </p:txBody>
      </p:sp>
      <p:sp>
        <p:nvSpPr>
          <p:cNvPr id="33" name="rule">
            <a:extLst xmlns:a="http://schemas.openxmlformats.org/drawingml/2006/main">
              <a:ext uri="{FF2B5EF4-FFF2-40B4-BE49-F238E27FC236}">
                <a16:creationId xmlns:a16="http://schemas.microsoft.com/office/drawing/2014/main" id="{5298C9B7-C86C-47F5-9B96-2F21A71F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footer">
            <a:extLst xmlns:a="http://schemas.openxmlformats.org/drawingml/2006/main">
              <a:ext uri="{FF2B5EF4-FFF2-40B4-BE49-F238E27FC236}">
                <a16:creationId xmlns:a16="http://schemas.microsoft.com/office/drawing/2014/main" id="{63C17475-B5C4-43B2-AFDB-95C0FFE8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80404692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eyebrow">
            <a:extLst xmlns:a="http://schemas.openxmlformats.org/drawingml/2006/main">
              <a:ext uri="{FF2B5EF4-FFF2-40B4-BE49-F238E27FC236}">
                <a16:creationId xmlns:a16="http://schemas.microsoft.com/office/drawing/2014/main" id="{DC167F44-FF5B-47ED-A5DF-0AFEAAE69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2 · TERRA ACTUAL PROMPT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172AE49-E8AF-49D3-9F17-C0C83C6D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第11页：维度相关部分是标签字典，不是15条判断Prompt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2192666-834B-4B51-8AB5-AE119C5B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代码里只有一条统一判断规则；每个维度后面列出允许返回的受控代码。以下为真实维度行节选。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4C8AD91-2905-4C02-B4BD-4AB9EBD4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flow-arrow">
            <a:extLst xmlns:a="http://schemas.openxmlformats.org/drawingml/2006/main">
              <a:ext uri="{FF2B5EF4-FFF2-40B4-BE49-F238E27FC236}">
                <a16:creationId xmlns:a16="http://schemas.microsoft.com/office/drawing/2014/main" id="{6AB3764A-06E2-4959-AEDF-364BEA639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3835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flow-arrow">
            <a:extLst xmlns:a="http://schemas.openxmlformats.org/drawingml/2006/main">
              <a:ext uri="{FF2B5EF4-FFF2-40B4-BE49-F238E27FC236}">
                <a16:creationId xmlns:a16="http://schemas.microsoft.com/office/drawing/2014/main" id="{7C935FCE-188B-4D73-9AED-6391C8FF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03835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flow-arrow">
            <a:extLst xmlns:a="http://schemas.openxmlformats.org/drawingml/2006/main">
              <a:ext uri="{FF2B5EF4-FFF2-40B4-BE49-F238E27FC236}">
                <a16:creationId xmlns:a16="http://schemas.microsoft.com/office/drawing/2014/main" id="{D1689B1D-CC7D-4D63-A134-BBE1A8AC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3835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flow-01">
            <a:extLst xmlns:a="http://schemas.openxmlformats.org/drawingml/2006/main">
              <a:ext uri="{FF2B5EF4-FFF2-40B4-BE49-F238E27FC236}">
                <a16:creationId xmlns:a16="http://schemas.microsoft.com/office/drawing/2014/main" id="{01BFDCFB-2449-4B7F-87A7-846820437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24003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2475F0D-9854-48C1-A832-FAE76B0C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526A0EB-DCE2-4C15-8057-2C12600F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每批图片＋上下文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373FF04-3B27-4769-A9B5-EAE8EFDE1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33650"/>
            <a:ext cx="2057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URL · 标题 · 已有品类 · 位置</a:t>
            </a:r>
          </a:p>
        </p:txBody>
      </p:sp>
      <p:sp>
        <p:nvSpPr>
          <p:cNvPr id="12" name="flow-02">
            <a:extLst xmlns:a="http://schemas.openxmlformats.org/drawingml/2006/main">
              <a:ext uri="{FF2B5EF4-FFF2-40B4-BE49-F238E27FC236}">
                <a16:creationId xmlns:a16="http://schemas.microsoft.com/office/drawing/2014/main" id="{AF413757-F73C-4D83-A25C-F2A600335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657350"/>
            <a:ext cx="26098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4A9A3CD-C0C6-4E0F-9327-B48CDBC77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809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1D1932D-2EF7-4F3B-BD8C-332AF3B41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14550"/>
            <a:ext cx="2266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统一可见证据规则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5E1E0B5-066E-44D5-B1EA-8267887A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3365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59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看不清=UNKNOWN · 主售商品优先</a:t>
            </a:r>
          </a:p>
        </p:txBody>
      </p:sp>
      <p:sp>
        <p:nvSpPr>
          <p:cNvPr id="16" name="flow-03">
            <a:extLst xmlns:a="http://schemas.openxmlformats.org/drawingml/2006/main">
              <a:ext uri="{FF2B5EF4-FFF2-40B4-BE49-F238E27FC236}">
                <a16:creationId xmlns:a16="http://schemas.microsoft.com/office/drawing/2014/main" id="{1B36688F-A487-438B-BDA1-E51F32F98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57350"/>
            <a:ext cx="26098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65A25945-1839-4C9D-B6B6-6285D84B1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2365906D-6D77-48BF-9869-9486B3A87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2266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15个受控字段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A03B88A-8D7B-466B-9C56-CDC4CEFD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3365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同一次调用全部判断，不拆15次</a:t>
            </a:r>
          </a:p>
        </p:txBody>
      </p:sp>
      <p:sp>
        <p:nvSpPr>
          <p:cNvPr id="20" name="flow-04">
            <a:extLst xmlns:a="http://schemas.openxmlformats.org/drawingml/2006/main">
              <a:ext uri="{FF2B5EF4-FFF2-40B4-BE49-F238E27FC236}">
                <a16:creationId xmlns:a16="http://schemas.microsoft.com/office/drawing/2014/main" id="{EACB5A75-84EA-44FA-A8ED-54C36C900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657350"/>
            <a:ext cx="23431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913DDD32-60EB-41C8-8399-D62887B5C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809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7D7D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7D7D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C689DFE3-8799-4CD3-9086-39C706978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1145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严格JSON返回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9B7CDDA3-F5F4-4F71-A984-B79122CB6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336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rPr>
              <a:t>每维标签＋置信度 · 漏项失败</a:t>
            </a:r>
          </a:p>
        </p:txBody>
      </p:sp>
      <p:sp>
        <p:nvSpPr>
          <p:cNvPr id="24" name="code-统一规则节选">
            <a:extLst xmlns:a="http://schemas.openxmlformats.org/drawingml/2006/main">
              <a:ext uri="{FF2B5EF4-FFF2-40B4-BE49-F238E27FC236}">
                <a16:creationId xmlns:a16="http://schemas.microsoft.com/office/drawing/2014/main" id="{F78AC327-35E1-4BDF-8F2F-AF6CB3F77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5150"/>
            <a:ext cx="4095750" cy="2838450"/>
          </a:xfrm>
          <a:prstGeom xmlns:a="http://schemas.openxmlformats.org/drawingml/2006/main" prst="roundRect">
            <a:avLst>
              <a:gd name="adj" fmla="val 268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ode-title-统一规则节选">
            <a:extLst xmlns:a="http://schemas.openxmlformats.org/drawingml/2006/main">
              <a:ext uri="{FF2B5EF4-FFF2-40B4-BE49-F238E27FC236}">
                <a16:creationId xmlns:a16="http://schemas.microsoft.com/office/drawing/2014/main" id="{CEE13DE9-448A-4CF6-A28F-2D2494D82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766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统一规则节选</a:t>
            </a:r>
          </a:p>
        </p:txBody>
      </p:sp>
      <p:sp>
        <p:nvSpPr>
          <p:cNvPr id="26" name="code-body-统一规则节选">
            <a:extLst xmlns:a="http://schemas.openxmlformats.org/drawingml/2006/main">
              <a:ext uri="{FF2B5EF4-FFF2-40B4-BE49-F238E27FC236}">
                <a16:creationId xmlns:a16="http://schemas.microsoft.com/office/drawing/2014/main" id="{D1693C1C-EDCC-40E6-A74C-F4D3ECA4D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371475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Use visible evidence and the supplied title/category only.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Select UNKNOWN when a dimension is not observable,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and never combine UNKNOWN with another code.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product_category must have exactly one value.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Other dimensions may have up to five values.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Focus on the primary item sold; accessories belong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in styling unless they are the primary product.</a:t>
            </a:r>
          </a:p>
        </p:txBody>
      </p:sp>
      <p:sp>
        <p:nvSpPr>
          <p:cNvPr id="27" name="code-5个真实维度行节选（受控标签，不是独立指令）">
            <a:extLst xmlns:a="http://schemas.openxmlformats.org/drawingml/2006/main">
              <a:ext uri="{FF2B5EF4-FFF2-40B4-BE49-F238E27FC236}">
                <a16:creationId xmlns:a16="http://schemas.microsoft.com/office/drawing/2014/main" id="{570FAF7F-DD21-46CC-B3E8-3C87E641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105150"/>
            <a:ext cx="6705600" cy="2838450"/>
          </a:xfrm>
          <a:prstGeom xmlns:a="http://schemas.openxmlformats.org/drawingml/2006/main" prst="roundRect">
            <a:avLst>
              <a:gd name="adj" fmla="val 2685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code-title-5个真实维度行节选（受控标签，不是独立指令）">
            <a:extLst xmlns:a="http://schemas.openxmlformats.org/drawingml/2006/main">
              <a:ext uri="{FF2B5EF4-FFF2-40B4-BE49-F238E27FC236}">
                <a16:creationId xmlns:a16="http://schemas.microsoft.com/office/drawing/2014/main" id="{0357E8AA-32C5-4260-9A1B-C10A1A3C4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276600"/>
            <a:ext cx="632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5个真实维度行节选（受控标签，不是独立指令）</a:t>
            </a:r>
          </a:p>
        </p:txBody>
      </p:sp>
      <p:sp>
        <p:nvSpPr>
          <p:cNvPr id="29" name="code-body-5个真实维度行节选（受控标签，不是独立指令）">
            <a:extLst xmlns:a="http://schemas.openxmlformats.org/drawingml/2006/main">
              <a:ext uri="{FF2B5EF4-FFF2-40B4-BE49-F238E27FC236}">
                <a16:creationId xmlns:a16="http://schemas.microsoft.com/office/drawing/2014/main" id="{F7FC9276-B1AC-462F-9B8F-77B8D86C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657600"/>
            <a:ext cx="63246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product_category: DRESSES, TOPS, SKIRTS, TROUSERS, ... , UNKNOWN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occasion: CASUAL, GOING_OUT, PARTY, DATE_NIGHT, VACATION, ... , UNKNOWN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composition: FULL_BODY, THREE_QUARTER, HALF_BODY, CLOSE_UP, ... , UNKNOWN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view_action: FRONT_VIEW, SIDE_VIEW, BACK_VIEW, TURNING_BACK, WALKING, ...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scene: STUDIO_NEUTRAL, HOME, MIRROR, BEDROOM, GARDEN, STREET, ... , UNKNOWN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代码没有额外的“occasion判断句”或“scene判断句”；维度语义由字段名、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标签集合、统一可见证据规则与严格输出Schema共同限定。</a:t>
            </a:r>
          </a:p>
        </p:txBody>
      </p:sp>
      <p:sp>
        <p:nvSpPr>
          <p:cNvPr id="30" name="box">
            <a:extLst xmlns:a="http://schemas.openxmlformats.org/drawingml/2006/main">
              <a:ext uri="{FF2B5EF4-FFF2-40B4-BE49-F238E27FC236}">
                <a16:creationId xmlns:a16="http://schemas.microsoft.com/office/drawing/2014/main" id="{1D3F4D64-EFF8-4061-8E27-757EDD8F4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76950"/>
            <a:ext cx="1104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D15CBB03-6E31-42D6-9FE4-AAB4A06D4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591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完整通用规则＋15个标签字典逐字放在附录A1–A4；Sol主流程与修订Prompt见附录A5–A9。</a:t>
            </a:r>
          </a:p>
        </p:txBody>
      </p:sp>
      <p:sp>
        <p:nvSpPr>
          <p:cNvPr id="32" name="rule">
            <a:extLst xmlns:a="http://schemas.openxmlformats.org/drawingml/2006/main">
              <a:ext uri="{FF2B5EF4-FFF2-40B4-BE49-F238E27FC236}">
                <a16:creationId xmlns:a16="http://schemas.microsoft.com/office/drawing/2014/main" id="{381E4585-4F47-4647-8925-F40AFB6D4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footer">
            <a:extLst xmlns:a="http://schemas.openxmlformats.org/drawingml/2006/main">
              <a:ext uri="{FF2B5EF4-FFF2-40B4-BE49-F238E27FC236}">
                <a16:creationId xmlns:a16="http://schemas.microsoft.com/office/drawing/2014/main" id="{B1EDF54D-FA2E-48AA-860E-4FF3911B0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10404290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E6A1953C-E0FB-46DE-9ADF-3035FE83C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 · SOL ACTUAL CALLS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8E5B8DE-FFBC-44EB-BAF0-E345CEDD0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真实实现：两种体验调用Sol的方式不同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7F84A69-7452-44EE-8FA9-55E966B9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体验1一次调用同时产出逐图观察和店铺比较；体验2先逐图观察，再进行第二次全量证据合成。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9E8FA60-174A-496D-AA7D-6140772F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prompt-体验1 / 单次高精度分析">
            <a:extLst xmlns:a="http://schemas.openxmlformats.org/drawingml/2006/main">
              <a:ext uri="{FF2B5EF4-FFF2-40B4-BE49-F238E27FC236}">
                <a16:creationId xmlns:a16="http://schemas.microsoft.com/office/drawing/2014/main" id="{D5420112-A057-479C-AAB5-5E234A4E9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5334000" cy="3771900"/>
          </a:xfrm>
          <a:prstGeom xmlns:a="http://schemas.openxmlformats.org/drawingml/2006/main" prst="roundRect">
            <a:avLst>
              <a:gd name="adj" fmla="val 2020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444747F-2F96-4459-98BB-C2F35965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体验1 / 单次高精度分析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960C45D-BEC5-47D2-960C-144BFA523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33600"/>
            <a:ext cx="49530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输入：固定筛选条件＋用户选中的高清图片（最多24张）。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真实Prompt要求：先写肉眼可见事实，再写解释；比较场景、景别、动作、光线、色彩、搭配、服装结构、视觉意图与店铺一致性。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同一次返回：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每张图的可见观察、优缺点、建议和证据线索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共同模式、店铺差异、各店总结、拍摄规则、A/B假设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边界：只代表本次选图，不代表各店全量分布。</a:t>
            </a:r>
          </a:p>
        </p:txBody>
      </p:sp>
      <p:sp>
        <p:nvSpPr>
          <p:cNvPr id="8" name="prompt-体验2 / 两阶段报告分析">
            <a:extLst xmlns:a="http://schemas.openxmlformats.org/drawingml/2006/main">
              <a:ext uri="{FF2B5EF4-FFF2-40B4-BE49-F238E27FC236}">
                <a16:creationId xmlns:a16="http://schemas.microsoft.com/office/drawing/2014/main" id="{6C1DEF7C-7B3B-4AA4-802D-CD95449B8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5638800" cy="3771900"/>
          </a:xfrm>
          <a:prstGeom xmlns:a="http://schemas.openxmlformats.org/drawingml/2006/main" prst="roundRect">
            <a:avLst>
              <a:gd name="adj" fmla="val 2020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B6E1FB4-59A9-459F-A3B7-A28E2537E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52600"/>
            <a:ext cx="525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体验2 / 两阶段报告分析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A117C6D-238B-4F67-A9E3-32B1EA99F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33600"/>
            <a:ext cx="52578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阶段A：每8张高清图调用一次Sol，逐图输出10项可见观察、优缺点、证据线索和候选模式。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阶段B：把全部逐图观察、图片—店铺映射、竞品全量分布和分析范围交给Sol，再生成五个Section。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每条结论必须返回：推导、样本数、筛选条件、观察字段、支持图、反例图和代表图。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边界：比例来自全量分布；高清证据图只负责复核。</a:t>
            </a:r>
          </a:p>
        </p:txBody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3E84D794-F5D1-41AD-8B23-382BAF160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11049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9EDAD39-4B34-49A0-8384-EDFBE0C75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59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Terra先把图片变成可筛选标签；Sol再把指定范围内的图片证据变成解释、比较和建议。</a:t>
            </a:r>
          </a:p>
        </p:txBody>
      </p:sp>
      <p:sp>
        <p:nvSpPr>
          <p:cNvPr id="13" name="rule">
            <a:extLst xmlns:a="http://schemas.openxmlformats.org/drawingml/2006/main">
              <a:ext uri="{FF2B5EF4-FFF2-40B4-BE49-F238E27FC236}">
                <a16:creationId xmlns:a16="http://schemas.microsoft.com/office/drawing/2014/main" id="{7EE4F517-FAF9-4EE5-B15E-980F05093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">
            <a:extLst xmlns:a="http://schemas.openxmlformats.org/drawingml/2006/main">
              <a:ext uri="{FF2B5EF4-FFF2-40B4-BE49-F238E27FC236}">
                <a16:creationId xmlns:a16="http://schemas.microsoft.com/office/drawing/2014/main" id="{ABE79043-243E-4FB8-AE12-BADA51FA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22317703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eyebrow">
            <a:extLst xmlns:a="http://schemas.openxmlformats.org/drawingml/2006/main">
              <a:ext uri="{FF2B5EF4-FFF2-40B4-BE49-F238E27FC236}">
                <a16:creationId xmlns:a16="http://schemas.microsoft.com/office/drawing/2014/main" id="{5F15178D-0558-4E03-A1A2-0082E9237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3A · SELECTION FLOW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D43711B-13A8-4B76-864E-7DE381BE7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体验1流程①：AND筛选后，手动选图与自动选图走两条真实路径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60D8DB3-83EA-40B0-B503-534890108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Terra标签只负责缩小候选范围；最终送入Sol的图片由用户明确选择，或由系统按店铺均衡随机选取。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C1CDE3F-30E2-4DCB-A88D-B0CB15C0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flow-01">
            <a:extLst xmlns:a="http://schemas.openxmlformats.org/drawingml/2006/main">
              <a:ext uri="{FF2B5EF4-FFF2-40B4-BE49-F238E27FC236}">
                <a16:creationId xmlns:a16="http://schemas.microsoft.com/office/drawing/2014/main" id="{D8B0BFBA-E518-46EE-BA74-26D59EBB7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2152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EBED563-F4F6-4ACC-BB5B-4938DA55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71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5C74579-9CF0-4B83-B4F6-49AF67364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764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校验筛选条件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CBDE500-86F6-48F1-B56B-0D932CB2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955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维度必须已有生产数据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标签必须在受控字典</a:t>
            </a:r>
          </a:p>
        </p:txBody>
      </p:sp>
      <p:sp>
        <p:nvSpPr>
          <p:cNvPr id="9" name="flow-arrow">
            <a:extLst xmlns:a="http://schemas.openxmlformats.org/drawingml/2006/main">
              <a:ext uri="{FF2B5EF4-FFF2-40B4-BE49-F238E27FC236}">
                <a16:creationId xmlns:a16="http://schemas.microsoft.com/office/drawing/2014/main" id="{5DE94DF0-72CE-4E1E-B2E3-39DFB6C0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076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flow-02">
            <a:extLst xmlns:a="http://schemas.openxmlformats.org/drawingml/2006/main">
              <a:ext uri="{FF2B5EF4-FFF2-40B4-BE49-F238E27FC236}">
                <a16:creationId xmlns:a16="http://schemas.microsoft.com/office/drawing/2014/main" id="{0487BBDB-6E59-4464-A44A-523350F7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19250"/>
            <a:ext cx="2152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2DBBEFE-1720-455A-9957-1BAC4994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771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0413C17-3C46-4DB3-885B-90F0289E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0764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SQLite执行AND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F71056F-5043-43B6-BAD0-0E9390BC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4955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每一维都必须命中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source_url全局去重</a:t>
            </a:r>
          </a:p>
        </p:txBody>
      </p:sp>
      <p:sp>
        <p:nvSpPr>
          <p:cNvPr id="14" name="flow-arrow">
            <a:extLst xmlns:a="http://schemas.openxmlformats.org/drawingml/2006/main">
              <a:ext uri="{FF2B5EF4-FFF2-40B4-BE49-F238E27FC236}">
                <a16:creationId xmlns:a16="http://schemas.microsoft.com/office/drawing/2014/main" id="{103B3884-B40D-414B-8080-E4FD9C93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6954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↗</a:t>
            </a:r>
          </a:p>
        </p:txBody>
      </p:sp>
      <p:sp>
        <p:nvSpPr>
          <p:cNvPr id="15" name="flow-arrow">
            <a:extLst xmlns:a="http://schemas.openxmlformats.org/drawingml/2006/main">
              <a:ext uri="{FF2B5EF4-FFF2-40B4-BE49-F238E27FC236}">
                <a16:creationId xmlns:a16="http://schemas.microsoft.com/office/drawing/2014/main" id="{A4127351-8FE2-4C2E-8570-889F75D69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4955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↘</a:t>
            </a:r>
          </a:p>
        </p:txBody>
      </p:sp>
      <p:sp>
        <p:nvSpPr>
          <p:cNvPr id="16" name="manual-lane">
            <a:extLst xmlns:a="http://schemas.openxmlformats.org/drawingml/2006/main">
              <a:ext uri="{FF2B5EF4-FFF2-40B4-BE49-F238E27FC236}">
                <a16:creationId xmlns:a16="http://schemas.microsoft.com/office/drawing/2014/main" id="{E2B5122B-E78D-441D-8EA8-D0D323ACC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543050"/>
            <a:ext cx="58293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8759D713-5182-48B1-88DB-3A641AC48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7335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手动选图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B25B86E-59D2-440F-9A8A-36E057ABE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133600"/>
            <a:ext cx="5391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用户提交 store_id＋product_id＋position；后端再次检查：键唯一、店铺在范围内、图片存在、仍满足AND条件；保持用户选择顺序，最多24张。</a:t>
            </a:r>
          </a:p>
        </p:txBody>
      </p:sp>
      <p:sp>
        <p:nvSpPr>
          <p:cNvPr id="19" name="automatic-lane">
            <a:extLst xmlns:a="http://schemas.openxmlformats.org/drawingml/2006/main">
              <a:ext uri="{FF2B5EF4-FFF2-40B4-BE49-F238E27FC236}">
                <a16:creationId xmlns:a16="http://schemas.microsoft.com/office/drawing/2014/main" id="{4798156D-1B19-46BF-9CF0-4034D7C93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429000"/>
            <a:ext cx="58293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63AEDA75-50E4-454B-BB43-48B6B5F0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6195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自动选图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B7AE263F-8D40-435D-A061-6556CF7C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019550"/>
            <a:ext cx="53911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先把每店候选池扩到目标数的8倍（单店12–32张、总池不超过160张），再用 SystemRandom 在各店内打乱；按店铺轮询取图，直到每店成功下载1–8张且总数≤24。</a:t>
            </a:r>
          </a:p>
        </p:txBody>
      </p:sp>
      <p:sp>
        <p:nvSpPr>
          <p:cNvPr id="22" name="flow-arrow">
            <a:extLst xmlns:a="http://schemas.openxmlformats.org/drawingml/2006/main">
              <a:ext uri="{FF2B5EF4-FFF2-40B4-BE49-F238E27FC236}">
                <a16:creationId xmlns:a16="http://schemas.microsoft.com/office/drawing/2014/main" id="{B0A82BED-1C8E-4920-836D-F295588A4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480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23" name="flow-03">
            <a:extLst xmlns:a="http://schemas.openxmlformats.org/drawingml/2006/main">
              <a:ext uri="{FF2B5EF4-FFF2-40B4-BE49-F238E27FC236}">
                <a16:creationId xmlns:a16="http://schemas.microsoft.com/office/drawing/2014/main" id="{7ADB7D09-158C-4F07-849C-ADF8B1CB7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38550"/>
            <a:ext cx="47053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4B4347FF-FDDB-4063-97C4-9E1F01E39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909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FF241FC7-E40E-4A3B-8ADE-552A59C0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436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下载高清图并明确记录失败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00AC250B-BB34-4B74-807A-27A3807CE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14850"/>
            <a:ext cx="4362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逐个尝试候选图；达到每店配额后停止。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阈值：≥80万像素、长边≥1000、短边≥600。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失败不会静默替代为低清图。</a:t>
            </a:r>
          </a:p>
        </p:txBody>
      </p:sp>
      <p:sp>
        <p:nvSpPr>
          <p:cNvPr id="27" name="box">
            <a:extLst xmlns:a="http://schemas.openxmlformats.org/drawingml/2006/main">
              <a:ext uri="{FF2B5EF4-FFF2-40B4-BE49-F238E27FC236}">
                <a16:creationId xmlns:a16="http://schemas.microsoft.com/office/drawing/2014/main" id="{F1F417EB-7CEC-4F40-BD10-DC8256CC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62600"/>
            <a:ext cx="11049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9F5DC0C0-0C7E-4427-AC95-918D15A72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59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送入Sol的不是全部命中图，而是最终成功下载并通过高清门槛的1–24张。体验1目前仍按任务下载，尚未接入整体报告的共享高清缓存。</a:t>
            </a:r>
          </a:p>
        </p:txBody>
      </p:sp>
      <p:sp>
        <p:nvSpPr>
          <p:cNvPr id="29" name="rule">
            <a:extLst xmlns:a="http://schemas.openxmlformats.org/drawingml/2006/main">
              <a:ext uri="{FF2B5EF4-FFF2-40B4-BE49-F238E27FC236}">
                <a16:creationId xmlns:a16="http://schemas.microsoft.com/office/drawing/2014/main" id="{AD2C1AAD-7614-482C-9C85-BD00AD60B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footer">
            <a:extLst xmlns:a="http://schemas.openxmlformats.org/drawingml/2006/main">
              <a:ext uri="{FF2B5EF4-FFF2-40B4-BE49-F238E27FC236}">
                <a16:creationId xmlns:a16="http://schemas.microsoft.com/office/drawing/2014/main" id="{DA5EE450-CA2C-4FB1-9EDB-F707D689E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355957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eyebrow">
            <a:extLst xmlns:a="http://schemas.openxmlformats.org/drawingml/2006/main">
              <a:ext uri="{FF2B5EF4-FFF2-40B4-BE49-F238E27FC236}">
                <a16:creationId xmlns:a16="http://schemas.microsoft.com/office/drawing/2014/main" id="{6DF4F502-44BC-474B-A7AF-3EC553896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3A · CONCLUSION FLOW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760CEA8-995F-457C-99E7-78D93022E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体验1流程②：一次Sol调用同时返回逐图观察、跨店比较与建议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FE2194F-5C98-4005-8AD8-3129E16A8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这不是先逐图调用、再额外汇总；1–24张高清图与筛选条件被放进同一个请求，由严格JSON一次返回完整结果。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504C31B-0A2F-4861-987F-DA257DF9E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experience1-input">
            <a:extLst xmlns:a="http://schemas.openxmlformats.org/drawingml/2006/main">
              <a:ext uri="{FF2B5EF4-FFF2-40B4-BE49-F238E27FC236}">
                <a16:creationId xmlns:a16="http://schemas.microsoft.com/office/drawing/2014/main" id="{B2D9071E-71C5-4BFF-841A-EE32E29D1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3200400" cy="409575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CA7E66C-2D0F-487B-9A7B-E8B440B7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CD72FF6-35C4-4FB2-BD19-0F4A6F24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526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固定筛选条件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4EA0B74-F2BC-44CE-B4BF-4310F8F4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33650"/>
            <a:ext cx="2724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例如 product_category=TOPS AND occasion=VACATION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9DA8D357-AE26-45E2-8E17-7FD301751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724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AA85EAE-A316-438A-889C-923C059C9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671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每张高清图上下文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D2AE802-1248-48C1-9DED-5E84DD449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67150"/>
            <a:ext cx="2724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store · product · title · category · pixels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图片本体以 detail=high 发送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8C7482E-2FE3-45D7-A7F5-611BA220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数量：1–24张</a:t>
            </a:r>
          </a:p>
        </p:txBody>
      </p:sp>
      <p:sp>
        <p:nvSpPr>
          <p:cNvPr id="13" name="flow-arrow">
            <a:extLst xmlns:a="http://schemas.openxmlformats.org/drawingml/2006/main">
              <a:ext uri="{FF2B5EF4-FFF2-40B4-BE49-F238E27FC236}">
                <a16:creationId xmlns:a16="http://schemas.microsoft.com/office/drawing/2014/main" id="{A405EA27-1195-4A60-9B39-A9D2CFE5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2194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experience1-reasoning">
            <a:extLst xmlns:a="http://schemas.openxmlformats.org/drawingml/2006/main">
              <a:ext uri="{FF2B5EF4-FFF2-40B4-BE49-F238E27FC236}">
                <a16:creationId xmlns:a16="http://schemas.microsoft.com/office/drawing/2014/main" id="{348094B0-EADF-4C01-907C-8AAD57E0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581150"/>
            <a:ext cx="3390900" cy="409575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208AE60-7A73-4342-A513-5928BF63C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907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SOL PROMPT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D2590DA-1DF6-4984-95F5-D648AA6B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526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先事实，后解释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D16E014D-AA54-4F34-994D-67B32C8F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71750"/>
            <a:ext cx="29527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逐图观察：场景、景别、动作、光线、色彩、搭配、服装结构、视觉意图。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每个判断都要 visible_cue；不得推断敏感属性；不得把构图写成CTR/CVR因果。</a:t>
            </a:r>
          </a:p>
        </p:txBody>
      </p:sp>
      <p:sp>
        <p:nvSpPr>
          <p:cNvPr id="18" name="rule">
            <a:extLst xmlns:a="http://schemas.openxmlformats.org/drawingml/2006/main">
              <a:ext uri="{FF2B5EF4-FFF2-40B4-BE49-F238E27FC236}">
                <a16:creationId xmlns:a16="http://schemas.microsoft.com/office/drawing/2014/main" id="{BE48A2ED-5D0D-48F0-9B10-14A4A0EEA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457700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2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89B7919-0882-4250-9086-42EC2A273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6672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同一请求内跨图比较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B0C92037-3E91-4D39-A44F-CC4A91639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06730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共同模式 · 店铺差异 · 各店视觉定位 · 可复用拍摄规则</a:t>
            </a:r>
          </a:p>
        </p:txBody>
      </p:sp>
      <p:sp>
        <p:nvSpPr>
          <p:cNvPr id="21" name="flow-arrow">
            <a:extLst xmlns:a="http://schemas.openxmlformats.org/drawingml/2006/main">
              <a:ext uri="{FF2B5EF4-FFF2-40B4-BE49-F238E27FC236}">
                <a16:creationId xmlns:a16="http://schemas.microsoft.com/office/drawing/2014/main" id="{A398B900-45DF-4599-A37C-0DD87B32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2194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experience1-output">
            <a:extLst xmlns:a="http://schemas.openxmlformats.org/drawingml/2006/main">
              <a:ext uri="{FF2B5EF4-FFF2-40B4-BE49-F238E27FC236}">
                <a16:creationId xmlns:a16="http://schemas.microsoft.com/office/drawing/2014/main" id="{B823FB66-4C10-45D4-925C-4552FE12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81150"/>
            <a:ext cx="3505200" cy="409575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74E0DD9A-2DAA-4A32-9E0E-C761CB118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907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STRICT JSON OUTPUT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EF6785FC-E6B0-4FD9-8D5A-BB34F9B2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526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逐图结果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0F4528AA-F3CA-4581-B457-61863B56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71750"/>
            <a:ext cx="304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7D7D7"/>
                </a:solidFill>
                <a:latin typeface="Arial"/>
                <a:ea typeface="Arial"/>
                <a:cs typeface="Arial"/>
              </a:rPr>
              <a:t>7项可见字段 · visual_intent</a:t>
            </a:r>
          </a:p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7D7D7"/>
                </a:solidFill>
                <a:latin typeface="Arial"/>
                <a:ea typeface="Arial"/>
                <a:cs typeface="Arial"/>
              </a:rPr>
              <a:t>strengths · weaknesses · changes</a:t>
            </a:r>
          </a:p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7D7D7"/>
                </a:solidFill>
                <a:latin typeface="Arial"/>
                <a:ea typeface="Arial"/>
                <a:cs typeface="Arial"/>
              </a:rPr>
              <a:t>evidence claim＋visible_cue · confidence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2B637A2C-3797-4DBD-887B-705B22B6A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433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跨图结果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6A9C642D-200C-47CF-84C5-0496747EA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362450"/>
            <a:ext cx="304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7D7D7"/>
                </a:solidFill>
                <a:latin typeface="Arial"/>
                <a:ea typeface="Arial"/>
                <a:cs typeface="Arial"/>
              </a:rPr>
              <a:t>selection thesis · shared patterns</a:t>
            </a:r>
          </a:p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7D7D7"/>
                </a:solidFill>
                <a:latin typeface="Arial"/>
                <a:ea typeface="Arial"/>
                <a:cs typeface="Arial"/>
              </a:rPr>
              <a:t>cross-store differences · store summaries</a:t>
            </a:r>
          </a:p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7D7D7"/>
                </a:solidFill>
                <a:latin typeface="Arial"/>
                <a:ea typeface="Arial"/>
                <a:cs typeface="Arial"/>
              </a:rPr>
              <a:t>shot system · A/B hypotheses</a:t>
            </a:r>
          </a:p>
        </p:txBody>
      </p:sp>
      <p:sp>
        <p:nvSpPr>
          <p:cNvPr id="28" name="box">
            <a:extLst xmlns:a="http://schemas.openxmlformats.org/drawingml/2006/main">
              <a:ext uri="{FF2B5EF4-FFF2-40B4-BE49-F238E27FC236}">
                <a16:creationId xmlns:a16="http://schemas.microsoft.com/office/drawing/2014/main" id="{C5E09580-54A1-4CBB-BC4C-099159C1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0"/>
            <a:ext cx="1104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7C92A47A-BAE7-4493-A091-4F36457F2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10591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结论只代表本次成功送入Sol的图片；没有全店分布，不得外推整店占比。图片索引和店铺摘要缺失或重复会直接失败。</a:t>
            </a:r>
          </a:p>
        </p:txBody>
      </p:sp>
      <p:sp>
        <p:nvSpPr>
          <p:cNvPr id="30" name="rule">
            <a:extLst xmlns:a="http://schemas.openxmlformats.org/drawingml/2006/main">
              <a:ext uri="{FF2B5EF4-FFF2-40B4-BE49-F238E27FC236}">
                <a16:creationId xmlns:a16="http://schemas.microsoft.com/office/drawing/2014/main" id="{A2D07FCA-A8E0-4104-89E9-64736CB22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footer">
            <a:extLst xmlns:a="http://schemas.openxmlformats.org/drawingml/2006/main">
              <a:ext uri="{FF2B5EF4-FFF2-40B4-BE49-F238E27FC236}">
                <a16:creationId xmlns:a16="http://schemas.microsoft.com/office/drawing/2014/main" id="{B46D8B32-E5B2-43AC-A179-F3684E812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39386962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D60F718E-08D8-46DF-B4CC-EC66E54F5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3A · DEMO 1/7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0D40304-36BF-4981-B4B7-1B8B48DDC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体验1 Demo：进入维度分析，先看可用范围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EF1A7B3-CA34-44A7-BAF4-5697A018A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入口显示27,355张已分析图片；15个维度可筛，其中光线、模特状态、图文叠加目前仅Aloruh有值。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A8BBFEC-BA64-45E5-9ED6-E7D1F4BC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9589FCA4-F727-4DE1-9222-CB8929A8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e3de4593e94942"/>
          <a:srcRect xmlns:a="http://schemas.openxmlformats.org/drawingml/2006/main" l="0" t="5818" r="0" b="5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A9269C10-9734-496F-AED5-730C74D1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D0405E6A-ED51-4B44-80D6-CE7851680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01 / 07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CB63BC73-C528-4B33-8DB7-145E017C9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进入图片维度分析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5BD84E37-878E-476E-A7C3-3F9011C10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CEEE4865-B9F5-4570-A645-F71A086B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2F38C37B-40C4-441F-BA05-0108C67EA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确认已有分析图片规模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4A4F94E8-2FD0-4C9D-A544-468E7C10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44F76001-D78A-4A96-ABC1-AA507A8C8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查看15个中文维度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5506F65A-DE6A-40D9-9820-617C0DC47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DFF1A8EE-5EF8-4672-882F-E60995BF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按店铺与维度真实覆盖筛选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B285CAC3-DE31-405E-8D36-B74882D4D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E7D3F0A3-6F61-4ECE-9D58-7B1AB5FB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2026-08-27</a:t>
            </a:r>
          </a:p>
        </p:txBody>
      </p:sp>
    </p:spTree>
    <p:extLst>
      <p:ext uri="{BB962C8B-B14F-4D97-AF65-F5344CB8AC3E}">
        <p14:creationId xmlns:p14="http://schemas.microsoft.com/office/powerpoint/2010/main" val="53440373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7B513813-1411-4553-B1D2-B24303ACE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3A · DEMO 2/7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9F253C9-1292-4291-B354-9A40410D0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体验1 Demo：选择需要组合的分析维度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59E55EC-AF7A-464C-A92F-783E9CE9A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示例选择“商品类别”和“穿着场景”，页面同步生成两个标签下拉框。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813B3A2-90A3-450C-B6E0-7D078AAC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A67424F3-9CAF-4359-BD7D-E7752395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2391d14da14526"/>
          <a:srcRect xmlns:a="http://schemas.openxmlformats.org/drawingml/2006/main" l="0" t="5818" r="0" b="5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C4E7BEBE-00E6-4910-B9CB-4DBC67764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B4714C13-ECD5-45BE-B20F-9ECC3BBA6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02 / 07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6FAC4FED-BDE1-494C-A25F-BAEBE7E6F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勾选两个维度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03D2D8E4-B988-4FF7-BBF5-37FFD8C19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12790752-E612-4C72-A5EB-7FAD390E4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3EFB5F61-8D9B-4DC8-B3E6-2694ECD12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商品类别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C73E04B6-CEB7-48D6-A35B-5AE82FD6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5A670023-C614-46B6-BDEB-8E1DF9012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穿着场景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A5BF721F-4FF8-411C-9094-385B3FC6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CDAA3616-38E3-4D71-AD4E-661DACB0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其余维度保持未选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B4AC504A-EDC9-4497-B485-472D208C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7AD17DD3-F456-4157-BBF7-DBAFC50C7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2026-08-27</a:t>
            </a:r>
          </a:p>
        </p:txBody>
      </p:sp>
    </p:spTree>
    <p:extLst>
      <p:ext uri="{BB962C8B-B14F-4D97-AF65-F5344CB8AC3E}">
        <p14:creationId xmlns:p14="http://schemas.microsoft.com/office/powerpoint/2010/main" val="13868614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5BB93883-0FF8-4535-916C-EC197FB21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3A · DEMO 3/7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72006A-F1B2-485E-A13F-C565E874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体验1 Demo：把标签组合成可解释的AND条件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BCF4450-230E-4FF0-BE54-C24BD3606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商品类别=上衣，穿着场景=度假；只有同时满足两个标签的图片才会命中。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D768457-CB63-45C7-9CF9-04ED3785B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63C83DDB-EBEB-4CE7-9577-9205524B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6b58a848164769"/>
          <a:srcRect xmlns:a="http://schemas.openxmlformats.org/drawingml/2006/main" l="0" t="5818" r="0" b="5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F5717C58-D596-41DE-8300-778D647E9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A6038C56-E468-4E0D-9008-EDF1CDD4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03 / 07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FCB18D49-FB5D-4073-8493-57980584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设定“上衣 AND 度假”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314A4B37-DBF9-4757-A997-A062AE8D6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E3A37657-455A-4B0E-949F-6B7C7212B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A643418D-E467-4797-9603-A289B586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每个维度只取一个标签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6E089F63-9A1B-4811-AFBD-7C272EBB8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25484CEE-B2D3-4079-B6B3-99D454ECE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条件之间使用AND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B4A33893-DE50-42EA-BD77-F5220BB3E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FC9E982B-0EAC-47B7-A519-F45B231B8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生产结果即时刷新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BE11DB86-B04B-4AFB-8F77-E2FC0C536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01B0EF7A-0F6E-4073-B23C-83E6CEFD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2026-08-27</a:t>
            </a:r>
          </a:p>
        </p:txBody>
      </p:sp>
    </p:spTree>
    <p:extLst>
      <p:ext uri="{BB962C8B-B14F-4D97-AF65-F5344CB8AC3E}">
        <p14:creationId xmlns:p14="http://schemas.microsoft.com/office/powerpoint/2010/main" val="202320627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27A787F0-DB3F-4306-9B38-7D80952D4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3A · DEMO 4/7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F3421FD-0574-479E-8E6E-1BED3AE0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体验1 Demo：结果按店铺拆分，并保留商品证据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7B6B8C7-59CB-4E43-9498-04041241D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生产环境命中3,179张；每张卡片都保留店铺、商品ID、标签与原图。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6B26828-7FFB-458C-86B6-B8BDA6E7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DF393F9A-9DCA-48ED-9C7F-6A72B3FCE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6b9a252f704a71"/>
          <a:srcRect xmlns:a="http://schemas.openxmlformats.org/drawingml/2006/main" l="0" t="5818" r="0" b="5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21AE82AB-2FBA-410E-A074-9B01B9225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EE37EBD1-CB61-49E7-B10A-58F50570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04 / 07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13C96B70-F729-4011-A88B-0903F197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查看匹配结果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0200324D-0275-43A6-8FD7-00317997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FC4CBBA2-1951-492F-87E7-3EFC009B9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D7FF14CA-1E18-49FE-B686-6A815C006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命中3,179张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C436AE36-3F72-4BCB-A3F5-F16F13BB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02392D63-CF79-43B2-AAE5-F2B7D3D03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按5家店分别展示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924FAC16-E5C2-4FE5-BE1D-2FB63A12E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3E38A82F-C646-435E-BE62-4F6A1B305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可继续打开单图证据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F9B2EA00-2C40-4F12-B207-416CF64A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57150D8B-39B6-43BE-813E-BA0A50549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2026-08-27</a:t>
            </a:r>
          </a:p>
        </p:txBody>
      </p:sp>
    </p:spTree>
    <p:extLst>
      <p:ext uri="{BB962C8B-B14F-4D97-AF65-F5344CB8AC3E}">
        <p14:creationId xmlns:p14="http://schemas.microsoft.com/office/powerpoint/2010/main" val="97459957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81587311-E231-4859-93F9-E4396190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3A · DEMO 5/7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2670F14-7FEF-4979-A765-61A0E378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体验1 Demo：手动选图，确认付费分析范围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14B6952-EE60-4B4A-B0FF-357813C9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勾选2张图并切换为手动选图；界面明确显示将分析1家店、2张高清图。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A2618C4-8EB0-42F8-BBE2-CFBAC58C1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580A40DF-8CC6-4F15-A52A-D801C60F5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61a742bdf548cf"/>
          <a:srcRect xmlns:a="http://schemas.openxmlformats.org/drawingml/2006/main" l="0" t="5818" r="0" b="5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CC65519E-C6DD-405F-A9E4-9DE243D05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921D8262-A32E-4620-B51D-E549702C1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05 / 07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88AB40A9-C932-4BE9-AD67-4B651EB88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选择精读样本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A61F52DA-4D76-4812-BE09-5BC11D867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7F949AF5-2739-4E28-9D64-AAFC60F6D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B929DFD3-F29D-44D4-9894-5C8BDCA0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手动勾选2张图片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0FE5B5F9-39EB-4D37-8976-2122D257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D8AACCEA-4146-408A-83DA-1582D9573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确认1家店、2张高清图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7C2A5A34-EF21-46B5-82ED-98574F26D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3D87C594-F054-4846-A02F-00A4E7E9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费用提示在点击前可见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0E8D5993-FD1C-4D8D-9191-5E554597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93EFF654-14BC-4B0D-A409-52EBA3BD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2026-08-27</a:t>
            </a:r>
          </a:p>
        </p:txBody>
      </p:sp>
    </p:spTree>
    <p:extLst>
      <p:ext uri="{BB962C8B-B14F-4D97-AF65-F5344CB8AC3E}">
        <p14:creationId xmlns:p14="http://schemas.microsoft.com/office/powerpoint/2010/main" val="12877556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7CDDFDF5-B0B6-43DC-B32E-1F74315B8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3A · DEMO 6/7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3844E25-8C70-427D-9ECB-0D6AFF95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体验1 Demo：点击付费分析，实时查看运行状态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6D52F3F-3171-41FA-9BE7-E44171AF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点击一次“开始精细视觉分析（付费）”后，按钮锁定并持续显示GPT-5.6 Sol任务进度。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D25B11F-AFD9-4B46-96BB-B2B415CD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98E3034E-408D-4A9A-A7B7-32FECF74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b700db14aa4f1e"/>
          <a:srcRect xmlns:a="http://schemas.openxmlformats.org/drawingml/2006/main" l="0" t="35" r="0" b="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F82C9A39-AA13-42BE-8655-F1C98C3E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37A550BF-3970-4384-BAC7-4048B9B62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06 / 07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58B53F83-C8AC-4472-9501-D05A0AA2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启动付费分析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07A86D70-774E-4F48-9C6D-6FD022C78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92F2265D-4FA6-4D24-AAE3-DFF390B10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02BD9BB0-03E2-4751-A7C1-6B2C1232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付费按钮只触发一次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E7FA92E8-1822-495C-B6FC-B8C99BC6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25952990-4CEE-44E1-9762-29257C093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运行中按钮自动锁定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9E57047A-2996-4519-8DA1-31562EDF4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35CB751B-EB1A-4870-B1AB-EDC21D86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实时进度显示为55%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9B730C83-B4FF-4F1B-A6FB-D839FEBCC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0E490F68-581E-4105-BFED-EEF31C4BF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2026-08-27</a:t>
            </a:r>
          </a:p>
        </p:txBody>
      </p:sp>
    </p:spTree>
    <p:extLst>
      <p:ext uri="{BB962C8B-B14F-4D97-AF65-F5344CB8AC3E}">
        <p14:creationId xmlns:p14="http://schemas.microsoft.com/office/powerpoint/2010/main" val="203559386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45387599-7902-4A16-A3EE-D732241F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3A · DEMO 7/7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FB2FC81-F735-4C78-9567-729A05A24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体验1 Demo：结果同时给出结论、Token与费用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0593D14-A09D-4AE9-B501-3FA6DF3FB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2张高清图在81.3秒内完成；页面返回总体结论、共同模式、店铺差异和逐图可验证建议。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614230B-C7F3-4AAB-B4B1-E2B69FB9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06E7E11E-8B64-4D3F-B12B-33BB4D0A1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613aaf91e74019"/>
          <a:srcRect xmlns:a="http://schemas.openxmlformats.org/drawingml/2006/main" l="0" t="35" r="0" b="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4F425C57-15E6-443A-AABE-FADC18CC2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BB7DABB6-083D-4866-B54F-D7A286BD3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07 / 07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F9942D56-12E3-4A3D-9A0F-105B96BCD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查看精细分析结果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D335AC82-63AF-49BA-9B1E-7115A0D2D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37C40CF3-4005-4DC2-9AAB-1834669DC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D86D11A1-5704-400B-AE88-F08C17AE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2/2图片成功、无失败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418E3FF2-8B4F-4B42-B529-39247154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033A4024-1747-417E-B2DA-35AA1A1F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总Token 8,343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AEB6ED72-E112-42C0-BAD2-EAA526778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6EBF4A73-CF6A-47DE-A381-1483A08CD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预估费用 $0.1897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694C108B-A8D6-4073-9595-0576F085E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0654E687-00D6-494E-8E7C-B9A97E72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2026-08-27</a:t>
            </a:r>
          </a:p>
        </p:txBody>
      </p:sp>
    </p:spTree>
    <p:extLst>
      <p:ext uri="{BB962C8B-B14F-4D97-AF65-F5344CB8AC3E}">
        <p14:creationId xmlns:p14="http://schemas.microsoft.com/office/powerpoint/2010/main" val="37708360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eyebrow">
            <a:extLst xmlns:a="http://schemas.openxmlformats.org/drawingml/2006/main">
              <a:ext uri="{FF2B5EF4-FFF2-40B4-BE49-F238E27FC236}">
                <a16:creationId xmlns:a16="http://schemas.microsoft.com/office/drawing/2014/main" id="{60DFA518-BC7F-4A06-BCAB-8C94CE410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3B · EVIDENCE SELECTION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ED1536-A6E2-478F-AF3D-BFE991F00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体验2流程①：目标覆盖9类，竞品只比较12维完整的2类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8DDD31D-5323-43A7-BBCC-2F6061B3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前三大品类各抽20个商品，六个补充品类各抽5个；竞品当前只有TOPS与SKIRTS具备完整12维标签。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8F85D62-A982-43A1-8A5C-EF63AB675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5" name="target-population">
            <a:extLst xmlns:a="http://schemas.openxmlformats.org/drawingml/2006/main">
              <a:ext uri="{FF2B5EF4-FFF2-40B4-BE49-F238E27FC236}">
                <a16:creationId xmlns:a16="http://schemas.microsoft.com/office/drawing/2014/main" id="{0D9B74D6-F9EF-490D-B137-E09D576DC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2514600" cy="42100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0552F20-2C4B-4BC3-8D69-BD11153C3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目标店铺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4482E1B-E61C-43FB-8C40-4EDCEA46D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2057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36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主：DRESSES / TOPS / BLOUSES</a:t>
            </a:r>
          </a:p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补：T-SHIRTS / SKIRTS / SETS /</a:t>
            </a:r>
          </a:p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OUTERWEAR / SUITS / KNIT SETS</a:t>
            </a:r>
          </a:p>
        </p:txBody>
      </p:sp>
      <p:sp>
        <p:nvSpPr>
          <p:cNvPr id="8" name="metric-个商品，最多2视角">
            <a:extLst xmlns:a="http://schemas.openxmlformats.org/drawingml/2006/main">
              <a:ext uri="{FF2B5EF4-FFF2-40B4-BE49-F238E27FC236}">
                <a16:creationId xmlns:a16="http://schemas.microsoft.com/office/drawing/2014/main" id="{80AA64DB-E7F0-48FE-84C1-246EA229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180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81</a:t>
            </a:r>
          </a:p>
        </p:txBody>
      </p:sp>
      <p:sp>
        <p:nvSpPr>
          <p:cNvPr id="9" name="metric-label-个商品，最多2视角">
            <a:extLst xmlns:a="http://schemas.openxmlformats.org/drawingml/2006/main">
              <a:ext uri="{FF2B5EF4-FFF2-40B4-BE49-F238E27FC236}">
                <a16:creationId xmlns:a16="http://schemas.microsoft.com/office/drawing/2014/main" id="{9C0FDC42-2B43-47CE-94F5-CEB5562E9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814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个商品，最多2视角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3B81AFB5-BDAA-4DA9-AD01-13CD4070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81450"/>
            <a:ext cx="2057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1763817-7E1B-4A08-A846-7C851DB9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实际成功范围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645C6FC-575F-4976-B2DA-8B90A2D28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52950"/>
            <a:ext cx="2057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前三类60个商品；补充类21个商品。共读取159张目标图，不按position猜正背面。</a:t>
            </a:r>
          </a:p>
        </p:txBody>
      </p:sp>
      <p:sp>
        <p:nvSpPr>
          <p:cNvPr id="13" name="competitor-population">
            <a:extLst xmlns:a="http://schemas.openxmlformats.org/drawingml/2006/main">
              <a:ext uri="{FF2B5EF4-FFF2-40B4-BE49-F238E27FC236}">
                <a16:creationId xmlns:a16="http://schemas.microsoft.com/office/drawing/2014/main" id="{9552BD05-21A2-4B84-8216-335C70217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581150"/>
            <a:ext cx="3486150" cy="421005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4EA2313-5725-48A1-8694-E191587AC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7907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竞品可比分母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C3FC490-41A2-4189-B8E3-D03F8AE5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90750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3家竞品 × 9类先做覆盖检查</a:t>
            </a:r>
          </a:p>
        </p:txBody>
      </p:sp>
      <p:sp>
        <p:nvSpPr>
          <p:cNvPr id="16" name="metric-张TOPS＋SKIRTS完整12维">
            <a:extLst xmlns:a="http://schemas.openxmlformats.org/drawingml/2006/main">
              <a:ext uri="{FF2B5EF4-FFF2-40B4-BE49-F238E27FC236}">
                <a16:creationId xmlns:a16="http://schemas.microsoft.com/office/drawing/2014/main" id="{D90E0F17-E5B2-4374-A00E-539B76044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724150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15,107</a:t>
            </a:r>
          </a:p>
        </p:txBody>
      </p:sp>
      <p:sp>
        <p:nvSpPr>
          <p:cNvPr id="17" name="metric-label-张TOPS＋SKIRTS完整12维">
            <a:extLst xmlns:a="http://schemas.openxmlformats.org/drawingml/2006/main">
              <a:ext uri="{FF2B5EF4-FFF2-40B4-BE49-F238E27FC236}">
                <a16:creationId xmlns:a16="http://schemas.microsoft.com/office/drawing/2014/main" id="{D87A6939-D1BA-4874-8D99-44255BEC2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528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张TOPS＋SKIRTS完整12维</a:t>
            </a:r>
          </a:p>
        </p:txBody>
      </p:sp>
      <p:sp>
        <p:nvSpPr>
          <p:cNvPr id="18" name="rule">
            <a:extLst xmlns:a="http://schemas.openxmlformats.org/drawingml/2006/main">
              <a:ext uri="{FF2B5EF4-FFF2-40B4-BE49-F238E27FC236}">
                <a16:creationId xmlns:a16="http://schemas.microsoft.com/office/drawing/2014/main" id="{4CC6F919-CC21-48CB-AC34-BE12CEA0B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848100"/>
            <a:ext cx="3009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2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8D113B5E-AB02-4BF1-8F49-F06C9490C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0957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覆盖边界必须先披露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4E2CBDCB-FB53-4D68-ABF3-BF285B64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495800"/>
            <a:ext cx="3009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TOPS 11,050张＋SKIRTS 4,057张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Princess Polly 5,613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Motel Rocks 2,141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PrettyLittleThing 7,353</a:t>
            </a:r>
          </a:p>
        </p:txBody>
      </p:sp>
      <p:sp>
        <p:nvSpPr>
          <p:cNvPr id="21" name="competitor-selection-algorithm">
            <a:extLst xmlns:a="http://schemas.openxmlformats.org/drawingml/2006/main">
              <a:ext uri="{FF2B5EF4-FFF2-40B4-BE49-F238E27FC236}">
                <a16:creationId xmlns:a16="http://schemas.microsoft.com/office/drawing/2014/main" id="{B4E54E6B-BFA2-4665-85B7-6C4813183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581150"/>
            <a:ext cx="459105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CB2C6D69-3FF3-484B-B50C-35511044C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907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每个竞品×品类池的选图算法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54A47DB5-BE46-412A-A2AE-CFA990878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241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30AEADF4-6B85-44E9-952C-750D7601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305050"/>
            <a:ext cx="3657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rPr>
              <a:t>先过滤status=available且12维标签完整的品类池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A3FA5694-7F1D-4FAD-97CF-D0307F35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337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51387E5E-645F-473E-A059-D37C621F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914650"/>
            <a:ext cx="3657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rPr>
              <a:t>选最高频2个标签＋达到约0.5%门槛后最少见的1个边界标签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87FD749B-53B1-4040-8392-DFADD3EC8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433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5742E25C-3E4F-4D57-BE9E-7523BF909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524250"/>
            <a:ext cx="3657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rPr>
              <a:t>代表图按标签置信度最高 → catalog rank → product ID选出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00129F83-4F50-4813-A0AF-28493B71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529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55063033-C1BB-4B1D-8225-C96DC785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133850"/>
            <a:ext cx="3657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rPr>
              <a:t>每图取12维最高置信度标签，形成组合签名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AF2D6764-B765-4D0E-8921-AEA2CD718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625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54211D6B-9DE1-4BCA-A781-6CA990B8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743450"/>
            <a:ext cx="3657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rPr>
              <a:t>组合簇再选Top 2＋有效边界1；最后跨维、理由、URL去重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7B7F9A46-8526-4913-9214-83E62FDBE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391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结果：190张竞品证据图（61＋66＋63）</a:t>
            </a:r>
          </a:p>
        </p:txBody>
      </p:sp>
      <p:sp>
        <p:nvSpPr>
          <p:cNvPr id="34" name="box">
            <a:extLst xmlns:a="http://schemas.openxmlformats.org/drawingml/2006/main">
              <a:ext uri="{FF2B5EF4-FFF2-40B4-BE49-F238E27FC236}">
                <a16:creationId xmlns:a16="http://schemas.microsoft.com/office/drawing/2014/main" id="{9E123F13-480D-4255-BA86-20DF4F633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81700"/>
            <a:ext cx="1104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E451F845-1ACD-48D8-86D7-3EA973E5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38850"/>
            <a:ext cx="1062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9类候选目录29,030张；只有TOPS与SKIRTS共15,107张具备完整12维标签，其他品类明确写“不比较”。</a:t>
            </a:r>
          </a:p>
        </p:txBody>
      </p:sp>
      <p:sp>
        <p:nvSpPr>
          <p:cNvPr id="36" name="rule">
            <a:extLst xmlns:a="http://schemas.openxmlformats.org/drawingml/2006/main">
              <a:ext uri="{FF2B5EF4-FFF2-40B4-BE49-F238E27FC236}">
                <a16:creationId xmlns:a16="http://schemas.microsoft.com/office/drawing/2014/main" id="{9FF5DD53-AFFD-4824-B56E-09A9A4010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footer">
            <a:extLst xmlns:a="http://schemas.openxmlformats.org/drawingml/2006/main">
              <a:ext uri="{FF2B5EF4-FFF2-40B4-BE49-F238E27FC236}">
                <a16:creationId xmlns:a16="http://schemas.microsoft.com/office/drawing/2014/main" id="{98E22B3A-EB36-4886-984A-2B4F2E712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74439451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eyebrow">
            <a:extLst xmlns:a="http://schemas.openxmlformats.org/drawingml/2006/main">
              <a:ext uri="{FF2B5EF4-FFF2-40B4-BE49-F238E27FC236}">
                <a16:creationId xmlns:a16="http://schemas.microsoft.com/office/drawing/2014/main" id="{617BD739-2F26-4868-A00F-9734FDF5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3B · PER-IMAGE ANALYSIS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FB0375A-82EB-438E-9B51-3CB4AEA92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体验2流程②：349张成功图片全部逐图分析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7FE1298-04B7-4FE9-9467-CA17F0C9D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159张目标多视角图片＋190张竞品证据全部命中共享高清缓存；网络重新下载0张，之后不再抽样。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9D64A3F-B908-4533-A47A-F9CE8C0D5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5" name="count-0">
            <a:extLst xmlns:a="http://schemas.openxmlformats.org/drawingml/2006/main">
              <a:ext uri="{FF2B5EF4-FFF2-40B4-BE49-F238E27FC236}">
                <a16:creationId xmlns:a16="http://schemas.microsoft.com/office/drawing/2014/main" id="{7EA7EA88-2A76-4FDD-8E8A-F229968E0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2533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F076C96-17D4-4B4D-ADE8-2B88AD411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目标图片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6C48BEB-D4F3-461D-9ED0-9619A502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76450"/>
            <a:ext cx="95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159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760A6EC-D272-445D-ABFE-1E30C565C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133600"/>
            <a:ext cx="1257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81个商品×最多2视角</a:t>
            </a:r>
          </a:p>
        </p:txBody>
      </p:sp>
      <p:sp>
        <p:nvSpPr>
          <p:cNvPr id="9" name="count-1">
            <a:extLst xmlns:a="http://schemas.openxmlformats.org/drawingml/2006/main">
              <a:ext uri="{FF2B5EF4-FFF2-40B4-BE49-F238E27FC236}">
                <a16:creationId xmlns:a16="http://schemas.microsoft.com/office/drawing/2014/main" id="{2BA7292F-AD71-4D09-BC7A-F87267E6E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581150"/>
            <a:ext cx="2533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FA7A239-CF83-4801-AFF5-D5119313D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7526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竞品证据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2AA8349-C2C3-4C7D-B1FF-0506D4FD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76450"/>
            <a:ext cx="95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190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A88937F-71C0-4F5E-ACF4-F9589628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33600"/>
            <a:ext cx="1257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61＋66＋63</a:t>
            </a:r>
          </a:p>
        </p:txBody>
      </p:sp>
      <p:sp>
        <p:nvSpPr>
          <p:cNvPr id="13" name="count-2">
            <a:extLst xmlns:a="http://schemas.openxmlformats.org/drawingml/2006/main">
              <a:ext uri="{FF2B5EF4-FFF2-40B4-BE49-F238E27FC236}">
                <a16:creationId xmlns:a16="http://schemas.microsoft.com/office/drawing/2014/main" id="{55E35553-45CD-4862-86D4-77283355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581150"/>
            <a:ext cx="2533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D5461B4F-FD38-4F5F-91AF-D0055F9C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526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成功总范围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47A513A-02BC-474A-B6EE-96530217C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76450"/>
            <a:ext cx="95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349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84C1A07-64CD-4225-BB7F-3039E16B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133600"/>
            <a:ext cx="1257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缓存命中349 / 下载0</a:t>
            </a:r>
          </a:p>
        </p:txBody>
      </p:sp>
      <p:sp>
        <p:nvSpPr>
          <p:cNvPr id="17" name="count-3">
            <a:extLst xmlns:a="http://schemas.openxmlformats.org/drawingml/2006/main">
              <a:ext uri="{FF2B5EF4-FFF2-40B4-BE49-F238E27FC236}">
                <a16:creationId xmlns:a16="http://schemas.microsoft.com/office/drawing/2014/main" id="{549A3429-D42C-476C-8970-BDEA1151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581150"/>
            <a:ext cx="2533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24553A66-D217-4BAD-8AB1-80A79C165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7526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逐图批次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EC9A20C-6D92-4309-945A-C7AA03A42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76450"/>
            <a:ext cx="95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44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389E4698-7EC1-47B6-98D6-B181E596F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133600"/>
            <a:ext cx="1257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每批最多8张</a:t>
            </a:r>
          </a:p>
        </p:txBody>
      </p:sp>
      <p:sp>
        <p:nvSpPr>
          <p:cNvPr id="21" name="flow-arrow">
            <a:extLst xmlns:a="http://schemas.openxmlformats.org/drawingml/2006/main">
              <a:ext uri="{FF2B5EF4-FFF2-40B4-BE49-F238E27FC236}">
                <a16:creationId xmlns:a16="http://schemas.microsoft.com/office/drawing/2014/main" id="{51C2CC67-F86B-4B49-8615-60218D17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908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22" name="per-image-output">
            <a:extLst xmlns:a="http://schemas.openxmlformats.org/drawingml/2006/main">
              <a:ext uri="{FF2B5EF4-FFF2-40B4-BE49-F238E27FC236}">
                <a16:creationId xmlns:a16="http://schemas.microsoft.com/office/drawing/2014/main" id="{D6360B8F-78D1-4256-BB8E-63B7DF772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24250"/>
            <a:ext cx="70485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F04CEC8F-738C-4B13-8AAF-422E33510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每张图必须返回的可见观察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B09FE36E-D3BF-4FEA-B71C-6FB19C5A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657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D7D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7D7D7"/>
                </a:solidFill>
                <a:latin typeface="Arial"/>
                <a:ea typeface="Arial"/>
                <a:cs typeface="Arial"/>
              </a:rPr>
              <a:t>画面：scene · framing · pose_action · lighting · palette · styling</a:t>
            </a:r>
          </a:p>
          <a:p xmlns:a="http://schemas.openxmlformats.org/drawingml/2006/main">
            <a:pPr algn="l">
              <a:defRPr sz="1125" b="0">
                <a:solidFill>
                  <a:srgbClr val="D7D7D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7D7D7"/>
                </a:solidFill>
                <a:latin typeface="Arial"/>
                <a:ea typeface="Arial"/>
                <a:cs typeface="Arial"/>
              </a:rPr>
              <a:t>商品：silhouette · design_details · material_texture · garment_display</a:t>
            </a:r>
          </a:p>
          <a:p xmlns:a="http://schemas.openxmlformats.org/drawingml/2006/main">
            <a:pPr algn="l">
              <a:defRPr sz="1125" b="0">
                <a:solidFill>
                  <a:srgbClr val="D7D7D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7D7D7"/>
                </a:solidFill>
                <a:latin typeface="Arial"/>
                <a:ea typeface="Arial"/>
                <a:cs typeface="Arial"/>
              </a:rPr>
              <a:t>品牌/版面：first_image_type · brand_signal · text_overlay</a:t>
            </a:r>
          </a:p>
          <a:p xmlns:a="http://schemas.openxmlformats.org/drawingml/2006/main">
            <a:pPr algn="l">
              <a:defRPr sz="1125" b="0">
                <a:solidFill>
                  <a:srgbClr val="D7D7D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7D7D7"/>
                </a:solidFill>
                <a:latin typeface="Arial"/>
                <a:ea typeface="Arial"/>
                <a:cs typeface="Arial"/>
              </a:rPr>
              <a:t>可见模特：presence · face · hair · makeup · gaze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32CD4CA9-A870-451F-BEBD-B1450FCF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FD4F2"/>
                </a:solidFill>
                <a:latin typeface="Arial"/>
                <a:ea typeface="Arial"/>
                <a:cs typeface="Arial"/>
              </a:rPr>
              <a:t>＋ visual_role · strengths · weaknesses · evidence_cues（至少2条）· confidence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BCFACA7D-8AF1-49A4-85AA-D6B2EA3FA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每批同时返回2–10个候选模式，并列支持图与反例图。批内图片ID缺失或重复，整批失败。</a:t>
            </a:r>
          </a:p>
        </p:txBody>
      </p:sp>
      <p:sp>
        <p:nvSpPr>
          <p:cNvPr id="27" name="merged-evidence">
            <a:extLst xmlns:a="http://schemas.openxmlformats.org/drawingml/2006/main">
              <a:ext uri="{FF2B5EF4-FFF2-40B4-BE49-F238E27FC236}">
                <a16:creationId xmlns:a16="http://schemas.microsoft.com/office/drawing/2014/main" id="{4B40B681-85C4-44A9-A5A1-03EC1D6FB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524250"/>
            <a:ext cx="375285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60A6457C-EFBB-4517-9A72-2D678E9CF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7338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汇总证据包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4110456F-F51B-420C-9889-E06DDA6DF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171950"/>
            <a:ext cx="32956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349张逐图观察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全部批次候选模式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图片—店铺—商品—位置—角色映射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15,107张竞品12维可比分布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29,030张候选目录及覆盖状态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竞品证据图的入选原因</a:t>
            </a:r>
          </a:p>
        </p:txBody>
      </p:sp>
      <p:sp>
        <p:nvSpPr>
          <p:cNvPr id="30" name="box">
            <a:extLst xmlns:a="http://schemas.openxmlformats.org/drawingml/2006/main">
              <a:ext uri="{FF2B5EF4-FFF2-40B4-BE49-F238E27FC236}">
                <a16:creationId xmlns:a16="http://schemas.microsoft.com/office/drawing/2014/main" id="{BC64103C-471D-4B8E-AF9F-890DF1D8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57900"/>
            <a:ext cx="1104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9C281C65-6CEC-4942-86FF-750AF705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86475"/>
            <a:ext cx="10591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44次逐图批次＋5次分章汇总＋1次执行摘要＝50次调用；1,277,211 Token，Sol估算费用 $15.58。</a:t>
            </a:r>
          </a:p>
        </p:txBody>
      </p:sp>
      <p:sp>
        <p:nvSpPr>
          <p:cNvPr id="32" name="rule">
            <a:extLst xmlns:a="http://schemas.openxmlformats.org/drawingml/2006/main">
              <a:ext uri="{FF2B5EF4-FFF2-40B4-BE49-F238E27FC236}">
                <a16:creationId xmlns:a16="http://schemas.microsoft.com/office/drawing/2014/main" id="{47DF6C89-8464-4034-8769-5CE6390FE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footer">
            <a:extLst xmlns:a="http://schemas.openxmlformats.org/drawingml/2006/main">
              <a:ext uri="{FF2B5EF4-FFF2-40B4-BE49-F238E27FC236}">
                <a16:creationId xmlns:a16="http://schemas.microsoft.com/office/drawing/2014/main" id="{76F08415-B3F2-468D-B5D3-F4C594C97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202324328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eyebrow">
            <a:extLst xmlns:a="http://schemas.openxmlformats.org/drawingml/2006/main">
              <a:ext uri="{FF2B5EF4-FFF2-40B4-BE49-F238E27FC236}">
                <a16:creationId xmlns:a16="http://schemas.microsoft.com/office/drawing/2014/main" id="{97C50BFA-DA51-4C15-BBD1-ED8A6B586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3B · FIVE-SECTION LOGIC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985E558-8033-44FF-8628-C523B76F9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体验2流程③：五章共享349张事实，再分别汇总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5AB51B2-A731-4D96-9371-357540D6F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349张图片只逐图分析一次；每章按角色和观察字段裁剪相关证据，不再次抽样，再由Sol分别生成章节。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AEE5C45-C2A4-4B93-89FD-EF6B67EA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CD758B32-BFBE-406F-88E9-05400694A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295097D-142B-4F49-B36D-C67BD5962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76400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SECTION</a:t>
            </a:r>
          </a:p>
        </p:txBody>
      </p:sp>
      <p:sp>
        <p:nvSpPr>
          <p:cNvPr id="7" name="box">
            <a:extLst xmlns:a="http://schemas.openxmlformats.org/drawingml/2006/main">
              <a:ext uri="{FF2B5EF4-FFF2-40B4-BE49-F238E27FC236}">
                <a16:creationId xmlns:a16="http://schemas.microsoft.com/office/drawing/2014/main" id="{C05E4C65-5B68-4ADA-AF0F-0BF06E5FF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562100"/>
            <a:ext cx="2324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55311E9-5021-407B-B8AE-5C3EC06D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676400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主要证据范围</a:t>
            </a:r>
          </a:p>
        </p:txBody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73DBDBFB-76D0-4ED0-BCAD-3207343A3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562100"/>
            <a:ext cx="2876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B1FD55B-2986-4AAA-9FD0-015D4DD1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676400"/>
            <a:ext cx="2609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模型可用的判断视角</a:t>
            </a:r>
          </a:p>
        </p:txBody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244DF4D7-3EE1-44C5-A994-755295ED4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562100"/>
            <a:ext cx="3009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34B8E24-F4FB-44E3-8451-678F74E4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676400"/>
            <a:ext cx="2743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真实约束</a:t>
            </a:r>
          </a:p>
        </p:txBody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514CD327-E184-4E75-9ECF-DFC2FC5C1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57400"/>
            <a:ext cx="238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E6A20D6-C9C9-4910-8C17-38DC20AC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71700"/>
            <a:ext cx="2114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品牌视觉定位校准</a:t>
            </a:r>
          </a:p>
        </p:txBody>
      </p: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F307ED99-FCD4-4CF3-A608-2669824F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57400"/>
            <a:ext cx="2324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A5395FE-6966-4365-B038-F0C237978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17170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全量目录＋目标159图</a:t>
            </a:r>
          </a:p>
        </p:txBody>
      </p:sp>
      <p:sp>
        <p:nvSpPr>
          <p:cNvPr id="17" name="box">
            <a:extLst xmlns:a="http://schemas.openxmlformats.org/drawingml/2006/main">
              <a:ext uri="{FF2B5EF4-FFF2-40B4-BE49-F238E27FC236}">
                <a16:creationId xmlns:a16="http://schemas.microsoft.com/office/drawing/2014/main" id="{A41A0FED-9010-4F7B-ABFE-4B45A439C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057400"/>
            <a:ext cx="2876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52C9883-DE81-4E9F-80E0-F6D678DB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17170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scene · lighting · palette · brand_signal</a:t>
            </a:r>
          </a:p>
        </p:txBody>
      </p:sp>
      <p:sp>
        <p:nvSpPr>
          <p:cNvPr id="19" name="box">
            <a:extLst xmlns:a="http://schemas.openxmlformats.org/drawingml/2006/main">
              <a:ext uri="{FF2B5EF4-FFF2-40B4-BE49-F238E27FC236}">
                <a16:creationId xmlns:a16="http://schemas.microsoft.com/office/drawing/2014/main" id="{0A788BE4-08C4-4B32-8C3D-77AE38E36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57400"/>
            <a:ext cx="30099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201D6355-A5F7-4F30-81BD-7E1F9265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71700"/>
            <a:ext cx="2743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只取target；视觉样本不外推全店</a:t>
            </a:r>
          </a:p>
        </p:txBody>
      </p:sp>
      <p:sp>
        <p:nvSpPr>
          <p:cNvPr id="21" name="box">
            <a:extLst xmlns:a="http://schemas.openxmlformats.org/drawingml/2006/main">
              <a:ext uri="{FF2B5EF4-FFF2-40B4-BE49-F238E27FC236}">
                <a16:creationId xmlns:a16="http://schemas.microsoft.com/office/drawing/2014/main" id="{9EA5B938-1DD8-45C1-B886-AAC7CBD3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238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703427A5-56FD-48E7-A5E1-5C05DBC34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0"/>
            <a:ext cx="2114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商品展示分析</a:t>
            </a:r>
          </a:p>
        </p:txBody>
      </p:sp>
      <p:sp>
        <p:nvSpPr>
          <p:cNvPr id="23" name="box">
            <a:extLst xmlns:a="http://schemas.openxmlformats.org/drawingml/2006/main">
              <a:ext uri="{FF2B5EF4-FFF2-40B4-BE49-F238E27FC236}">
                <a16:creationId xmlns:a16="http://schemas.microsoft.com/office/drawing/2014/main" id="{86848199-B591-4EF7-9D36-33F0F1292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38450"/>
            <a:ext cx="2324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DDA06348-59CC-431C-AB8D-4DE5F29A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95275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目标159图 / 9类</a:t>
            </a:r>
          </a:p>
        </p:txBody>
      </p:sp>
      <p:sp>
        <p:nvSpPr>
          <p:cNvPr id="25" name="box">
            <a:extLst xmlns:a="http://schemas.openxmlformats.org/drawingml/2006/main">
              <a:ext uri="{FF2B5EF4-FFF2-40B4-BE49-F238E27FC236}">
                <a16:creationId xmlns:a16="http://schemas.microsoft.com/office/drawing/2014/main" id="{4DA51C6E-0C71-4F89-BD7B-5AAE56B8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838450"/>
            <a:ext cx="2876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A34B1474-5B87-42EA-9D2E-7F5097F1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95275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framing · silhouette · details · material</a:t>
            </a:r>
          </a:p>
        </p:txBody>
      </p:sp>
      <p:sp>
        <p:nvSpPr>
          <p:cNvPr id="27" name="box">
            <a:extLst xmlns:a="http://schemas.openxmlformats.org/drawingml/2006/main">
              <a:ext uri="{FF2B5EF4-FFF2-40B4-BE49-F238E27FC236}">
                <a16:creationId xmlns:a16="http://schemas.microsoft.com/office/drawing/2014/main" id="{C6127F6E-2EF9-4E6A-9628-B02315652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38450"/>
            <a:ext cx="30099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9351FE7C-FE61-4F73-93E8-401864EE5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952750"/>
            <a:ext cx="2743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前三类主分析；六类交叉验证</a:t>
            </a:r>
          </a:p>
        </p:txBody>
      </p:sp>
      <p:sp>
        <p:nvSpPr>
          <p:cNvPr id="29" name="box">
            <a:extLst xmlns:a="http://schemas.openxmlformats.org/drawingml/2006/main">
              <a:ext uri="{FF2B5EF4-FFF2-40B4-BE49-F238E27FC236}">
                <a16:creationId xmlns:a16="http://schemas.microsoft.com/office/drawing/2014/main" id="{07AF580A-7D46-4743-A85A-DD354BF76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0"/>
            <a:ext cx="238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36B90803-BCE5-48F3-A173-52979BA7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33800"/>
            <a:ext cx="2114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店铺视觉审计</a:t>
            </a:r>
          </a:p>
        </p:txBody>
      </p:sp>
      <p:sp>
        <p:nvSpPr>
          <p:cNvPr id="31" name="box">
            <a:extLst xmlns:a="http://schemas.openxmlformats.org/drawingml/2006/main">
              <a:ext uri="{FF2B5EF4-FFF2-40B4-BE49-F238E27FC236}">
                <a16:creationId xmlns:a16="http://schemas.microsoft.com/office/drawing/2014/main" id="{F83495B3-4A07-4810-9F19-0DE1D01D9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619500"/>
            <a:ext cx="2324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1392C3DC-CE98-476C-896F-80E608CE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73380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目标159图</a:t>
            </a:r>
          </a:p>
        </p:txBody>
      </p:sp>
      <p:sp>
        <p:nvSpPr>
          <p:cNvPr id="33" name="box">
            <a:extLst xmlns:a="http://schemas.openxmlformats.org/drawingml/2006/main">
              <a:ext uri="{FF2B5EF4-FFF2-40B4-BE49-F238E27FC236}">
                <a16:creationId xmlns:a16="http://schemas.microsoft.com/office/drawing/2014/main" id="{84DD16D2-BAFB-4950-BFD7-96FC955D8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619500"/>
            <a:ext cx="2876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F5B0FE70-81DF-4587-AF7B-9819062E8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73380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scene · lighting · overlay · 可见模特</a:t>
            </a:r>
          </a:p>
        </p:txBody>
      </p:sp>
      <p:sp>
        <p:nvSpPr>
          <p:cNvPr id="35" name="box">
            <a:extLst xmlns:a="http://schemas.openxmlformats.org/drawingml/2006/main">
              <a:ext uri="{FF2B5EF4-FFF2-40B4-BE49-F238E27FC236}">
                <a16:creationId xmlns:a16="http://schemas.microsoft.com/office/drawing/2014/main" id="{BB977CCB-7BEB-402D-BC9D-72FE73A4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19500"/>
            <a:ext cx="30099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9C217BA6-34DF-446A-951F-70B243CCF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733800"/>
            <a:ext cx="2743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只记录可见、非敏感属性</a:t>
            </a:r>
          </a:p>
        </p:txBody>
      </p:sp>
      <p:sp>
        <p:nvSpPr>
          <p:cNvPr id="37" name="box">
            <a:extLst xmlns:a="http://schemas.openxmlformats.org/drawingml/2006/main">
              <a:ext uri="{FF2B5EF4-FFF2-40B4-BE49-F238E27FC236}">
                <a16:creationId xmlns:a16="http://schemas.microsoft.com/office/drawing/2014/main" id="{7CB8FC60-0427-46E6-8E17-0CBF2F16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00550"/>
            <a:ext cx="238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96274062-13B3-4840-9B41-1652C03F3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14850"/>
            <a:ext cx="2114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竞品视觉差距</a:t>
            </a:r>
          </a:p>
        </p:txBody>
      </p:sp>
      <p:sp>
        <p:nvSpPr>
          <p:cNvPr id="39" name="box">
            <a:extLst xmlns:a="http://schemas.openxmlformats.org/drawingml/2006/main">
              <a:ext uri="{FF2B5EF4-FFF2-40B4-BE49-F238E27FC236}">
                <a16:creationId xmlns:a16="http://schemas.microsoft.com/office/drawing/2014/main" id="{562E7066-971D-490C-B542-DB8B05396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400550"/>
            <a:ext cx="2324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90362261-5A6F-4CEE-A327-AA8DCF83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51485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竞品190＋分母15,107</a:t>
            </a:r>
          </a:p>
        </p:txBody>
      </p:sp>
      <p:sp>
        <p:nvSpPr>
          <p:cNvPr id="41" name="box">
            <a:extLst xmlns:a="http://schemas.openxmlformats.org/drawingml/2006/main">
              <a:ext uri="{FF2B5EF4-FFF2-40B4-BE49-F238E27FC236}">
                <a16:creationId xmlns:a16="http://schemas.microsoft.com/office/drawing/2014/main" id="{98E908AC-0A10-49D3-93E6-9C3ED863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400550"/>
            <a:ext cx="2876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42" name="text">
            <a:extLst xmlns:a="http://schemas.openxmlformats.org/drawingml/2006/main">
              <a:ext uri="{FF2B5EF4-FFF2-40B4-BE49-F238E27FC236}">
                <a16:creationId xmlns:a16="http://schemas.microsoft.com/office/drawing/2014/main" id="{AD8D5394-DF08-40A4-8BE9-8F0B3C885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51485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12维分布＋高清逐图观察</a:t>
            </a:r>
          </a:p>
        </p:txBody>
      </p:sp>
      <p:sp>
        <p:nvSpPr>
          <p:cNvPr id="43" name="box">
            <a:extLst xmlns:a="http://schemas.openxmlformats.org/drawingml/2006/main">
              <a:ext uri="{FF2B5EF4-FFF2-40B4-BE49-F238E27FC236}">
                <a16:creationId xmlns:a16="http://schemas.microsoft.com/office/drawing/2014/main" id="{F2A73025-B195-4EB4-A36A-3AAAEF657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00550"/>
            <a:ext cx="30099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0FB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44" name="text">
            <a:extLst xmlns:a="http://schemas.openxmlformats.org/drawingml/2006/main">
              <a:ext uri="{FF2B5EF4-FFF2-40B4-BE49-F238E27FC236}">
                <a16:creationId xmlns:a16="http://schemas.microsoft.com/office/drawing/2014/main" id="{B24BF8E1-1585-491B-B69A-48804C627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514850"/>
            <a:ext cx="2743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仅TOPS/SKIRTS；三品牌隔离</a:t>
            </a:r>
          </a:p>
        </p:txBody>
      </p:sp>
      <p:sp>
        <p:nvSpPr>
          <p:cNvPr id="45" name="box">
            <a:extLst xmlns:a="http://schemas.openxmlformats.org/drawingml/2006/main">
              <a:ext uri="{FF2B5EF4-FFF2-40B4-BE49-F238E27FC236}">
                <a16:creationId xmlns:a16="http://schemas.microsoft.com/office/drawing/2014/main" id="{254AC4B0-B366-4EE7-8033-43AD77931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81600"/>
            <a:ext cx="238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46" name="text">
            <a:extLst xmlns:a="http://schemas.openxmlformats.org/drawingml/2006/main">
              <a:ext uri="{FF2B5EF4-FFF2-40B4-BE49-F238E27FC236}">
                <a16:creationId xmlns:a16="http://schemas.microsoft.com/office/drawing/2014/main" id="{9713A9A0-5A82-4019-9528-85D43B1F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95900"/>
            <a:ext cx="2114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视觉升级方向</a:t>
            </a:r>
          </a:p>
        </p:txBody>
      </p:sp>
      <p:sp>
        <p:nvSpPr>
          <p:cNvPr id="47" name="box">
            <a:extLst xmlns:a="http://schemas.openxmlformats.org/drawingml/2006/main">
              <a:ext uri="{FF2B5EF4-FFF2-40B4-BE49-F238E27FC236}">
                <a16:creationId xmlns:a16="http://schemas.microsoft.com/office/drawing/2014/main" id="{6F8BB59C-B3B9-49AC-8662-22912B202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181600"/>
            <a:ext cx="2324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48" name="text">
            <a:extLst xmlns:a="http://schemas.openxmlformats.org/drawingml/2006/main">
              <a:ext uri="{FF2B5EF4-FFF2-40B4-BE49-F238E27FC236}">
                <a16:creationId xmlns:a16="http://schemas.microsoft.com/office/drawing/2014/main" id="{72BC3A06-D291-4FEB-9D28-FF9C2C556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9590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前四章已验证结论</a:t>
            </a:r>
          </a:p>
        </p:txBody>
      </p:sp>
      <p:sp>
        <p:nvSpPr>
          <p:cNvPr id="49" name="box">
            <a:extLst xmlns:a="http://schemas.openxmlformats.org/drawingml/2006/main">
              <a:ext uri="{FF2B5EF4-FFF2-40B4-BE49-F238E27FC236}">
                <a16:creationId xmlns:a16="http://schemas.microsoft.com/office/drawing/2014/main" id="{9CDA1E97-5B1F-4B3E-B222-425C47B2D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5181600"/>
            <a:ext cx="2876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50" name="text">
            <a:extLst xmlns:a="http://schemas.openxmlformats.org/drawingml/2006/main">
              <a:ext uri="{FF2B5EF4-FFF2-40B4-BE49-F238E27FC236}">
                <a16:creationId xmlns:a16="http://schemas.microsoft.com/office/drawing/2014/main" id="{422AD7C4-F7CC-4426-ACA4-847D67E1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29590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问题→证据→视觉改进</a:t>
            </a:r>
          </a:p>
        </p:txBody>
      </p:sp>
      <p:sp>
        <p:nvSpPr>
          <p:cNvPr id="51" name="box">
            <a:extLst xmlns:a="http://schemas.openxmlformats.org/drawingml/2006/main">
              <a:ext uri="{FF2B5EF4-FFF2-40B4-BE49-F238E27FC236}">
                <a16:creationId xmlns:a16="http://schemas.microsoft.com/office/drawing/2014/main" id="{4BEBBF3C-BAB2-4841-9BD6-16E4398E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181600"/>
            <a:ext cx="30099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52" name="text">
            <a:extLst xmlns:a="http://schemas.openxmlformats.org/drawingml/2006/main">
              <a:ext uri="{FF2B5EF4-FFF2-40B4-BE49-F238E27FC236}">
                <a16:creationId xmlns:a16="http://schemas.microsoft.com/office/drawing/2014/main" id="{9EA5823C-E7A1-41E1-9781-0F478415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295900"/>
            <a:ext cx="2743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不重新读图，不杜撰新观察</a:t>
            </a:r>
          </a:p>
        </p:txBody>
      </p:sp>
      <p:sp>
        <p:nvSpPr>
          <p:cNvPr id="53" name="box">
            <a:extLst xmlns:a="http://schemas.openxmlformats.org/drawingml/2006/main">
              <a:ext uri="{FF2B5EF4-FFF2-40B4-BE49-F238E27FC236}">
                <a16:creationId xmlns:a16="http://schemas.microsoft.com/office/drawing/2014/main" id="{19D37543-4E27-494B-A70F-6A462FAB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76950"/>
            <a:ext cx="1104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text">
            <a:extLst xmlns:a="http://schemas.openxmlformats.org/drawingml/2006/main">
              <a:ext uri="{FF2B5EF4-FFF2-40B4-BE49-F238E27FC236}">
                <a16:creationId xmlns:a16="http://schemas.microsoft.com/office/drawing/2014/main" id="{11133C5D-56A2-4F4A-92F8-21A48063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05525"/>
            <a:ext cx="10591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每章独立保存checkpoint；五章完成后，执行摘要只读取五章结果，不增加新事实或图片ID。</a:t>
            </a:r>
          </a:p>
        </p:txBody>
      </p:sp>
      <p:sp>
        <p:nvSpPr>
          <p:cNvPr id="55" name="rule">
            <a:extLst xmlns:a="http://schemas.openxmlformats.org/drawingml/2006/main">
              <a:ext uri="{FF2B5EF4-FFF2-40B4-BE49-F238E27FC236}">
                <a16:creationId xmlns:a16="http://schemas.microsoft.com/office/drawing/2014/main" id="{0679F930-C8B3-42C3-9857-286ACA499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footer">
            <a:extLst xmlns:a="http://schemas.openxmlformats.org/drawingml/2006/main">
              <a:ext uri="{FF2B5EF4-FFF2-40B4-BE49-F238E27FC236}">
                <a16:creationId xmlns:a16="http://schemas.microsoft.com/office/drawing/2014/main" id="{0CFFCECE-DDFA-4B43-A045-DA60A7AF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62862079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eyebrow">
            <a:extLst xmlns:a="http://schemas.openxmlformats.org/drawingml/2006/main">
              <a:ext uri="{FF2B5EF4-FFF2-40B4-BE49-F238E27FC236}">
                <a16:creationId xmlns:a16="http://schemas.microsoft.com/office/drawing/2014/main" id="{C548F691-0D68-40C0-9AEE-52BA24A8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3B · CLAIM CONTRACT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2E34522-C918-4585-A4F6-F2E64E819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体验2流程④：每条结论如何从观察进入可审核PDF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06D1047-C964-4E43-87E4-F129C0870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Sol写结论与推导；JSON Schema固定证据字段；程序阻断错误ID和竞品错配；用户逐章决定是否采用。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7455AB1-F5A1-49BF-9B71-DCE498A8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5" name="flow-arrow">
            <a:extLst xmlns:a="http://schemas.openxmlformats.org/drawingml/2006/main">
              <a:ext uri="{FF2B5EF4-FFF2-40B4-BE49-F238E27FC236}">
                <a16:creationId xmlns:a16="http://schemas.microsoft.com/office/drawing/2014/main" id="{A125E776-1D69-4E3B-BB9D-E0FF8E0C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3812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flow-arrow">
            <a:extLst xmlns:a="http://schemas.openxmlformats.org/drawingml/2006/main">
              <a:ext uri="{FF2B5EF4-FFF2-40B4-BE49-F238E27FC236}">
                <a16:creationId xmlns:a16="http://schemas.microsoft.com/office/drawing/2014/main" id="{9A13C8DF-5547-48BD-834E-4EFFD0694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3812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flow-arrow">
            <a:extLst xmlns:a="http://schemas.openxmlformats.org/drawingml/2006/main">
              <a:ext uri="{FF2B5EF4-FFF2-40B4-BE49-F238E27FC236}">
                <a16:creationId xmlns:a16="http://schemas.microsoft.com/office/drawing/2014/main" id="{15212CBC-2B3A-4ABA-B460-9ADA0FCD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3812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flow-arrow">
            <a:extLst xmlns:a="http://schemas.openxmlformats.org/drawingml/2006/main">
              <a:ext uri="{FF2B5EF4-FFF2-40B4-BE49-F238E27FC236}">
                <a16:creationId xmlns:a16="http://schemas.microsoft.com/office/drawing/2014/main" id="{2E2143BC-3BB8-4EB0-8131-8CF373A7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812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flow-arrow">
            <a:extLst xmlns:a="http://schemas.openxmlformats.org/drawingml/2006/main">
              <a:ext uri="{FF2B5EF4-FFF2-40B4-BE49-F238E27FC236}">
                <a16:creationId xmlns:a16="http://schemas.microsoft.com/office/drawing/2014/main" id="{0C79D277-090D-4BA1-952A-F1CAD3FB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812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flow-01">
            <a:extLst xmlns:a="http://schemas.openxmlformats.org/drawingml/2006/main">
              <a:ext uri="{FF2B5EF4-FFF2-40B4-BE49-F238E27FC236}">
                <a16:creationId xmlns:a16="http://schemas.microsoft.com/office/drawing/2014/main" id="{442A243D-A0A5-48D4-90D6-0755F474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1676400" cy="18097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7CD8EC6-BAA2-4DF1-80F4-681BF327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19C5F42-4682-43D2-8833-25CDBF6B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逐图事实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A897ED2-7402-489B-8289-388E1A45A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133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349张×18个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可见观察字段</a:t>
            </a:r>
          </a:p>
        </p:txBody>
      </p:sp>
      <p:sp>
        <p:nvSpPr>
          <p:cNvPr id="14" name="flow-02">
            <a:extLst xmlns:a="http://schemas.openxmlformats.org/drawingml/2006/main">
              <a:ext uri="{FF2B5EF4-FFF2-40B4-BE49-F238E27FC236}">
                <a16:creationId xmlns:a16="http://schemas.microsoft.com/office/drawing/2014/main" id="{3A23A51E-FB63-485D-A366-C85A69D3B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695450"/>
            <a:ext cx="1676400" cy="18097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30E130E-5FB0-40AB-9953-34628E02F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847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DD3CAD0-D979-43F4-BAD5-E205EA682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1526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按章裁剪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A38811A8-D11B-435F-9E0B-FB192A098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571750"/>
            <a:ext cx="133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角色＋字段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不再次抽样</a:t>
            </a:r>
          </a:p>
        </p:txBody>
      </p:sp>
      <p:sp>
        <p:nvSpPr>
          <p:cNvPr id="18" name="flow-03">
            <a:extLst xmlns:a="http://schemas.openxmlformats.org/drawingml/2006/main">
              <a:ext uri="{FF2B5EF4-FFF2-40B4-BE49-F238E27FC236}">
                <a16:creationId xmlns:a16="http://schemas.microsoft.com/office/drawing/2014/main" id="{D11C7924-D96B-4757-BCEC-A786C9749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95450"/>
            <a:ext cx="1676400" cy="18097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BF6BECBA-53DC-4DE9-A5A8-5D234AAFD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47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83BBA1A6-47C5-4422-BC82-4FE56D6D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526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五次汇总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D8DE1681-6B5B-4DBD-89A2-990A76EE7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71750"/>
            <a:ext cx="133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每章2–6条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独立checkpoint</a:t>
            </a:r>
          </a:p>
        </p:txBody>
      </p:sp>
      <p:sp>
        <p:nvSpPr>
          <p:cNvPr id="22" name="flow-04">
            <a:extLst xmlns:a="http://schemas.openxmlformats.org/drawingml/2006/main">
              <a:ext uri="{FF2B5EF4-FFF2-40B4-BE49-F238E27FC236}">
                <a16:creationId xmlns:a16="http://schemas.microsoft.com/office/drawing/2014/main" id="{EC6868E9-2AC4-4483-BF4A-9127C4F9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95450"/>
            <a:ext cx="1676400" cy="18097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E8370BDC-CD30-4137-948B-A3847C25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47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7DC9A138-8303-4C75-B571-068111D1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526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程序硬校验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1A345FF3-C0BE-4168-9B93-EFF778D1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71750"/>
            <a:ext cx="133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五章齐全且不重复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ID必须来自输入</a:t>
            </a:r>
          </a:p>
        </p:txBody>
      </p:sp>
      <p:sp>
        <p:nvSpPr>
          <p:cNvPr id="26" name="flow-05">
            <a:extLst xmlns:a="http://schemas.openxmlformats.org/drawingml/2006/main">
              <a:ext uri="{FF2B5EF4-FFF2-40B4-BE49-F238E27FC236}">
                <a16:creationId xmlns:a16="http://schemas.microsoft.com/office/drawing/2014/main" id="{A8AA1716-331C-4BEB-9446-D0C08359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95450"/>
            <a:ext cx="1676400" cy="18097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3359457A-B991-44BD-AF66-38A13E05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47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0E4FAA5E-50AA-4E40-9643-6EF23F6CF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526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人工审核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DB1248E4-07B8-495A-8E1B-FCE452C2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71750"/>
            <a:ext cx="133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满意=通过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不满意=仅重跑该章</a:t>
            </a:r>
          </a:p>
        </p:txBody>
      </p:sp>
      <p:sp>
        <p:nvSpPr>
          <p:cNvPr id="30" name="flow-06">
            <a:extLst xmlns:a="http://schemas.openxmlformats.org/drawingml/2006/main">
              <a:ext uri="{FF2B5EF4-FFF2-40B4-BE49-F238E27FC236}">
                <a16:creationId xmlns:a16="http://schemas.microsoft.com/office/drawing/2014/main" id="{5576DDFD-D73D-4B6D-B5DE-B58FBF151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695450"/>
            <a:ext cx="1676400" cy="18097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E8F17E56-87C4-4636-8BC5-BBB458D88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847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7D7D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7D7D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03729474-FE24-46FE-AEAA-AA439D16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1526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本地排版PDF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51B3DA37-2C08-4707-A463-7735C4A78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571750"/>
            <a:ext cx="133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rPr>
              <a:t>五章全通过后生成</a:t>
            </a:r>
          </a:p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rPr>
              <a:t>不再调用模型</a:t>
            </a:r>
          </a:p>
        </p:txBody>
      </p:sp>
      <p:sp>
        <p:nvSpPr>
          <p:cNvPr id="34" name="hard-validation">
            <a:extLst xmlns:a="http://schemas.openxmlformats.org/drawingml/2006/main">
              <a:ext uri="{FF2B5EF4-FFF2-40B4-BE49-F238E27FC236}">
                <a16:creationId xmlns:a16="http://schemas.microsoft.com/office/drawing/2014/main" id="{EA21D638-1997-4A26-850F-D59E4D6EC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533400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423B7A62-7952-4D95-998C-F57FF606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程序硬校验（失败就不出报告）</a:t>
            </a:r>
          </a:p>
        </p:txBody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34D8516E-0CD3-4B8C-B84D-41947A0E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14850"/>
            <a:ext cx="4857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每批逐图观察必须恰好覆盖输入图片ID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五个section_id必须各出现一次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每条claim只能引用本次成功分析的图片ID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竞品差距：三家分别点名；证据图须属于对应品牌</a:t>
            </a:r>
          </a:p>
        </p:txBody>
      </p:sp>
      <p:sp>
        <p:nvSpPr>
          <p:cNvPr id="37" name="soft-validation">
            <a:extLst xmlns:a="http://schemas.openxmlformats.org/drawingml/2006/main">
              <a:ext uri="{FF2B5EF4-FFF2-40B4-BE49-F238E27FC236}">
                <a16:creationId xmlns:a16="http://schemas.microsoft.com/office/drawing/2014/main" id="{BE51BB35-8A6A-4FB7-B7EA-22ABD22A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86200"/>
            <a:ext cx="548640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122BE62B-391C-429A-814B-FAA89B2CE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957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Prompt 软约束＋人工审核</a:t>
            </a:r>
          </a:p>
        </p:txBody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5EC71FB6-1A91-409E-9292-FB3DC467C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514850"/>
            <a:ext cx="50101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• 全量目录只支持店铺规模和品类结构，不能冒充视觉全量分析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• 目标视觉判断来自81个商品、159张多视角图，覆盖9类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• 竞品只比较TOPS与SKIRTS；其他品类明确披露未覆盖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• 不满意时携带原章节、审核意见、scope和同章evidence重跑</a:t>
            </a:r>
          </a:p>
        </p:txBody>
      </p:sp>
      <p:sp>
        <p:nvSpPr>
          <p:cNvPr id="40" name="rule">
            <a:extLst xmlns:a="http://schemas.openxmlformats.org/drawingml/2006/main">
              <a:ext uri="{FF2B5EF4-FFF2-40B4-BE49-F238E27FC236}">
                <a16:creationId xmlns:a16="http://schemas.microsoft.com/office/drawing/2014/main" id="{D32865B6-1B1C-4728-96E5-98D7955A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footer">
            <a:extLst xmlns:a="http://schemas.openxmlformats.org/drawingml/2006/main">
              <a:ext uri="{FF2B5EF4-FFF2-40B4-BE49-F238E27FC236}">
                <a16:creationId xmlns:a16="http://schemas.microsoft.com/office/drawing/2014/main" id="{EE4A71D1-55CB-4AE8-B4DE-5E8F9D58E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80254756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8A690DCB-A43E-4298-ACB0-11E80EB6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3B · DEMO 1/5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2874C76-F0C0-40BA-B30E-F6A8590EB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体验2 Demo：先确认报告范围与证据契约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C402A1C-989B-4BF1-AC8F-A8A440FF3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界面先展示全店2,848件、前三品类20个商品、六个补充品类各5个、最多2视角与费用边界。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4D01388-ABA7-42EA-BEC2-9EE88DDD9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36F4E238-7FF6-47CF-8141-743A3CF2E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357f2d1af14387"/>
          <a:srcRect xmlns:a="http://schemas.openxmlformats.org/drawingml/2006/main" l="0" t="5818" r="0" b="5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B565FCE1-E3E2-4BF3-974B-7042D5C3F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319A5808-CE65-4BE9-B2F8-220E4671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01 / 05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D226DBC1-65BA-4241-BC4A-84A0EF4BA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确认后再启动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3ADBC23A-29AA-4725-A047-955F4553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8E450F27-9E53-4877-A88E-CDBE40B06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13A938C3-F85C-4C15-AE60-F6C6AEF0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目标共覆盖9个重点品类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1E911C6A-98FD-4870-ACE8-F21D2FDE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7BB9BCFB-6146-4E0F-BE10-6FD1C6C2F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81个商品，最多2视角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742E0176-7009-4792-99F0-A206B2CD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6C9F919C-5D80-49D4-BFC1-7BC70D374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竞品只比较12维完整品类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C4A3DD98-6B39-4B6A-A781-E427AD749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20D150DE-7962-47DA-8E4E-138401014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2026-08-27</a:t>
            </a:r>
          </a:p>
        </p:txBody>
      </p:sp>
    </p:spTree>
    <p:extLst>
      <p:ext uri="{BB962C8B-B14F-4D97-AF65-F5344CB8AC3E}">
        <p14:creationId xmlns:p14="http://schemas.microsoft.com/office/powerpoint/2010/main" val="118658459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C3D8215A-DA14-47E6-8D08-7578970E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3B · DEMO 2/5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12301E3-275C-42D4-89D2-4046985F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体验2 Demo：分析完成后先看统计与草稿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379BEF3-41FA-4216-9681-C09364B5B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任务显示159张目标图、15,107张竞品可比分母、190张高清证据、349次缓存命中与实际费用。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CB2723D-1A95-4F21-B2FF-D0B0C68F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144BD12B-DEF0-49C6-A64D-9AD51B12B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07e631a4b64f84"/>
          <a:srcRect xmlns:a="http://schemas.openxmlformats.org/drawingml/2006/main" l="0" t="5818" r="0" b="5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D8893C51-EA18-43D9-9D49-A96E7045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2A2A8681-B46E-4EDF-B795-46D1DCDD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02 / 05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DD6F7833-6B74-4DF0-8002-9AFDA83AE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打开已完成任务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EE9A198D-53E7-4B61-92E0-2D83944DD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964B5976-9705-49EC-9801-56841321C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FEFB6915-6B7D-434C-AE36-A83AAED0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349张成功图片全部逐图分析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EE7D571A-3926-4612-9743-DC01256F5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777E657E-CCAB-4D3D-AEB7-E19022F66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竞品比较TOPS＋SKIRTS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F9620F73-1451-4250-B147-D199E8C35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3204F648-055B-459F-A690-D374E5DE9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Sol费用约$15.58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DAD95E07-B7D0-4E46-98BF-17DADAF9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5F5DBF70-08FB-42E3-A1FC-47E266000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2026-08-27</a:t>
            </a:r>
          </a:p>
        </p:txBody>
      </p:sp>
    </p:spTree>
    <p:extLst>
      <p:ext uri="{BB962C8B-B14F-4D97-AF65-F5344CB8AC3E}">
        <p14:creationId xmlns:p14="http://schemas.microsoft.com/office/powerpoint/2010/main" val="59282523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6F020162-4530-48B9-BE3C-EA1A414E4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3B · DEMO 3/5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4EF6FE5-CFB1-4A3C-8E8B-E71DEAC8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体验2 Demo：逐条检查结论、推导与图片证据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CC5CF2D-A824-48B8-A65B-C9BDF08A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每个Section展示结论、推导、样本范围、观察字段及直接可见的支持图与反例图。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8706796-3CBC-4E2F-B64F-E3A0A794D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CDC107D1-44C5-49B0-96EE-7DF7675C6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ba00824e6541f5"/>
          <a:srcRect xmlns:a="http://schemas.openxmlformats.org/drawingml/2006/main" l="0" t="5818" r="0" b="5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AF5EA236-7193-4E5E-B056-2DC56BBBD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8FC6B997-2745-4F27-89DA-F6EE92F4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03 / 05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B912BCA8-AAF8-431C-9CDD-0BF318D9E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审核Section证据链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C3D262DA-AF23-4D08-BF07-9800657A7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B50F31E3-00C7-46C8-A1D3-F667DB5F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6E3535D2-84A0-435C-AF41-B12AA5C4D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结论与推导同屏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01816939-0C36-4B78-81AD-E4C9C4088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A1CB34EF-BC6C-42D0-9FC1-082DA0333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图片直接展示，不只显示ID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BE5F8EDC-A2AE-4044-99E4-40A26A548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FA14FCA7-8270-49C5-A3C0-8496227F5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店铺归属与样本范围可回查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50375C72-2F2E-4610-A091-871B14D17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40D556DE-D7E2-4E03-8C0B-817370162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2026-08-27</a:t>
            </a:r>
          </a:p>
        </p:txBody>
      </p:sp>
    </p:spTree>
    <p:extLst>
      <p:ext uri="{BB962C8B-B14F-4D97-AF65-F5344CB8AC3E}">
        <p14:creationId xmlns:p14="http://schemas.microsoft.com/office/powerpoint/2010/main" val="206910905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76A9E5D0-DCB8-40B4-8900-62A450914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3B · DEMO 4/5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771EF77-A67B-46E4-AFB1-1C8DE3746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体验2 Demo：每个Section独立通过或退回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0D1A568-6DCA-485C-B69B-09A14576A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审核区同时保留“满意 / 不满意”入口；当前章节显示已通过，下一章节继续审核。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2FF9CF5-ED0C-49CA-BD8B-72EA6ED78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BA89770A-8D0F-4C05-80B6-14DE45C5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fe68f99dd140e3"/>
          <a:srcRect xmlns:a="http://schemas.openxmlformats.org/drawingml/2006/main" l="0" t="5818" r="0" b="5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A71C1F1F-E54C-4B98-A3A4-4F98087E0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3C35C44D-97A8-42B0-A579-F86D7D29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04 / 05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307649B3-DAE4-46BD-AF88-5AECA76F3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逐章做人工判断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2B746AEB-D8DC-4CD7-8E6E-C5637551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A435CB89-4799-4919-9143-3C945952F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18CB983C-2783-44C6-9E51-4E549E79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支持图与反例图已展开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55BAC209-AAD8-4B92-B9BC-62E50B28E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F85A3309-A2C2-42C9-97FA-AC75DA216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审核状态显示已通过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1068CCDE-ECD1-42C8-AC5D-DB0D1015F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32F55DC8-A778-4CCD-9D02-762EA9DC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未通过章节可单独修订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410E2C4F-F636-426F-8DC3-4FFB60E5A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75C7C10E-5381-4B1D-977E-BC2F0A781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2026-08-27</a:t>
            </a:r>
          </a:p>
        </p:txBody>
      </p:sp>
    </p:spTree>
    <p:extLst>
      <p:ext uri="{BB962C8B-B14F-4D97-AF65-F5344CB8AC3E}">
        <p14:creationId xmlns:p14="http://schemas.microsoft.com/office/powerpoint/2010/main" val="189841620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C9A06362-C8F3-493D-A649-AB1C1BCA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3B · DEMO 5/5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40F331B-E9CA-4CB6-AE6B-06CCBC2C1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体验2 Demo：五章通过后生成或下载最终PDF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5C3E1CC-55F1-4A85-9A74-64291615C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五章通过后，系统只读取同一任务草稿本地排版；最终PDF沿用样片视觉语言，页数由实际内容决定。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EFAD77A-0327-4EBC-80DE-04C3C2B83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E49D2023-92C0-4FBA-83AC-F0FE5BB9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c490e8cd61490b"/>
          <a:srcRect xmlns:a="http://schemas.openxmlformats.org/drawingml/2006/main" l="0" t="5818" r="0" b="5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1E250A3F-3AF1-4010-8000-B260BB3B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54BB1029-E484-4CB6-9703-66E614972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05 / 05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DB8C982F-9F75-46B9-A20E-9E222B49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交付最终PDF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F4D73F84-6E9C-4C89-AAD2-9E02FA15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A48AE1FE-CB7F-4238-A7AF-D92954CE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C7CD7DD0-6B52-44CA-A46A-16A7DEE87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生成、浏览、下载三种动作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8D2FDAB6-8058-43A6-9EB0-2612811E5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0A51DA5C-4B9F-4C96-9D4D-BE9E2BFE7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排版0 Token / 0模型费用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B3EA9191-BD96-40AE-88D5-43527406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D5930FD0-E234-41A5-9898-B3A4A6F7B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结论与证据进入内容驱动版式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91CCD726-39A0-459F-8F42-2AB13FFE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31764D8C-A1E7-470F-8354-25DEEB37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2026-08-27</a:t>
            </a:r>
          </a:p>
        </p:txBody>
      </p:sp>
    </p:spTree>
    <p:extLst>
      <p:ext uri="{BB962C8B-B14F-4D97-AF65-F5344CB8AC3E}">
        <p14:creationId xmlns:p14="http://schemas.microsoft.com/office/powerpoint/2010/main" val="75162247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eyebrow">
            <a:extLst xmlns:a="http://schemas.openxmlformats.org/drawingml/2006/main">
              <a:ext uri="{FF2B5EF4-FFF2-40B4-BE49-F238E27FC236}">
                <a16:creationId xmlns:a16="http://schemas.microsoft.com/office/drawing/2014/main" id="{7FB32631-DB6A-4DEA-851D-9D346080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PDF STRUCTURE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4A5BA22-C2AC-4274-92D6-A3FA8D677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53 页成品由五个 Section 逐层收敛到行动方案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29E4961-D207-448A-9FF3-5EAC96292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新版在原样片结构中补入店铺信息、全量品类结构、9类样本、多视角展示与可见模特画像。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8F9308B-13CD-4C90-91B0-18011236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d00fe6630148e8"/>
          <a:srcRect xmlns:a="http://schemas.openxmlformats.org/drawingml/2006/main" l="101" t="0" r="10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666875"/>
            <a:ext cx="2095500" cy="1181100"/>
          </a:xfrm>
          <a:prstGeom xmlns:a="http://schemas.openxmlformats.org/drawingml/2006/main" prst="rect">
            <a:avLst/>
          </a:prstGeom>
        </p:spPr>
      </p:pic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B4D3D00-3F6F-4F7D-8889-B72925373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670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P2–6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336E836-87DA-45AD-9568-48B1B615E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品牌视觉定位校准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9895529-4058-4A53-A5BE-21A8382B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店铺规模、重点品类与风格是什么？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04445aaece4c31"/>
          <a:srcRect xmlns:a="http://schemas.openxmlformats.org/drawingml/2006/main" l="101" t="0" r="10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24150" y="1666875"/>
            <a:ext cx="2095500" cy="1181100"/>
          </a:xfrm>
          <a:prstGeom xmlns:a="http://schemas.openxmlformats.org/drawingml/2006/main" prst="rect">
            <a:avLst/>
          </a:prstGeom>
        </p:spPr>
      </p:pic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52FD86C-CD36-45B3-B595-18BB35313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0670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P7–14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19DC10F-7720-4072-8875-3AB37E0EB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4290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商品展示分析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64A69F2-E5F7-435B-B5CD-71C9EA94D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2862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三类主分析＋六类交叉验证怎样展示商品？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757a9d874e414a"/>
          <a:srcRect xmlns:a="http://schemas.openxmlformats.org/drawingml/2006/main" l="101" t="0" r="10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91100" y="1666875"/>
            <a:ext cx="2095500" cy="1181100"/>
          </a:xfrm>
          <a:prstGeom xmlns:a="http://schemas.openxmlformats.org/drawingml/2006/main" prst="rect">
            <a:avLst/>
          </a:prstGeom>
        </p:spPr>
      </p:pic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083AF56-7F95-4911-9592-8293A0D73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0670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P15–25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05FE29B-B45A-4E5C-B91C-082FBA99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4290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店铺视觉审计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FD0BFE6-9708-4140-BF55-7DEB32B21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2862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布景、图法与可见模特哪里失序？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28d6153e8748ee"/>
          <a:srcRect xmlns:a="http://schemas.openxmlformats.org/drawingml/2006/main" l="101" t="0" r="10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58050" y="1666875"/>
            <a:ext cx="2095500" cy="1181100"/>
          </a:xfrm>
          <a:prstGeom xmlns:a="http://schemas.openxmlformats.org/drawingml/2006/main" prst="rect">
            <a:avLst/>
          </a:prstGeom>
        </p:spPr>
      </p:pic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5CA0CE2-207F-4ABC-BCEC-B1975F86E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670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P26–39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8BAA8B75-DD4D-4C05-BEEB-F168E4EA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4290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竞品视觉差距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0983706A-B060-4423-824E-EA143DB36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2862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在TOPS与SKIRTS可比范围内差在哪里？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7ce1fa670049bd"/>
          <a:srcRect xmlns:a="http://schemas.openxmlformats.org/drawingml/2006/main" l="101" t="0" r="10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25000" y="1666875"/>
            <a:ext cx="2095500" cy="1181100"/>
          </a:xfrm>
          <a:prstGeom xmlns:a="http://schemas.openxmlformats.org/drawingml/2006/main" prst="rect">
            <a:avLst/>
          </a:prstGeom>
        </p:spPr>
      </p:pic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111943C1-4205-4693-95A2-9328D014D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670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结论页＋PLAN A/B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2643F827-BF98-4412-9D98-AAB87E1E1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290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视觉升级方向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B3A0C594-B5BA-4D91-8013-7A5D7938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2862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下一步怎么改？</a:t>
            </a:r>
          </a:p>
        </p:txBody>
      </p:sp>
      <p:sp>
        <p:nvSpPr>
          <p:cNvPr id="25" name="box">
            <a:extLst xmlns:a="http://schemas.openxmlformats.org/drawingml/2006/main">
              <a:ext uri="{FF2B5EF4-FFF2-40B4-BE49-F238E27FC236}">
                <a16:creationId xmlns:a16="http://schemas.microsoft.com/office/drawing/2014/main" id="{228C9920-0C43-4C1C-960B-A6C06DAE8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14950"/>
            <a:ext cx="10972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1D3CF419-0E5B-4B13-ABFF-2F3BC7FED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共同证据契约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D9B84E3F-F14B-485F-96A1-3CE0AD58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505450"/>
            <a:ext cx="847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范围与分母清楚 · 图片角色清楚 · 店铺归属清楚 · 结论能够回查到 image_id</a:t>
            </a:r>
          </a:p>
        </p:txBody>
      </p:sp>
      <p:sp>
        <p:nvSpPr>
          <p:cNvPr id="28" name="rule">
            <a:extLst xmlns:a="http://schemas.openxmlformats.org/drawingml/2006/main">
              <a:ext uri="{FF2B5EF4-FFF2-40B4-BE49-F238E27FC236}">
                <a16:creationId xmlns:a16="http://schemas.microsoft.com/office/drawing/2014/main" id="{E9A60213-EC85-45E6-8451-5EAC4CD80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footer">
            <a:extLst xmlns:a="http://schemas.openxmlformats.org/drawingml/2006/main">
              <a:ext uri="{FF2B5EF4-FFF2-40B4-BE49-F238E27FC236}">
                <a16:creationId xmlns:a16="http://schemas.microsoft.com/office/drawing/2014/main" id="{2485E480-91AD-48B9-BC3B-18D5B35D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213749946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E1307A27-CB0B-4479-B1A4-EC56EE7D3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FINISHED ARTIFACT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A27348F-5AFF-458C-83F7-BA9ABDF80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最终PDF沿用样片版式，并绑定本次349张图证据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8E668F7-7708-410B-8C04-A3F191AB9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内容来自9类目标商品、多视角观察、TOPS＋SKIRTS竞品分布，以及五章独立审核结果。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F65D345-3B7C-4E5A-88AF-5C1A734F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068908cdad4543"/>
          <a:srcRect xmlns:a="http://schemas.openxmlformats.org/drawingml/2006/main" l="46" t="0" r="4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0" y="1485900"/>
            <a:ext cx="6953250" cy="3914775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1d047703c243c4"/>
          <a:srcRect xmlns:a="http://schemas.openxmlformats.org/drawingml/2006/main" l="0" t="105" r="0" b="1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485900"/>
            <a:ext cx="2019300" cy="1133475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6e7d86b537472f"/>
          <a:srcRect xmlns:a="http://schemas.openxmlformats.org/drawingml/2006/main" l="0" t="105" r="0" b="1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28900" y="1485900"/>
            <a:ext cx="2019300" cy="1133475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b9582b64a046c6"/>
          <a:srcRect xmlns:a="http://schemas.openxmlformats.org/drawingml/2006/main" l="0" t="101" r="0" b="1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2809875"/>
            <a:ext cx="4191000" cy="2352675"/>
          </a:xfrm>
          <a:prstGeom xmlns:a="http://schemas.openxmlformats.org/drawingml/2006/main" prst="rect">
            <a:avLst/>
          </a:prstGeom>
        </p:spPr>
      </p:pic>
      <p:sp>
        <p:nvSpPr>
          <p:cNvPr id="9" name="metric-页数按内容">
            <a:extLst xmlns:a="http://schemas.openxmlformats.org/drawingml/2006/main">
              <a:ext uri="{FF2B5EF4-FFF2-40B4-BE49-F238E27FC236}">
                <a16:creationId xmlns:a16="http://schemas.microsoft.com/office/drawing/2014/main" id="{7F1708B6-8D24-491F-900A-257D8B257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67350"/>
            <a:ext cx="152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动态</a:t>
            </a:r>
          </a:p>
        </p:txBody>
      </p:sp>
      <p:sp>
        <p:nvSpPr>
          <p:cNvPr id="10" name="metric-label-页数按内容">
            <a:extLst xmlns:a="http://schemas.openxmlformats.org/drawingml/2006/main">
              <a:ext uri="{FF2B5EF4-FFF2-40B4-BE49-F238E27FC236}">
                <a16:creationId xmlns:a16="http://schemas.microsoft.com/office/drawing/2014/main" id="{DF90E93D-799E-49BE-8454-009F6AFD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页数按内容</a:t>
            </a:r>
          </a:p>
        </p:txBody>
      </p:sp>
      <p:sp>
        <p:nvSpPr>
          <p:cNvPr id="11" name="metric-个可审核 Section">
            <a:extLst xmlns:a="http://schemas.openxmlformats.org/drawingml/2006/main">
              <a:ext uri="{FF2B5EF4-FFF2-40B4-BE49-F238E27FC236}">
                <a16:creationId xmlns:a16="http://schemas.microsoft.com/office/drawing/2014/main" id="{ED4F73B4-3CEE-4727-A369-8B0A00C84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467350"/>
            <a:ext cx="190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2" name="metric-label-个可审核 Section">
            <a:extLst xmlns:a="http://schemas.openxmlformats.org/drawingml/2006/main">
              <a:ext uri="{FF2B5EF4-FFF2-40B4-BE49-F238E27FC236}">
                <a16:creationId xmlns:a16="http://schemas.microsoft.com/office/drawing/2014/main" id="{0FFD472B-EAD2-406C-BAFD-4ECC9CF4C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0960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个可审核 Section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C967070-0EC8-47AD-BFAB-B09DCD16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6578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成品文件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ED99F81D-9AFF-4B23-B28F-792357066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600700"/>
            <a:ext cx="552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Aloruh店铺视觉诊断－内容驱动版－20260827.pdf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45DCFBF7-5B41-474D-ABF8-4D4B1AAE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ooter">
            <a:extLst xmlns:a="http://schemas.openxmlformats.org/drawingml/2006/main">
              <a:ext uri="{FF2B5EF4-FFF2-40B4-BE49-F238E27FC236}">
                <a16:creationId xmlns:a16="http://schemas.microsoft.com/office/drawing/2014/main" id="{4EDBDA41-3C0C-4C37-8853-B15165C07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final report rendered and visually checked page by page</a:t>
            </a:r>
          </a:p>
        </p:txBody>
      </p:sp>
    </p:spTree>
    <p:extLst>
      <p:ext uri="{BB962C8B-B14F-4D97-AF65-F5344CB8AC3E}">
        <p14:creationId xmlns:p14="http://schemas.microsoft.com/office/powerpoint/2010/main" val="144122010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5F86B29E-097E-4216-A9B5-B799D0877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PROMPT APPENDIX · CODE VERBATIM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646414D-F43A-43AD-B1BF-3CED19BA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附录A1/9：Terra完整Prompt — 通用规则＋维度1–3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B97FD01-5253-4829-B629-0B85BE5ED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以下文本来自_taxonomy_prompt()；仅为适配页面人工换行，单词与标签未改写。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C6A70D7-D604-4129-875D-98A19BD7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sp>
        <p:nvSpPr>
          <p:cNvPr id="5" name="code-统一规则（完整）">
            <a:extLst xmlns:a="http://schemas.openxmlformats.org/drawingml/2006/main">
              <a:ext uri="{FF2B5EF4-FFF2-40B4-BE49-F238E27FC236}">
                <a16:creationId xmlns:a16="http://schemas.microsoft.com/office/drawing/2014/main" id="{3286E529-BE9A-4CE8-A3C1-2E554A31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10490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de-title-统一规则（完整）">
            <a:extLst xmlns:a="http://schemas.openxmlformats.org/drawingml/2006/main">
              <a:ext uri="{FF2B5EF4-FFF2-40B4-BE49-F238E27FC236}">
                <a16:creationId xmlns:a16="http://schemas.microsoft.com/office/drawing/2014/main" id="{11CCE64F-F57B-4F64-B449-7B7D5342C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统一规则（完整）</a:t>
            </a:r>
          </a:p>
        </p:txBody>
      </p:sp>
      <p:sp>
        <p:nvSpPr>
          <p:cNvPr id="7" name="code-body-统一规则（完整）">
            <a:extLst xmlns:a="http://schemas.openxmlformats.org/drawingml/2006/main">
              <a:ext uri="{FF2B5EF4-FFF2-40B4-BE49-F238E27FC236}">
                <a16:creationId xmlns:a16="http://schemas.microsoft.com/office/drawing/2014/main" id="{ACA972E3-BAA3-43F4-8B3B-15E64B9FC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Analyze every numbered fashion image using exactly the controlled codes below. Use visible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evidence and the supplied title/category only. Select UNKNOWN when a dimension is not observable,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and never combine UNKNOWN with another code. Do not infer ethnicity, health, attractiveness or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other sensitive traits. product_category must have exactly one value. Other dimensions may have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up to five values. Focus on the primary item sold; accessories belong in styling unless they are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primary product. Return every image once.</a:t>
            </a:r>
          </a:p>
        </p:txBody>
      </p:sp>
      <p:sp>
        <p:nvSpPr>
          <p:cNvPr id="8" name="code-受控标签字典 01–03 / 15">
            <a:extLst xmlns:a="http://schemas.openxmlformats.org/drawingml/2006/main">
              <a:ext uri="{FF2B5EF4-FFF2-40B4-BE49-F238E27FC236}">
                <a16:creationId xmlns:a16="http://schemas.microsoft.com/office/drawing/2014/main" id="{1D1BD35E-A24F-4EF2-ADC3-DEC98529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14800"/>
            <a:ext cx="110490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de-title-受控标签字典 01–03 / 15">
            <a:extLst xmlns:a="http://schemas.openxmlformats.org/drawingml/2006/main">
              <a:ext uri="{FF2B5EF4-FFF2-40B4-BE49-F238E27FC236}">
                <a16:creationId xmlns:a16="http://schemas.microsoft.com/office/drawing/2014/main" id="{71C35D2F-91C1-4402-A87C-8647DE3DF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受控标签字典 01–03 / 15</a:t>
            </a:r>
          </a:p>
        </p:txBody>
      </p:sp>
      <p:sp>
        <p:nvSpPr>
          <p:cNvPr id="10" name="code-body-受控标签字典 01–03 / 15">
            <a:extLst xmlns:a="http://schemas.openxmlformats.org/drawingml/2006/main">
              <a:ext uri="{FF2B5EF4-FFF2-40B4-BE49-F238E27FC236}">
                <a16:creationId xmlns:a16="http://schemas.microsoft.com/office/drawing/2014/main" id="{D34DA167-C5F0-49B7-A016-7A0903744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10668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product_category: DRESSES, TOPS, SKIRTS, TROUSERS, SHORTS, SWIMWEAR, OUTERWEAR, JEANS, JUMPSUITS, PLAYSUITS, SETS, LINGERIE, ACCESSORIES, SHOES, OTHER, UNKNOWN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silhouette_fit: BODYCON, FITTED, SLIM, REGULAR, RELAXED, OVERSIZED, A_LINE, STRAIGHT, FLARED, DRAPED, CORSETED, UNKNOWN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design_elements: BACKLESS, CUTOUT, HALTER, OFF_SHOULDER, STRAPLESS, SPAGHETTI_STRAP, LACE_UP, SLIT, RUFFLE, TIE_DETAIL, RUCHED, ASYMMETRIC, SHEER_PANEL, EMBELLISHED, PLEATED, UNKNOWN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D5355D2D-0B1B-4FC2-9242-1A15C2105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C69F9786-E0C6-494D-8895-1D086AD48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63295707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9BB041E3-78A9-4FFF-A454-B6BD7B96B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PROMPT APPENDIX · CODE VERBATIM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6B627A4-4924-4BC0-9DC5-F46960487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附录A2/9：Terra完整Prompt — 维度4–8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ACAB429-2BF9-4A4B-BB7D-5E6BE117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这些维度行紧接在统一规则后面；它们是允许返回的代码集合，不是五次独立请求。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92DE0A6-FEA7-4993-A87C-4A51DC707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sp>
        <p:nvSpPr>
          <p:cNvPr id="5" name="code-受控标签字典 04–08 / 15">
            <a:extLst xmlns:a="http://schemas.openxmlformats.org/drawingml/2006/main">
              <a:ext uri="{FF2B5EF4-FFF2-40B4-BE49-F238E27FC236}">
                <a16:creationId xmlns:a16="http://schemas.microsoft.com/office/drawing/2014/main" id="{A1B6D056-38DD-4FCA-867F-02657A993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1049000" cy="4629150"/>
          </a:xfrm>
          <a:prstGeom xmlns:a="http://schemas.openxmlformats.org/drawingml/2006/main" prst="roundRect">
            <a:avLst>
              <a:gd name="adj" fmla="val 1646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de-title-受控标签字典 04–08 / 15">
            <a:extLst xmlns:a="http://schemas.openxmlformats.org/drawingml/2006/main">
              <a:ext uri="{FF2B5EF4-FFF2-40B4-BE49-F238E27FC236}">
                <a16:creationId xmlns:a16="http://schemas.microsoft.com/office/drawing/2014/main" id="{D2526905-314E-48EC-8E75-B1D81A42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受控标签字典 04–08 / 15</a:t>
            </a:r>
          </a:p>
        </p:txBody>
      </p:sp>
      <p:sp>
        <p:nvSpPr>
          <p:cNvPr id="7" name="code-body-受控标签字典 04–08 / 15">
            <a:extLst xmlns:a="http://schemas.openxmlformats.org/drawingml/2006/main">
              <a:ext uri="{FF2B5EF4-FFF2-40B4-BE49-F238E27FC236}">
                <a16:creationId xmlns:a16="http://schemas.microsoft.com/office/drawing/2014/main" id="{13311472-EEC1-4A76-9D99-69E705A96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106680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occasion: CASUAL, GOING_OUT, PARTY, DATE_NIGHT, VACATION, BEACH, POOL, WEDDING_GUEST, FESTIVAL, COMMUTE, FORMAL, HOME, UNKNOWN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composition: FULL_BODY, THREE_QUARTER, HALF_BODY, CLOSE_UP, DETAIL, FLAT_LAY, PRODUCT_ONLY, UNKNOWN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view_action: FRONT_VIEW, SIDE_VIEW, BACK_VIEW, TURNING_BACK, WALKING, SITTING, STANDING, MIRROR_SELFIE, HAIR_MOVED, LOOKING_AWAY, INTERACTING_WITH_SCENE, UNKNOWN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selling_points: NECKLINE, SHOULDERS, BACK, WAIST, WAIST_HIP, LEGS, HEMLINE, SLEEVES, FABRIC_TEXTURE, DRAPE, PRINT, FULL_OUTFIT, UNKNOWN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scene: STUDIO_NEUTRAL, HOME, MIRROR, BEDROOM, GARDEN, STREET, BEACH, POOL, PARTY, NIGHT, ARCHITECTURE, NATURE, OTHER, UNKNOWN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E0D34943-AA8D-4B7C-A8B6-B1714121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D0B4D802-ADCD-4BAD-A159-21D929B5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6791612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223F5007-5691-4C3E-91D6-25204D8E1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PROMPT APPENDIX · CODE VERBATIM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1AB1BAF-AD84-40B5-AED0-8099B9E2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附录A3/9：Terra完整Prompt — 维度9–12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A5546B3-4848-467E-B8C9-D8D0DD070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长标签行按页面宽度自动换行；标签拼写与代码完全一致。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A12E88F-0AA8-489C-817A-A439C5C47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5" name="code-受控标签字典 09–12 / 15">
            <a:extLst xmlns:a="http://schemas.openxmlformats.org/drawingml/2006/main">
              <a:ext uri="{FF2B5EF4-FFF2-40B4-BE49-F238E27FC236}">
                <a16:creationId xmlns:a16="http://schemas.microsoft.com/office/drawing/2014/main" id="{A44556A7-1813-462B-9DD9-0C3AACB2D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1049000" cy="4629150"/>
          </a:xfrm>
          <a:prstGeom xmlns:a="http://schemas.openxmlformats.org/drawingml/2006/main" prst="roundRect">
            <a:avLst>
              <a:gd name="adj" fmla="val 1646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de-title-受控标签字典 09–12 / 15">
            <a:extLst xmlns:a="http://schemas.openxmlformats.org/drawingml/2006/main">
              <a:ext uri="{FF2B5EF4-FFF2-40B4-BE49-F238E27FC236}">
                <a16:creationId xmlns:a16="http://schemas.microsoft.com/office/drawing/2014/main" id="{96DFD294-2F05-45A6-A0C3-50BE55C02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受控标签字典 09–12 / 15</a:t>
            </a:r>
          </a:p>
        </p:txBody>
      </p:sp>
      <p:sp>
        <p:nvSpPr>
          <p:cNvPr id="7" name="code-body-受控标签字典 09–12 / 15">
            <a:extLst xmlns:a="http://schemas.openxmlformats.org/drawingml/2006/main">
              <a:ext uri="{FF2B5EF4-FFF2-40B4-BE49-F238E27FC236}">
                <a16:creationId xmlns:a16="http://schemas.microsoft.com/office/drawing/2014/main" id="{6EEE48BD-3EC0-442B-B42A-B891733AA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106680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material_texture: KNIT, LACE, SATIN_LIKE, SILK_LIKE, DENIM, COTTON_LIKE, CHIFFON, MESH, SEQUIN, LEATHER_LIKE, RIBBED, CROCHET, PLEATED, UNKNOWN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color_pattern: COLOR_BLACK, COLOR_WHITE, COLOR_GREY, COLOR_BEIGE, COLOR_BROWN, COLOR_RED, COLOR_PINK, COLOR_ORANGE, COLOR_YELLOW, COLOR_GREEN, COLOR_BLUE, COLOR_PURPLE, COLOR_METALLIC, COLOR_MULTI, PATTERN_SOLID, PATTERN_FLORAL, PATTERN_STRIPE, PATTERN_CHECK, PATTERN_ANIMAL, PATTERN_ABSTRACT, PATTERN_GRAPHIC, UNKNOWN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visual_language: ECOMMERCE_CLEAN, EDITORIAL, LIFESTYLE, SOCIAL_UGC, ROMANTIC, VINTAGE, Y2K, MINIMAL, GLAMOROUS, SOFT_LIGHT, NATURAL_LIGHT, DIRECT_FLASH, WARM_TONE, COOL_TONE, UNKNOWN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styling: SINGLE_ITEM, FULL_LOOK, LAYERED, ACCESSORIES_VISIBLE, HANDBAG, SHOES_VISIBLE, JEWELRY, MATCHING_SET, SWIM_COVERUP, UNKNOWN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64985B27-BB14-44D5-9681-AC8F2A1EC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714DF751-0019-4D09-990F-7C69819B0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89730780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E97446A1-89AA-4331-B78C-32B49467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PROMPT APPENDIX · COMPLETE REQUEST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192CED8-B290-468A-8B23-5844BD4F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附录A4/9：Terra完整Prompt — 维度13–15＋请求封装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B75EB5D-A9E9-4946-BF41-18C5977FD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至此通用规则与15个维度已完整列出；同一请求还会为每张图片追加上下文，并使用严格JSON Schema。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F8969BB-5A40-40B2-A024-263B3878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sp>
        <p:nvSpPr>
          <p:cNvPr id="5" name="code-受控标签字典 13–15 / 15">
            <a:extLst xmlns:a="http://schemas.openxmlformats.org/drawingml/2006/main">
              <a:ext uri="{FF2B5EF4-FFF2-40B4-BE49-F238E27FC236}">
                <a16:creationId xmlns:a16="http://schemas.microsoft.com/office/drawing/2014/main" id="{BE8828B8-1AA3-4A9D-8F7A-0D61FE09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10490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de-title-受控标签字典 13–15 / 15">
            <a:extLst xmlns:a="http://schemas.openxmlformats.org/drawingml/2006/main">
              <a:ext uri="{FF2B5EF4-FFF2-40B4-BE49-F238E27FC236}">
                <a16:creationId xmlns:a16="http://schemas.microsoft.com/office/drawing/2014/main" id="{94D9DADF-B361-403C-8507-825CD662E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受控标签字典 13–15 / 15</a:t>
            </a:r>
          </a:p>
        </p:txBody>
      </p:sp>
      <p:sp>
        <p:nvSpPr>
          <p:cNvPr id="7" name="code-body-受控标签字典 13–15 / 15">
            <a:extLst xmlns:a="http://schemas.openxmlformats.org/drawingml/2006/main">
              <a:ext uri="{FF2B5EF4-FFF2-40B4-BE49-F238E27FC236}">
                <a16:creationId xmlns:a16="http://schemas.microsoft.com/office/drawing/2014/main" id="{2B7322F2-3E5F-4800-AF2C-89ECC6E2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1066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lighting: SOFT_DIFFUSED, NATURAL_DAYLIGHT, HARD_DIRECT, DIRECT_FLASH, WARM_AMBIENT, COOL_AMBIENT, LOW_KEY, HIGH_KEY, MIXED_LIGHT, UNKNOWN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model_state: NO_MODEL, STANDING_POSE, WALKING_MOTION, SITTING_POSE, LOOKING_CAMERA, LOOKING_AWAY, FACE_CROPPED, MIRROR_SELFIE, INTERACTING, UNKNOWN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graphic_overlay: NONE, TEXT_OVERLAY, PRICE_PROMOTION, LOGO_WATERMARK, COLLAGE, FRAME_BORDER, STICKER_GRAPHIC, UI_SCREENSHOT, UNKNOWN</a:t>
            </a:r>
          </a:p>
        </p:txBody>
      </p:sp>
      <p:sp>
        <p:nvSpPr>
          <p:cNvPr id="8" name="code-每图追加的真实上下文格式">
            <a:extLst xmlns:a="http://schemas.openxmlformats.org/drawingml/2006/main">
              <a:ext uri="{FF2B5EF4-FFF2-40B4-BE49-F238E27FC236}">
                <a16:creationId xmlns:a16="http://schemas.microsoft.com/office/drawing/2014/main" id="{35188319-F853-45B0-8384-0A0DD3B25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05300"/>
            <a:ext cx="53721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de-title-每图追加的真实上下文格式">
            <a:extLst xmlns:a="http://schemas.openxmlformats.org/drawingml/2006/main">
              <a:ext uri="{FF2B5EF4-FFF2-40B4-BE49-F238E27FC236}">
                <a16:creationId xmlns:a16="http://schemas.microsoft.com/office/drawing/2014/main" id="{A0EC16C0-118E-4B5B-AF51-0CB6B86D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76750"/>
            <a:ext cx="499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每图追加的真实上下文格式</a:t>
            </a:r>
          </a:p>
        </p:txBody>
      </p:sp>
      <p:sp>
        <p:nvSpPr>
          <p:cNvPr id="10" name="code-body-每图追加的真实上下文格式">
            <a:extLst xmlns:a="http://schemas.openxmlformats.org/drawingml/2006/main">
              <a:ext uri="{FF2B5EF4-FFF2-40B4-BE49-F238E27FC236}">
                <a16:creationId xmlns:a16="http://schemas.microsoft.com/office/drawing/2014/main" id="{BA2C129D-91B6-41E0-9BD8-2C4E3ED05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57750"/>
            <a:ext cx="49911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IMAGE {index}; key={item.key}; title={title|unknown};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current_category={category|unknown}; position={position}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＋ input_image(detail=low)</a:t>
            </a:r>
          </a:p>
        </p:txBody>
      </p:sp>
      <p:sp>
        <p:nvSpPr>
          <p:cNvPr id="11" name="code-严格输出契约">
            <a:extLst xmlns:a="http://schemas.openxmlformats.org/drawingml/2006/main">
              <a:ext uri="{FF2B5EF4-FFF2-40B4-BE49-F238E27FC236}">
                <a16:creationId xmlns:a16="http://schemas.microsoft.com/office/drawing/2014/main" id="{E014C9A9-38DF-4D0D-B5A0-C195DD998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305300"/>
            <a:ext cx="54483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ode-title-严格输出契约">
            <a:extLst xmlns:a="http://schemas.openxmlformats.org/drawingml/2006/main">
              <a:ext uri="{FF2B5EF4-FFF2-40B4-BE49-F238E27FC236}">
                <a16:creationId xmlns:a16="http://schemas.microsoft.com/office/drawing/2014/main" id="{16A53A10-C1AE-4F21-BDC4-EB03CF89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476750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严格输出契约</a:t>
            </a:r>
          </a:p>
        </p:txBody>
      </p:sp>
      <p:sp>
        <p:nvSpPr>
          <p:cNvPr id="13" name="code-body-严格输出契约">
            <a:extLst xmlns:a="http://schemas.openxmlformats.org/drawingml/2006/main">
              <a:ext uri="{FF2B5EF4-FFF2-40B4-BE49-F238E27FC236}">
                <a16:creationId xmlns:a16="http://schemas.microsoft.com/office/drawing/2014/main" id="{2D14C462-4E42-467D-ACA0-B554C1F8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857750"/>
            <a:ext cx="50673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items[]: i + tags{15 dimensions} + confidence{15 dimensions}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product_category exactly 1; other dimensions 1–5 values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每张输入图必须恰好返回一次；漏图、重复图、漏维度均失败。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30954A99-C890-4E0F-AAB0-8663433C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D60BDEAC-9E44-40E4-8876-E4A41A5B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361463881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EC56A23C-EDB7-42FA-BC65-5104849DA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PROMPT APPENDIX · EXPERIENCE 1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11AB73B-2D91-42F9-B0DD-E474005DD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附录A5/9：体验1 Sol完整Prompt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1DAA649-2FC4-4AE4-9F91-836AAA890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代码原文来自detailed_visual_analysis.py；固定筛选条件在末尾以JSON拼接。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1A27F28-E59A-4C41-B810-1C13D6820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  <p:sp>
        <p:nvSpPr>
          <p:cNvPr id="5" name="code-_prompt(filters) 完整文本">
            <a:extLst xmlns:a="http://schemas.openxmlformats.org/drawingml/2006/main">
              <a:ext uri="{FF2B5EF4-FFF2-40B4-BE49-F238E27FC236}">
                <a16:creationId xmlns:a16="http://schemas.microsoft.com/office/drawing/2014/main" id="{322434BF-3327-418C-BBED-2B92EE649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1049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de-title-_prompt(filters) 完整文本">
            <a:extLst xmlns:a="http://schemas.openxmlformats.org/drawingml/2006/main">
              <a:ext uri="{FF2B5EF4-FFF2-40B4-BE49-F238E27FC236}">
                <a16:creationId xmlns:a16="http://schemas.microsoft.com/office/drawing/2014/main" id="{C843AF04-8301-4D71-9EC4-0DB208B58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_prompt(filters) 完整文本</a:t>
            </a:r>
          </a:p>
        </p:txBody>
      </p:sp>
      <p:sp>
        <p:nvSpPr>
          <p:cNvPr id="7" name="code-body-_prompt(filters) 完整文本">
            <a:extLst xmlns:a="http://schemas.openxmlformats.org/drawingml/2006/main">
              <a:ext uri="{FF2B5EF4-FFF2-40B4-BE49-F238E27FC236}">
                <a16:creationId xmlns:a16="http://schemas.microsoft.com/office/drawing/2014/main" id="{D9E3544F-EA79-4CFF-BCAC-F58B0B34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1066800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你是一名电商女装视觉策略负责人。请对同一固定维度组合下的多店铺高清商品图做精细视觉分析，输出中文。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先写肉眼可见事实，再写解释；每个判断都要给 visible_cue。不要推断种族、健康、吸引力等敏感属性。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不要把构图相关性写成 CTR/CVR 因果；经营影响只能写成待 A/B 验证的假设。重点比较：场景、景别、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模特动作、光线、色彩、搭配、服装结构呈现、视觉意图、店铺一致性，并沉淀可复用的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构图-动作-卖点-场景 规则。固定筛选条件：{filters JSON}</a:t>
            </a:r>
          </a:p>
        </p:txBody>
      </p:sp>
      <p:sp>
        <p:nvSpPr>
          <p:cNvPr id="8" name="code-每图追加上下文">
            <a:extLst xmlns:a="http://schemas.openxmlformats.org/drawingml/2006/main">
              <a:ext uri="{FF2B5EF4-FFF2-40B4-BE49-F238E27FC236}">
                <a16:creationId xmlns:a16="http://schemas.microsoft.com/office/drawing/2014/main" id="{12805D5F-17D2-43E0-A18F-5F7F0948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33950"/>
            <a:ext cx="110490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de-title-每图追加上下文">
            <a:extLst xmlns:a="http://schemas.openxmlformats.org/drawingml/2006/main">
              <a:ext uri="{FF2B5EF4-FFF2-40B4-BE49-F238E27FC236}">
                <a16:creationId xmlns:a16="http://schemas.microsoft.com/office/drawing/2014/main" id="{4DEA27EE-97FE-4751-A4E8-AA2E31E12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054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每图追加上下文</a:t>
            </a:r>
          </a:p>
        </p:txBody>
      </p:sp>
      <p:sp>
        <p:nvSpPr>
          <p:cNvPr id="10" name="code-body-每图追加上下文">
            <a:extLst xmlns:a="http://schemas.openxmlformats.org/drawingml/2006/main">
              <a:ext uri="{FF2B5EF4-FFF2-40B4-BE49-F238E27FC236}">
                <a16:creationId xmlns:a16="http://schemas.microsoft.com/office/drawing/2014/main" id="{D19676C6-DB73-4434-B86F-753B608B6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864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IMAGE {index}; store={store_id}; product={product_id}; title={title}; category={category}; pixels={width}x{height} ＋ input_image(detail=high)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38D6F3D0-614C-4D68-A632-74A8262A7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7886C932-978E-461B-A2D1-BC44C1812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320227687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16C8FC94-C2D5-4005-8D2D-0A99A4B8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PROMPT APPENDIX · EXPERIENCE 2 OBSERVATIONS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92C0233-656C-475F-98D3-348E548FB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附录A6/9：体验2逐图 Sol完整Prompt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34FB14A-2689-4781-B3A2-3021CCE10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该Prompt在每个8图批次重复使用；图片上下文保留角色、品牌和竞品证据入选原因。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0D6323C-49DA-437C-876E-72C514603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sp>
        <p:nvSpPr>
          <p:cNvPr id="5" name="code-_image_prompt() 完整文本">
            <a:extLst xmlns:a="http://schemas.openxmlformats.org/drawingml/2006/main">
              <a:ext uri="{FF2B5EF4-FFF2-40B4-BE49-F238E27FC236}">
                <a16:creationId xmlns:a16="http://schemas.microsoft.com/office/drawing/2014/main" id="{291A1C68-79AD-4138-92D1-BD50F54AB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10490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de-title-_image_prompt() 完整文本">
            <a:extLst xmlns:a="http://schemas.openxmlformats.org/drawingml/2006/main">
              <a:ext uri="{FF2B5EF4-FFF2-40B4-BE49-F238E27FC236}">
                <a16:creationId xmlns:a16="http://schemas.microsoft.com/office/drawing/2014/main" id="{12B553D7-C7A5-4888-931B-B169215FD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_image_prompt() 完整文本</a:t>
            </a:r>
          </a:p>
        </p:txBody>
      </p:sp>
      <p:sp>
        <p:nvSpPr>
          <p:cNvPr id="7" name="code-body-_image_prompt() 完整文本">
            <a:extLst xmlns:a="http://schemas.openxmlformats.org/drawingml/2006/main">
              <a:ext uri="{FF2B5EF4-FFF2-40B4-BE49-F238E27FC236}">
                <a16:creationId xmlns:a16="http://schemas.microsoft.com/office/drawing/2014/main" id="{2895F7D7-F5C0-40A7-A876-CCE9AD07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1066800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你是女装品牌视觉诊断分析师。逐张分析高清商品图，先记录肉眼可见事实，再写优缺点。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不得使用销量、曝光、点击、转化或ROI，不得推断敏感属性。旧分类标签仅是上下文，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不能替代本次观察。证据线索必须能在图片中复核。竞品图只用于对照，不代表目标店铺。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竞品图只从已完成12维标签覆盖的可比品类全量分布中分层选出；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未覆盖品类不得推断。selection_reasons说明其典型或边界证据角色。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模特相关字段只记录实际可见的在场人数、面部可见性、发型、妆容表现、表情和视线；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不可见时写不可观察。禁止推断年龄、种族、国籍、身高、体型尺寸、健康或吸引力。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产品字段要分别记录廓形、可见设计细节、可见材质纹理和商品展示完整度。</a:t>
            </a:r>
          </a:p>
        </p:txBody>
      </p:sp>
      <p:sp>
        <p:nvSpPr>
          <p:cNvPr id="8" name="code-每图追加上下文">
            <a:extLst xmlns:a="http://schemas.openxmlformats.org/drawingml/2006/main">
              <a:ext uri="{FF2B5EF4-FFF2-40B4-BE49-F238E27FC236}">
                <a16:creationId xmlns:a16="http://schemas.microsoft.com/office/drawing/2014/main" id="{35801B8C-4F94-4794-87BD-FDA1AFC1A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9650"/>
            <a:ext cx="11049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de-title-每图追加上下文">
            <a:extLst xmlns:a="http://schemas.openxmlformats.org/drawingml/2006/main">
              <a:ext uri="{FF2B5EF4-FFF2-40B4-BE49-F238E27FC236}">
                <a16:creationId xmlns:a16="http://schemas.microsoft.com/office/drawing/2014/main" id="{0F2C7878-2ABA-46ED-9D98-EA1F26B6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911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每图追加上下文</a:t>
            </a:r>
          </a:p>
        </p:txBody>
      </p:sp>
      <p:sp>
        <p:nvSpPr>
          <p:cNvPr id="10" name="code-body-每图追加上下文">
            <a:extLst xmlns:a="http://schemas.openxmlformats.org/drawingml/2006/main">
              <a:ext uri="{FF2B5EF4-FFF2-40B4-BE49-F238E27FC236}">
                <a16:creationId xmlns:a16="http://schemas.microsoft.com/office/drawing/2014/main" id="{C081B89E-B775-4F65-9C20-A1BDE287B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721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{image_id, store_id, product_id, category, role, selection_reasons}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＋ input_image(detail=high)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严格Schema要求每张图返回18项observable、visual_role、strengths、weaknesses、evidence_cues、confidence。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FCD355A9-00D9-435B-A2E7-07B391F98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DE2B73A4-35CE-4A14-94AB-C0EE65B5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187703424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DD6BE7E7-840E-4E48-922F-0F41C88A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PROMPT APPENDIX · ACTUAL SECTION SYNTHESIS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14D1E40-4273-42A5-B7F6-5AC5ECA3C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附录A7/9：体验2实际单章汇总Prompt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2CE3802-855A-4F1A-9284-BFA23487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生产任务不再发送6MB总包；五章分别调用同一个基础Prompt，并各自追加章节要求和裁剪后的证据。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B8824E9-B87D-4903-96AD-C9E4884F7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  <p:sp>
        <p:nvSpPr>
          <p:cNvPr id="5" name="code-_section_prompt(scope, section_id) 完整基础文本">
            <a:extLst xmlns:a="http://schemas.openxmlformats.org/drawingml/2006/main">
              <a:ext uri="{FF2B5EF4-FFF2-40B4-BE49-F238E27FC236}">
                <a16:creationId xmlns:a16="http://schemas.microsoft.com/office/drawing/2014/main" id="{5AB55745-EEC8-430B-AC45-364EE8062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1049000" cy="4591050"/>
          </a:xfrm>
          <a:prstGeom xmlns:a="http://schemas.openxmlformats.org/drawingml/2006/main" prst="roundRect">
            <a:avLst>
              <a:gd name="adj" fmla="val 1660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de-title-_section_prompt(scope, section_id) 完整基础文本">
            <a:extLst xmlns:a="http://schemas.openxmlformats.org/drawingml/2006/main">
              <a:ext uri="{FF2B5EF4-FFF2-40B4-BE49-F238E27FC236}">
                <a16:creationId xmlns:a16="http://schemas.microsoft.com/office/drawing/2014/main" id="{D80FECAC-54B0-430D-A397-4DC7B7AA8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_section_prompt(scope, section_id) 完整基础文本</a:t>
            </a:r>
          </a:p>
        </p:txBody>
      </p:sp>
      <p:sp>
        <p:nvSpPr>
          <p:cNvPr id="7" name="code-body-_section_prompt(scope, section_id) 完整基础文本">
            <a:extLst xmlns:a="http://schemas.openxmlformats.org/drawingml/2006/main">
              <a:ext uri="{FF2B5EF4-FFF2-40B4-BE49-F238E27FC236}">
                <a16:creationId xmlns:a16="http://schemas.microsoft.com/office/drawing/2014/main" id="{D006DE90-3ABB-4B64-B634-59CE1B85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10668000" cy="386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所有入选高清图已完成逐图观察。现在只生成一个视觉诊断章节，输出中文，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不得引用未提供的图片ID。每条结论必须说明推导方法，并列出支持图、反例图、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代表图、样本数、筛选条件和观察字段。不得写销量、曝光、点击、转化或ROI，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不得推断敏感属性、人群画像或代表红人。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章节={section_id}({SECTION_TITLES[section_id]})。要求：{requirements[section_id]}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范围：{scope JSON}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EVIDENCE:{按章节角色与字段裁剪后的 evidence JSON}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59251E00-B462-448B-A85B-37D05420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93880B71-58D1-45C5-A158-E6A11D81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75883864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AE0CE72D-D96A-4328-8D18-9335438E7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PROMPT APPENDIX · SECTION REQUIREMENTS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F02972C-9DE4-4025-9CB3-8B34EAB7F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附录A8/9：五章要求＋执行摘要Prompt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CFF436F-4723-403C-AAF1-81CA71B7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这五段requirements是真实发送内容；章节完成后再用一个独立Prompt压缩为2–4条执行摘要。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F442125-7BB4-4D35-97DB-F3DC761F6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5" name="code-requirements[section_id]（生产原文）">
            <a:extLst xmlns:a="http://schemas.openxmlformats.org/drawingml/2006/main">
              <a:ext uri="{FF2B5EF4-FFF2-40B4-BE49-F238E27FC236}">
                <a16:creationId xmlns:a16="http://schemas.microsoft.com/office/drawing/2014/main" id="{DC36E857-DD6D-4546-925A-051713738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1049000" cy="3067050"/>
          </a:xfrm>
          <a:prstGeom xmlns:a="http://schemas.openxmlformats.org/drawingml/2006/main" prst="roundRect">
            <a:avLst>
              <a:gd name="adj" fmla="val 2484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de-title-requirements[section_id]（生产原文）">
            <a:extLst xmlns:a="http://schemas.openxmlformats.org/drawingml/2006/main">
              <a:ext uri="{FF2B5EF4-FFF2-40B4-BE49-F238E27FC236}">
                <a16:creationId xmlns:a16="http://schemas.microsoft.com/office/drawing/2014/main" id="{441893F2-CDCA-4ECA-B2B5-989EF7A96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requirements[section_id]（生产原文）</a:t>
            </a:r>
          </a:p>
        </p:txBody>
      </p:sp>
      <p:sp>
        <p:nvSpPr>
          <p:cNvPr id="7" name="code-body-requirements[section_id]（生产原文）">
            <a:extLst xmlns:a="http://schemas.openxmlformats.org/drawingml/2006/main">
              <a:ext uri="{FF2B5EF4-FFF2-40B4-BE49-F238E27FC236}">
                <a16:creationId xmlns:a16="http://schemas.microsoft.com/office/drawing/2014/main" id="{2A241AB8-2CF2-493F-8EDC-CB8A7676E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1066800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brand_positioning：说明店铺基本信息、全量重点品类、视觉风格划分与品牌信号；商品数和品类占比可引用全量目录，视觉判断只能引用目标店逐图证据。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product_display：分别覆盖前三重点品类，并用补充品类交叉验证产品卖点、动作、常见搭配、廓形、设计细节、材质纹理和多视角展示。不得按position顺序猜正背面。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store_visual_audit：覆盖拍摄布景、拍摄风格、光线、构图、图文叠加和可见模特画像；模特只记录人数、面部可见性、发型、妆容、表情和视线。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competitive_gap：分别写Princess Polly、Motel Rocks、PrettyLittleThing，至少每家一条独立结论；支持图或代表图必须属于该品牌。全量标签分布是统计分母，高清图只复核典型与边界。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visual_upgrade：只根据前四章已验证结论提出升级方向，并复用其有效图片ID；每条建议要说明对应问题、证据和预期视觉改进，不得杜撰新观察。</a:t>
            </a:r>
          </a:p>
        </p:txBody>
      </p:sp>
      <p:sp>
        <p:nvSpPr>
          <p:cNvPr id="8" name="code-执行摘要Prompt（生产原文）">
            <a:extLst xmlns:a="http://schemas.openxmlformats.org/drawingml/2006/main">
              <a:ext uri="{FF2B5EF4-FFF2-40B4-BE49-F238E27FC236}">
                <a16:creationId xmlns:a16="http://schemas.microsoft.com/office/drawing/2014/main" id="{5F2D5DF0-4FAD-4D4C-B98A-D95EEFB58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9650"/>
            <a:ext cx="11049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de-title-执行摘要Prompt（生产原文）">
            <a:extLst xmlns:a="http://schemas.openxmlformats.org/drawingml/2006/main">
              <a:ext uri="{FF2B5EF4-FFF2-40B4-BE49-F238E27FC236}">
                <a16:creationId xmlns:a16="http://schemas.microsoft.com/office/drawing/2014/main" id="{55F1E4A6-8647-4E92-9B98-66D571CF8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911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执行摘要Prompt（生产原文）</a:t>
            </a:r>
          </a:p>
        </p:txBody>
      </p:sp>
      <p:sp>
        <p:nvSpPr>
          <p:cNvPr id="10" name="code-body-执行摘要Prompt（生产原文）">
            <a:extLst xmlns:a="http://schemas.openxmlformats.org/drawingml/2006/main">
              <a:ext uri="{FF2B5EF4-FFF2-40B4-BE49-F238E27FC236}">
                <a16:creationId xmlns:a16="http://schemas.microsoft.com/office/drawing/2014/main" id="{9CBEBADB-BFFD-4429-9C4D-D034BE6D8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721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根据五个已验证章节写2至4条中文执行摘要。不得增加新事实或图片ID。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SECTIONS={五个已完成section JSON}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8307775E-C5C0-4EC3-B7CB-76AC60644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EC3B74BE-2DA5-4175-A572-5C7267064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37541708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A8881F22-A47F-40D6-AB5D-992117AB9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PROMPT APPENDIX · SECTION REVISION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416CDEE-C867-490E-A03A-33A363A6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附录A9/9：单章修订 Sol完整Prompt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2F905D4-7A98-444C-A65A-DAF3E9D7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用户判定某章不满意时，只重跑该section；其他四章不重新分析，已完成逐图观察也不重做。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BDC6E41-4E98-4AE1-9BB7-2623FE05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41</a:t>
            </a:r>
          </a:p>
        </p:txBody>
      </p:sp>
      <p:sp>
        <p:nvSpPr>
          <p:cNvPr id="5" name="code-revise(section, suggestion, evidence, scope) 完整文本">
            <a:extLst xmlns:a="http://schemas.openxmlformats.org/drawingml/2006/main">
              <a:ext uri="{FF2B5EF4-FFF2-40B4-BE49-F238E27FC236}">
                <a16:creationId xmlns:a16="http://schemas.microsoft.com/office/drawing/2014/main" id="{37C6F0F7-2D28-42E1-9EBB-DAB82BB2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1049000" cy="358140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de-title-revise(section, suggestion, evidence, scope) 完整文本">
            <a:extLst xmlns:a="http://schemas.openxmlformats.org/drawingml/2006/main">
              <a:ext uri="{FF2B5EF4-FFF2-40B4-BE49-F238E27FC236}">
                <a16:creationId xmlns:a16="http://schemas.microsoft.com/office/drawing/2014/main" id="{50FF08B6-DFCD-4FB7-8516-5D86FE9B4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revise(section, suggestion, evidence, scope) 完整文本</a:t>
            </a:r>
          </a:p>
        </p:txBody>
      </p:sp>
      <p:sp>
        <p:nvSpPr>
          <p:cNvPr id="7" name="code-body-revise(section, suggestion, evidence, scope) 完整文本">
            <a:extLst xmlns:a="http://schemas.openxmlformats.org/drawingml/2006/main">
              <a:ext uri="{FF2B5EF4-FFF2-40B4-BE49-F238E27FC236}">
                <a16:creationId xmlns:a16="http://schemas.microsoft.com/office/drawing/2014/main" id="{CA00578D-22F7-4EEE-AE2F-825213E87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10668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根据审核意见重新分析一个视觉诊断章节。只能使用给定证据，不得编造图片ID。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保留可支持的结论，修改证据不足或表达不清的部分。输出中文。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SECTION={current section JSON}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REVIEW={user suggestion}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SCOPE={scope JSON}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EVIDENCE={complete evidence JSON}</a:t>
            </a:r>
          </a:p>
        </p:txBody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481B3D21-3644-4238-9CFC-1D451285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91150"/>
            <a:ext cx="1104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06C0D44-BA2D-41C6-91F8-CA8012D5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59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修订仍使用单章严格Schema，并再次检查图片ID；若修订competitive_gap，还会再次执行三品牌点名与品牌证据归属校验。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8CBF215B-FB7A-49ED-A4A5-A715E56E5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A5F03702-4239-47CB-869B-7D6524EB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558560119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14CAC2B7-B6AB-4D7A-ACCA-9961DBEF5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DISCUSSION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E9FE2048-B2C6-4B40-97A0-E5A3CB86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下一步，哪些投入值得做？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BD6FABD4-7510-47BE-93F5-DDB03A8D7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0F45803-97DC-409B-B789-A71190E0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9240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竞品覆盖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A50C5EF-D0CD-4256-B978-3C6416AC8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05000"/>
            <a:ext cx="752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0D0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0D0D0"/>
                </a:solidFill>
                <a:latin typeface="Microsoft YaHei"/>
                <a:ea typeface="Microsoft YaHei"/>
                <a:cs typeface="Microsoft YaHei"/>
              </a:rPr>
              <a:t>是否补齐三家竞品DRESSES、BLOUSES等品类的12维标签，再扩展同品类比较？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7D9450A0-8613-4820-9194-345AC3DAA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098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A54F355-3179-4550-9277-DB79412B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1BB4547-9879-4388-90C4-BCABE0342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337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样本规模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FED9336-CCDD-4AF5-9006-F3ABFDEE4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14650"/>
            <a:ext cx="752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0D0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0D0D0"/>
                </a:solidFill>
                <a:latin typeface="Microsoft YaHei"/>
                <a:ea typeface="Microsoft YaHei"/>
                <a:cs typeface="Microsoft YaHei"/>
              </a:rPr>
              <a:t>前三品类20个、补充品类5个商品是否足够，还是应按品类风险动态扩样？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293412AE-C364-4865-8585-808ECB77C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195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DB22853-0607-4EBB-AE4D-4BF080EF9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624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028A39A-8094-49B8-8D95-88A5EEAB0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433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交付闭环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DEF65C3-91D5-479D-A980-4F91E8E47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24300"/>
            <a:ext cx="752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0D0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0D0D0"/>
                </a:solidFill>
                <a:latin typeface="Microsoft YaHei"/>
                <a:ea typeface="Microsoft YaHei"/>
                <a:cs typeface="Microsoft YaHei"/>
              </a:rPr>
              <a:t>PDF止于结论，还是继续连接拍摄brief、图序规范与选图验收？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B51F67A5-E2A3-4B4B-9B9E-7C8133652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291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5920913-5EA5-47EF-BBDC-74D68E221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720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4545EF1-14C5-4441-BBB7-52A81A0F0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530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效果验证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C48B2456-073B-4080-AA49-8C8FB5EFD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933950"/>
            <a:ext cx="752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0D0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0D0D0"/>
                </a:solidFill>
                <a:latin typeface="Microsoft YaHei"/>
                <a:ea typeface="Microsoft YaHei"/>
                <a:cs typeface="Microsoft YaHei"/>
              </a:rPr>
              <a:t>如何把视觉规范版本与后续点击、转化或退货指标连接，形成可回看实验？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B83D384B-4081-4509-B013-699102B8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67A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67A82"/>
                </a:solidFill>
                <a:latin typeface="Arial"/>
                <a:ea typeface="Arial"/>
                <a:cs typeface="Arial"/>
              </a:rPr>
              <a:t>Fashion Scope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686B6E6-FAC7-4265-8538-09CAB25A3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055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67A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67A82"/>
                </a:solidFill>
                <a:latin typeface="Arial"/>
                <a:ea typeface="Arial"/>
                <a:cs typeface="Arial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20047529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2026-08-27T12:24:25.0250000Z</dcterms:created>
  <dcterms:modified xsi:type="dcterms:W3CDTF">2026-08-27T12:24:25.0250000Z</dcterms:modified>
</coreProperties>
</file>