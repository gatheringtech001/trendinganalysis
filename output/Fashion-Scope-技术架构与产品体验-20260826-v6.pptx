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8813d06dab4b65" /><Relationship Type="http://schemas.openxmlformats.org/officeDocument/2006/relationships/extended-properties" Target="/docProps/app.xml" Id="R3004fd7d7d314c75" /><Relationship Type="http://schemas.openxmlformats.org/officeDocument/2006/relationships/officeDocument" Target="/ppt/presentation.xml" Id="R5a5eb50992a6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7b11291c64a69"/>
  </p:sldMasterIdLst>
  <p:notesMasterIdLst>
    <p:notesMasterId xmlns:r="http://schemas.openxmlformats.org/officeDocument/2006/relationships" r:id="Ra6dead00f1884e25"/>
  </p:notesMasterIdLst>
  <p:sldIdLst>
    <p:sldId xmlns:r="http://schemas.openxmlformats.org/officeDocument/2006/relationships" id="256" r:id="R5e1f3b0c06c045b1"/>
    <p:sldId xmlns:r="http://schemas.openxmlformats.org/officeDocument/2006/relationships" id="257" r:id="R45f246fb57ce4e5f"/>
    <p:sldId xmlns:r="http://schemas.openxmlformats.org/officeDocument/2006/relationships" id="258" r:id="Rcc8a4f503d0b4857"/>
    <p:sldId xmlns:r="http://schemas.openxmlformats.org/officeDocument/2006/relationships" id="259" r:id="Rae2a5e36c2f74ec2"/>
    <p:sldId xmlns:r="http://schemas.openxmlformats.org/officeDocument/2006/relationships" id="260" r:id="R49c03a536ce74aca"/>
    <p:sldId xmlns:r="http://schemas.openxmlformats.org/officeDocument/2006/relationships" id="261" r:id="R7e680ee1b9f24700"/>
    <p:sldId xmlns:r="http://schemas.openxmlformats.org/officeDocument/2006/relationships" id="262" r:id="R27279b56d05f444a"/>
    <p:sldId xmlns:r="http://schemas.openxmlformats.org/officeDocument/2006/relationships" id="263" r:id="R12dd0431726148a0"/>
    <p:sldId xmlns:r="http://schemas.openxmlformats.org/officeDocument/2006/relationships" id="264" r:id="Rd3616977d17d40df"/>
    <p:sldId xmlns:r="http://schemas.openxmlformats.org/officeDocument/2006/relationships" id="265" r:id="R5c9962a6d92f4b9b"/>
    <p:sldId xmlns:r="http://schemas.openxmlformats.org/officeDocument/2006/relationships" id="266" r:id="R4288ae7505b84e74"/>
    <p:sldId xmlns:r="http://schemas.openxmlformats.org/officeDocument/2006/relationships" id="267" r:id="Refa15a3b3ce14864"/>
    <p:sldId xmlns:r="http://schemas.openxmlformats.org/officeDocument/2006/relationships" id="268" r:id="Rb75fdc1bdb2d4fc8"/>
    <p:sldId xmlns:r="http://schemas.openxmlformats.org/officeDocument/2006/relationships" id="269" r:id="R7b879f99280d4131"/>
    <p:sldId xmlns:r="http://schemas.openxmlformats.org/officeDocument/2006/relationships" id="270" r:id="Rc38e7f29262b4a8f"/>
    <p:sldId xmlns:r="http://schemas.openxmlformats.org/officeDocument/2006/relationships" id="271" r:id="Rd13caf0ff9b34e09"/>
    <p:sldId xmlns:r="http://schemas.openxmlformats.org/officeDocument/2006/relationships" id="272" r:id="R9ed42029c66246ff"/>
    <p:sldId xmlns:r="http://schemas.openxmlformats.org/officeDocument/2006/relationships" id="273" r:id="Ra327a209bbe543de"/>
    <p:sldId xmlns:r="http://schemas.openxmlformats.org/officeDocument/2006/relationships" id="274" r:id="R9e7efe27eccd44ec"/>
    <p:sldId xmlns:r="http://schemas.openxmlformats.org/officeDocument/2006/relationships" id="275" r:id="Rb2e9685a85314d59"/>
    <p:sldId xmlns:r="http://schemas.openxmlformats.org/officeDocument/2006/relationships" id="276" r:id="R90c7ec4734bb4a9d"/>
    <p:sldId xmlns:r="http://schemas.openxmlformats.org/officeDocument/2006/relationships" id="277" r:id="Rfd5ed727b0c24e83"/>
    <p:sldId xmlns:r="http://schemas.openxmlformats.org/officeDocument/2006/relationships" id="278" r:id="R3b69b131c164408d"/>
    <p:sldId xmlns:r="http://schemas.openxmlformats.org/officeDocument/2006/relationships" id="279" r:id="R7c3deb28b3434ebb"/>
    <p:sldId xmlns:r="http://schemas.openxmlformats.org/officeDocument/2006/relationships" id="280" r:id="R8102e893a74543bf"/>
    <p:sldId xmlns:r="http://schemas.openxmlformats.org/officeDocument/2006/relationships" id="281" r:id="R43be4a72c04b4af0"/>
    <p:sldId xmlns:r="http://schemas.openxmlformats.org/officeDocument/2006/relationships" id="282" r:id="Rc465f2af5b6044da"/>
    <p:sldId xmlns:r="http://schemas.openxmlformats.org/officeDocument/2006/relationships" id="283" r:id="Re3baf17cd9d441e8"/>
    <p:sldId xmlns:r="http://schemas.openxmlformats.org/officeDocument/2006/relationships" id="284" r:id="Rfb507ae9e20845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1eb4cd9da4828" /><Relationship Type="http://schemas.openxmlformats.org/officeDocument/2006/relationships/slideMaster" Target="/ppt/slideMasters/slideMaster1.xml" Id="R6cf7b11291c64a69" /><Relationship Type="http://schemas.openxmlformats.org/officeDocument/2006/relationships/notesMaster" Target="/ppt/notesMasters/notesMaster1.xml" Id="Ra6dead00f1884e25" /><Relationship Type="http://schemas.openxmlformats.org/officeDocument/2006/relationships/presProps" Target="/ppt/presProps.xml" Id="R7e196d7565da4fd5" /><Relationship Type="http://schemas.openxmlformats.org/officeDocument/2006/relationships/tableStyles" Target="/ppt/tableStyles.xml" Id="R631c1bf001fb4f83" /><Relationship Type="http://schemas.openxmlformats.org/officeDocument/2006/relationships/slide" Target="/ppt/slides/slide1.xml" Id="R5e1f3b0c06c045b1" /><Relationship Type="http://schemas.openxmlformats.org/officeDocument/2006/relationships/slide" Target="/ppt/slides/slide2.xml" Id="R45f246fb57ce4e5f" /><Relationship Type="http://schemas.openxmlformats.org/officeDocument/2006/relationships/slide" Target="/ppt/slides/slide3.xml" Id="Rcc8a4f503d0b4857" /><Relationship Type="http://schemas.openxmlformats.org/officeDocument/2006/relationships/slide" Target="/ppt/slides/slide4.xml" Id="Rae2a5e36c2f74ec2" /><Relationship Type="http://schemas.openxmlformats.org/officeDocument/2006/relationships/slide" Target="/ppt/slides/slide5.xml" Id="R49c03a536ce74aca" /><Relationship Type="http://schemas.openxmlformats.org/officeDocument/2006/relationships/slide" Target="/ppt/slides/slide6.xml" Id="R7e680ee1b9f24700" /><Relationship Type="http://schemas.openxmlformats.org/officeDocument/2006/relationships/slide" Target="/ppt/slides/slide7.xml" Id="R27279b56d05f444a" /><Relationship Type="http://schemas.openxmlformats.org/officeDocument/2006/relationships/slide" Target="/ppt/slides/slide8.xml" Id="R12dd0431726148a0" /><Relationship Type="http://schemas.openxmlformats.org/officeDocument/2006/relationships/slide" Target="/ppt/slides/slide9.xml" Id="Rd3616977d17d40df" /><Relationship Type="http://schemas.openxmlformats.org/officeDocument/2006/relationships/slide" Target="/ppt/slides/slide10.xml" Id="R5c9962a6d92f4b9b" /><Relationship Type="http://schemas.openxmlformats.org/officeDocument/2006/relationships/slide" Target="/ppt/slides/slide11.xml" Id="R4288ae7505b84e74" /><Relationship Type="http://schemas.openxmlformats.org/officeDocument/2006/relationships/slide" Target="/ppt/slides/slide12.xml" Id="Refa15a3b3ce14864" /><Relationship Type="http://schemas.openxmlformats.org/officeDocument/2006/relationships/slide" Target="/ppt/slides/slide13.xml" Id="Rb75fdc1bdb2d4fc8" /><Relationship Type="http://schemas.openxmlformats.org/officeDocument/2006/relationships/slide" Target="/ppt/slides/slide14.xml" Id="R7b879f99280d4131" /><Relationship Type="http://schemas.openxmlformats.org/officeDocument/2006/relationships/slide" Target="/ppt/slides/slide15.xml" Id="Rc38e7f29262b4a8f" /><Relationship Type="http://schemas.openxmlformats.org/officeDocument/2006/relationships/slide" Target="/ppt/slides/slide16.xml" Id="Rd13caf0ff9b34e09" /><Relationship Type="http://schemas.openxmlformats.org/officeDocument/2006/relationships/slide" Target="/ppt/slides/slide17.xml" Id="R9ed42029c66246ff" /><Relationship Type="http://schemas.openxmlformats.org/officeDocument/2006/relationships/slide" Target="/ppt/slides/slide18.xml" Id="Ra327a209bbe543de" /><Relationship Type="http://schemas.openxmlformats.org/officeDocument/2006/relationships/slide" Target="/ppt/slides/slide19.xml" Id="R9e7efe27eccd44ec" /><Relationship Type="http://schemas.openxmlformats.org/officeDocument/2006/relationships/slide" Target="/ppt/slides/slide20.xml" Id="Rb2e9685a85314d59" /><Relationship Type="http://schemas.openxmlformats.org/officeDocument/2006/relationships/slide" Target="/ppt/slides/slide21.xml" Id="R90c7ec4734bb4a9d" /><Relationship Type="http://schemas.openxmlformats.org/officeDocument/2006/relationships/slide" Target="/ppt/slides/slide22.xml" Id="Rfd5ed727b0c24e83" /><Relationship Type="http://schemas.openxmlformats.org/officeDocument/2006/relationships/slide" Target="/ppt/slides/slide23.xml" Id="R3b69b131c164408d" /><Relationship Type="http://schemas.openxmlformats.org/officeDocument/2006/relationships/slide" Target="/ppt/slides/slide24.xml" Id="R7c3deb28b3434ebb" /><Relationship Type="http://schemas.openxmlformats.org/officeDocument/2006/relationships/slide" Target="/ppt/slides/slide25.xml" Id="R8102e893a74543bf" /><Relationship Type="http://schemas.openxmlformats.org/officeDocument/2006/relationships/slide" Target="/ppt/slides/slide26.xml" Id="R43be4a72c04b4af0" /><Relationship Type="http://schemas.openxmlformats.org/officeDocument/2006/relationships/slide" Target="/ppt/slides/slide27.xml" Id="Rc465f2af5b6044da" /><Relationship Type="http://schemas.openxmlformats.org/officeDocument/2006/relationships/slide" Target="/ppt/slides/slide28.xml" Id="Re3baf17cd9d441e8" /><Relationship Type="http://schemas.openxmlformats.org/officeDocument/2006/relationships/slide" Target="/ppt/slides/slide29.xml" Id="Rfb507ae9e20845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6371f2c5b8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246a30f7e4a8a" /><Relationship Type="http://schemas.openxmlformats.org/officeDocument/2006/relationships/notesMaster" Target="/ppt/notesMasters/notesMaster1.xml" Id="Rddd5b020f0994e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48ae701a74c76" /><Relationship Type="http://schemas.openxmlformats.org/officeDocument/2006/relationships/notesMaster" Target="/ppt/notesMasters/notesMaster1.xml" Id="R973c9b306e8146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7ba720fa624ef7" /><Relationship Type="http://schemas.openxmlformats.org/officeDocument/2006/relationships/notesMaster" Target="/ppt/notesMasters/notesMaster1.xml" Id="Rbc03c3a4338446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99629150314a3c" /><Relationship Type="http://schemas.openxmlformats.org/officeDocument/2006/relationships/notesMaster" Target="/ppt/notesMasters/notesMaster1.xml" Id="Rb8533da0c19c41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bc720ba1194124" /><Relationship Type="http://schemas.openxmlformats.org/officeDocument/2006/relationships/notesMaster" Target="/ppt/notesMasters/notesMaster1.xml" Id="Rc0b6efabadbd47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6c45623052462d" /><Relationship Type="http://schemas.openxmlformats.org/officeDocument/2006/relationships/notesMaster" Target="/ppt/notesMasters/notesMaster1.xml" Id="Rd02b676508ef42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4c6337b6574ffb" /><Relationship Type="http://schemas.openxmlformats.org/officeDocument/2006/relationships/notesMaster" Target="/ppt/notesMasters/notesMaster1.xml" Id="R26a70783bd7c4a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b03db4ea714627" /><Relationship Type="http://schemas.openxmlformats.org/officeDocument/2006/relationships/notesMaster" Target="/ppt/notesMasters/notesMaster1.xml" Id="R9d17eaea65d84d5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7c5426da154489" /><Relationship Type="http://schemas.openxmlformats.org/officeDocument/2006/relationships/notesMaster" Target="/ppt/notesMasters/notesMaster1.xml" Id="Rba77990e202042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71526d724a4e93" /><Relationship Type="http://schemas.openxmlformats.org/officeDocument/2006/relationships/notesMaster" Target="/ppt/notesMasters/notesMaster1.xml" Id="Re2be40a7f8554e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e94b689af645dc" /><Relationship Type="http://schemas.openxmlformats.org/officeDocument/2006/relationships/notesMaster" Target="/ppt/notesMasters/notesMaster1.xml" Id="Re48c64a306e54f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94bcaee33a46a3" /><Relationship Type="http://schemas.openxmlformats.org/officeDocument/2006/relationships/notesMaster" Target="/ppt/notesMasters/notesMaster1.xml" Id="R97c1cc7a0a8447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28b4e7af76446a8" /><Relationship Type="http://schemas.openxmlformats.org/officeDocument/2006/relationships/notesMaster" Target="/ppt/notesMasters/notesMaster1.xml" Id="R161caa296b4440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71b010e3aa47dc" /><Relationship Type="http://schemas.openxmlformats.org/officeDocument/2006/relationships/notesMaster" Target="/ppt/notesMasters/notesMaster1.xml" Id="Rc622be8223ad47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f7d125fa1d40e3" /><Relationship Type="http://schemas.openxmlformats.org/officeDocument/2006/relationships/notesMaster" Target="/ppt/notesMasters/notesMaster1.xml" Id="Rafc2ea16c98f4e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d56a57585e4e09" /><Relationship Type="http://schemas.openxmlformats.org/officeDocument/2006/relationships/notesMaster" Target="/ppt/notesMasters/notesMaster1.xml" Id="R84f345acaf324d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51e0a62e134771" /><Relationship Type="http://schemas.openxmlformats.org/officeDocument/2006/relationships/notesMaster" Target="/ppt/notesMasters/notesMaster1.xml" Id="Rc15e1437a5ec4e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98efb906e54f2e" /><Relationship Type="http://schemas.openxmlformats.org/officeDocument/2006/relationships/notesMaster" Target="/ppt/notesMasters/notesMaster1.xml" Id="R934d06a51b604c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83268228a04fa6" /><Relationship Type="http://schemas.openxmlformats.org/officeDocument/2006/relationships/notesMaster" Target="/ppt/notesMasters/notesMaster1.xml" Id="R9297a0813ba446d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b88c2d682494a67" /><Relationship Type="http://schemas.openxmlformats.org/officeDocument/2006/relationships/notesMaster" Target="/ppt/notesMasters/notesMaster1.xml" Id="R337529a7411d4e6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8c0e5e9b684483" /><Relationship Type="http://schemas.openxmlformats.org/officeDocument/2006/relationships/notesMaster" Target="/ppt/notesMasters/notesMaster1.xml" Id="R583dbf378f6443e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e636195b174588" /><Relationship Type="http://schemas.openxmlformats.org/officeDocument/2006/relationships/notesMaster" Target="/ppt/notesMasters/notesMaster1.xml" Id="Rd9c1aab437e0406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0c77b4031ce4dbc" /><Relationship Type="http://schemas.openxmlformats.org/officeDocument/2006/relationships/notesMaster" Target="/ppt/notesMasters/notesMaster1.xml" Id="Rfc8fed9442ed436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2940752fb6473d" /><Relationship Type="http://schemas.openxmlformats.org/officeDocument/2006/relationships/notesMaster" Target="/ppt/notesMasters/notesMaster1.xml" Id="R1aa0039ce9d847c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b02b7ec40f64c52" /><Relationship Type="http://schemas.openxmlformats.org/officeDocument/2006/relationships/notesMaster" Target="/ppt/notesMasters/notesMaster1.xml" Id="Rc90559bd42134e6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927f4fdfc8430b" /><Relationship Type="http://schemas.openxmlformats.org/officeDocument/2006/relationships/notesMaster" Target="/ppt/notesMasters/notesMaster1.xml" Id="R5e8b7b78099149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4727f8b0e1a4f93" /><Relationship Type="http://schemas.openxmlformats.org/officeDocument/2006/relationships/notesMaster" Target="/ppt/notesMasters/notesMaster1.xml" Id="R8976f09042a64b4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b71f8a871a4a3e" /><Relationship Type="http://schemas.openxmlformats.org/officeDocument/2006/relationships/notesMaster" Target="/ppt/notesMasters/notesMaster1.xml" Id="R6c41c2f108ec40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d5b116fa3434e3e" /><Relationship Type="http://schemas.openxmlformats.org/officeDocument/2006/relationships/notesMaster" Target="/ppt/notesMasters/notesMaster1.xml" Id="Ra9800e1b2a194f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./tmp/pdfs/semantic-pages-22a1362/page-53.jpg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./research/2026-08-14/explorer/server.py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./research/2026-08-14/explorer/deploy_kevindigital.sh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./research/2026-08-14/explorer/explorer.db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Live SQLite aggregate query executed 2026-08-26: products, per-store distinct source_url, analyzed images, and analysis tags.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./research/2026-08-18/data/aloruh_shein_browser_export.json</a:t>
            </a:r>
          </a:p>
          <a:p xmlns:a="http://schemas.openxmlformats.org/drawingml/2006/main">
            <a:r>
              <a:t>- ./research/2026-08-18/data/aloruh_shein_browser_export.recollect.partial.json</a:t>
            </a:r>
          </a:p>
          <a:p xmlns:a="http://schemas.openxmlformats.org/drawingml/2006/main">
            <a:r>
              <a:t>- ./research/2026-08-18/scripts/prepare_aloruh_shein_for_explorer.py</a:t>
            </a:r>
          </a:p>
          <a:p xmlns:a="http://schemas.openxmlformats.org/drawingml/2006/main">
            <a:r>
              <a:t>- User-confirmed Browser Use login and captcha workflow in current conversation, 2026-08-26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./research/2026-08-14/scripts/collect_catalogs.py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- ./research/2026-08-18/scripts/high_resolution_images.py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./research/2026-08-14/explorer/src/imageAnalysis.js</a:t>
            </a:r>
          </a:p>
          <a:p xmlns:a="http://schemas.openxmlformats.org/drawingml/2006/main">
            <a:r>
              <a:t>- ./research/2026-08-14/explorer/database_builder.py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./research/2026-08-18/scripts/fashion_image_analysis.py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./research/2026-08-18/scripts/analyze_explorer_images.py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./research/2026-08-18/scripts/azure_openai_fashion_analyzer.py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./research/2026-08-18/scripts/detailed_visual_analysis.py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./research/2026-08-14/explorer/src/ImageDimensions.jsx</a:t>
            </a:r>
          </a:p>
          <a:p xmlns:a="http://schemas.openxmlformats.org/drawingml/2006/main">
            <a:r>
              <a:t>- ./research/2026-08-18/scripts/analyze_dimension_selection.py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tmp/slides-fashion-scope-20260825/assets/experience1-step1-enter-dimensions.png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tmp/slides-fashion-scope-20260825/assets/experience1-step2-select-dimensions.png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tmp/slides-fashion-scope-20260825/assets/experience1-step3-and-filter.png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tmp/slides-fashion-scope-20260825/assets/experience1-step4-matched-results.png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tmp/slides-fashion-scope-20260825/assets/experience1-step5-select-for-analysis.png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tmp/slides-fashion-scope-20260825/assets/experience1-step6-analysis-running.png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tmp/slides-fashion-scope-20260825/assets/experience1-step7-analysis-result.png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./research/2026-08-18/scripts/report_analysis_runner.py</a:t>
            </a:r>
          </a:p>
          <a:p xmlns:a="http://schemas.openxmlformats.org/drawingml/2006/main">
            <a:r>
              <a:t>- ./research/2026-08-18/scripts/report_analysis_model.py</a:t>
            </a:r>
          </a:p>
          <a:p xmlns:a="http://schemas.openxmlformats.org/drawingml/2006/main">
            <a:r>
              <a:t>- ./research/2026-08-14/explorer/report_pdf.py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tmp/slides-fashion-scope-20260825/assets/experience2-step1-start-report.png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tmp/slides-fashion-scope-20260825/assets/experience2-step2-completed-analysis.png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tmp/slides-fashion-scope-20260825/assets/experience2-step3-review-section.png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tmp/slides-fashion-scope-20260825/assets/experience2-step4-approve-section.png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https://regardsjob.eastasia.cloudapp.azure.com/fashion-scope/</a:t>
            </a:r>
          </a:p>
          <a:p xmlns:a="http://schemas.openxmlformats.org/drawingml/2006/main">
            <a:r>
              <a:t>- tmp/slides-fashion-scope-20260825/assets/experience2-step5-final-pdf.png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./research/2026-08-14/explorer/report_pdf_pages.py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./tmp/pdfs/production-semantic-22a1362.pdf</a:t>
            </a:r>
          </a:p>
          <a:p xmlns:a="http://schemas.openxmlformats.org/drawingml/2006/main">
            <a:r>
              <a:t>- ./tmp/pdfs/semantic-pages-22a1362/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synthesis based on the verified Fashion Scope product and report workflow.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d0877763c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3aa35d7f04cf9" /><Relationship Type="http://schemas.openxmlformats.org/officeDocument/2006/relationships/slideLayout" Target="/ppt/slideLayouts/slideLayout1.xml" Id="Rb42c2630533a4f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2c2630533a4f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f23a165634772" /><Relationship Type="http://schemas.openxmlformats.org/officeDocument/2006/relationships/image" Target="/ppt/media/image.jpeg" Id="R3af7ed95f3094a3e" /><Relationship Type="http://schemas.openxmlformats.org/officeDocument/2006/relationships/notesSlide" Target="/ppt/notesSlides/notesSlide1.xml" Id="R0cdd78035eaf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e20b0dd3945e6" /><Relationship Type="http://schemas.openxmlformats.org/officeDocument/2006/relationships/notesSlide" Target="/ppt/notesSlides/notesSlide2.xml" Id="R288be46723c348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3b1080cb24e0b" /><Relationship Type="http://schemas.openxmlformats.org/officeDocument/2006/relationships/notesSlide" Target="/ppt/notesSlides/notesSlide3.xml" Id="Rdd5af5bb741748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ac1b54e1d44b0" /><Relationship Type="http://schemas.openxmlformats.org/officeDocument/2006/relationships/notesSlide" Target="/ppt/notesSlides/notesSlide4.xml" Id="R496bb353e11340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94e9d7b244e6" /><Relationship Type="http://schemas.openxmlformats.org/officeDocument/2006/relationships/notesSlide" Target="/ppt/notesSlides/notesSlide5.xml" Id="R6df38c26f63542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cb7ce510a42ee" /><Relationship Type="http://schemas.openxmlformats.org/officeDocument/2006/relationships/notesSlide" Target="/ppt/notesSlides/notesSlide6.xml" Id="R4f459ab54f3849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dec38b1cc4c78" /><Relationship Type="http://schemas.openxmlformats.org/officeDocument/2006/relationships/notesSlide" Target="/ppt/notesSlides/notesSlide7.xml" Id="Rf61e625f55df46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b64a99cbf486f" /><Relationship Type="http://schemas.openxmlformats.org/officeDocument/2006/relationships/notesSlide" Target="/ppt/notesSlides/notesSlide8.xml" Id="R7cfebdbbb33c43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8eb66a1424e37" /><Relationship Type="http://schemas.openxmlformats.org/officeDocument/2006/relationships/notesSlide" Target="/ppt/notesSlides/notesSlide9.xml" Id="R1a8a2bfbac6348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41b92f3004102" /><Relationship Type="http://schemas.openxmlformats.org/officeDocument/2006/relationships/notesSlide" Target="/ppt/notesSlides/notesSlide10.xml" Id="Rcd3cb6af132b4c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0d3b1785744e2" /><Relationship Type="http://schemas.openxmlformats.org/officeDocument/2006/relationships/notesSlide" Target="/ppt/notesSlides/notesSlide11.xml" Id="Re7dfca6172fd44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e1a6cb23d45e2" /><Relationship Type="http://schemas.openxmlformats.org/officeDocument/2006/relationships/notesSlide" Target="/ppt/notesSlides/notesSlide12.xml" Id="Ref233c59fe3749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a16bcf10549f4" /><Relationship Type="http://schemas.openxmlformats.org/officeDocument/2006/relationships/notesSlide" Target="/ppt/notesSlides/notesSlide13.xml" Id="Ra39fe4d4a77b4b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5c466f3e4407" /><Relationship Type="http://schemas.openxmlformats.org/officeDocument/2006/relationships/image" Target="/ppt/media/image.png" Id="Rf2ccf6d6b38f45f8" /><Relationship Type="http://schemas.openxmlformats.org/officeDocument/2006/relationships/notesSlide" Target="/ppt/notesSlides/notesSlide14.xml" Id="R406776b7daae471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126ef2e064f40" /><Relationship Type="http://schemas.openxmlformats.org/officeDocument/2006/relationships/image" Target="/ppt/media/image2.png" Id="Rb6c7e0301fa14f22" /><Relationship Type="http://schemas.openxmlformats.org/officeDocument/2006/relationships/notesSlide" Target="/ppt/notesSlides/notesSlide15.xml" Id="Rdb976c14c4cf44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969fc5b2c41e8" /><Relationship Type="http://schemas.openxmlformats.org/officeDocument/2006/relationships/image" Target="/ppt/media/image3.png" Id="Rb20964de4b564c4c" /><Relationship Type="http://schemas.openxmlformats.org/officeDocument/2006/relationships/notesSlide" Target="/ppt/notesSlides/notesSlide16.xml" Id="R5b0ac0d6291940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76ff115e57434f" /><Relationship Type="http://schemas.openxmlformats.org/officeDocument/2006/relationships/image" Target="/ppt/media/image4.png" Id="R0e7e0f18784e44e8" /><Relationship Type="http://schemas.openxmlformats.org/officeDocument/2006/relationships/notesSlide" Target="/ppt/notesSlides/notesSlide17.xml" Id="R7dbddb4795744e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b823c0d2d04729" /><Relationship Type="http://schemas.openxmlformats.org/officeDocument/2006/relationships/image" Target="/ppt/media/image5.png" Id="Re49f554ff3e2418a" /><Relationship Type="http://schemas.openxmlformats.org/officeDocument/2006/relationships/notesSlide" Target="/ppt/notesSlides/notesSlide18.xml" Id="R78fd3d5d4eb6432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363359ca04629" /><Relationship Type="http://schemas.openxmlformats.org/officeDocument/2006/relationships/image" Target="/ppt/media/image6.png" Id="R335c53142a8b49af" /><Relationship Type="http://schemas.openxmlformats.org/officeDocument/2006/relationships/notesSlide" Target="/ppt/notesSlides/notesSlide19.xml" Id="R1cd8032b53eb4f0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026a016ed460a" /><Relationship Type="http://schemas.openxmlformats.org/officeDocument/2006/relationships/image" Target="/ppt/media/image7.png" Id="Rc8ef60c950644ad3" /><Relationship Type="http://schemas.openxmlformats.org/officeDocument/2006/relationships/notesSlide" Target="/ppt/notesSlides/notesSlide20.xml" Id="R9485721f9f224d4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a211098b44f11" /><Relationship Type="http://schemas.openxmlformats.org/officeDocument/2006/relationships/notesSlide" Target="/ppt/notesSlides/notesSlide21.xml" Id="R7ee295c944674e0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263d38f664f1c" /><Relationship Type="http://schemas.openxmlformats.org/officeDocument/2006/relationships/image" Target="/ppt/media/image8.png" Id="R19eba82a61d2410a" /><Relationship Type="http://schemas.openxmlformats.org/officeDocument/2006/relationships/notesSlide" Target="/ppt/notesSlides/notesSlide22.xml" Id="Rc5bfbb441a8b42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13d46c8254d3b" /><Relationship Type="http://schemas.openxmlformats.org/officeDocument/2006/relationships/image" Target="/ppt/media/image9.png" Id="Rd3fb9b7e7228474d" /><Relationship Type="http://schemas.openxmlformats.org/officeDocument/2006/relationships/notesSlide" Target="/ppt/notesSlides/notesSlide23.xml" Id="R40f0479c851b459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6d0bb4efe4142" /><Relationship Type="http://schemas.openxmlformats.org/officeDocument/2006/relationships/image" Target="/ppt/media/image10.png" Id="R7d260feb6d71469d" /><Relationship Type="http://schemas.openxmlformats.org/officeDocument/2006/relationships/notesSlide" Target="/ppt/notesSlides/notesSlide24.xml" Id="Refeefb06a3054a8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87bd5971d42fe" /><Relationship Type="http://schemas.openxmlformats.org/officeDocument/2006/relationships/image" Target="/ppt/media/image11.png" Id="Rfb103a3d95794e9b" /><Relationship Type="http://schemas.openxmlformats.org/officeDocument/2006/relationships/notesSlide" Target="/ppt/notesSlides/notesSlide25.xml" Id="Rcee88ab0e35e4f6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8b52a2c4340b7" /><Relationship Type="http://schemas.openxmlformats.org/officeDocument/2006/relationships/image" Target="/ppt/media/image12.png" Id="Rb1a51d16456b4b67" /><Relationship Type="http://schemas.openxmlformats.org/officeDocument/2006/relationships/notesSlide" Target="/ppt/notesSlides/notesSlide26.xml" Id="Rfb48a1a2fcaf4a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6ece4eaa841f3" /><Relationship Type="http://schemas.openxmlformats.org/officeDocument/2006/relationships/image" Target="/ppt/media/image2.jpeg" Id="R15951e0508a64375" /><Relationship Type="http://schemas.openxmlformats.org/officeDocument/2006/relationships/image" Target="/ppt/media/image3.jpeg" Id="R1e69a76dca1b47d6" /><Relationship Type="http://schemas.openxmlformats.org/officeDocument/2006/relationships/image" Target="/ppt/media/image4.jpeg" Id="Rd612200719824ad9" /><Relationship Type="http://schemas.openxmlformats.org/officeDocument/2006/relationships/image" Target="/ppt/media/image5.jpeg" Id="R7489582b2fec4064" /><Relationship Type="http://schemas.openxmlformats.org/officeDocument/2006/relationships/image" Target="/ppt/media/image6.jpeg" Id="Rd138d57c808c47bd" /><Relationship Type="http://schemas.openxmlformats.org/officeDocument/2006/relationships/notesSlide" Target="/ppt/notesSlides/notesSlide27.xml" Id="R604078d66f5b42c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822541eca4733" /><Relationship Type="http://schemas.openxmlformats.org/officeDocument/2006/relationships/image" Target="/ppt/media/image7.jpeg" Id="R31a2fbdef8f44ee4" /><Relationship Type="http://schemas.openxmlformats.org/officeDocument/2006/relationships/image" Target="/ppt/media/image8.jpeg" Id="Re807416e3e3f4c61" /><Relationship Type="http://schemas.openxmlformats.org/officeDocument/2006/relationships/image" Target="/ppt/media/image9.jpeg" Id="Rc55c06d72fef4d02" /><Relationship Type="http://schemas.openxmlformats.org/officeDocument/2006/relationships/image" Target="/ppt/media/image10.jpeg" Id="R047daab709c946c2" /><Relationship Type="http://schemas.openxmlformats.org/officeDocument/2006/relationships/notesSlide" Target="/ppt/notesSlides/notesSlide28.xml" Id="R2adf4157ccb14f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383c139d447d6" /><Relationship Type="http://schemas.openxmlformats.org/officeDocument/2006/relationships/notesSlide" Target="/ppt/notesSlides/notesSlide29.xml" Id="R98b3cc243d3f48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2DCA56B-88C8-4D12-8CFE-29946893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0486848-5B62-407A-BA9D-031DB4A9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商铺视觉数据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如何变成可交付结论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E67A140-B618-409C-9DD9-E50E4E72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57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7D7D7"/>
                </a:solidFill>
                <a:latin typeface="Microsoft YaHei"/>
                <a:ea typeface="Microsoft YaHei"/>
                <a:cs typeface="Microsoft YaHei"/>
              </a:rPr>
              <a:t>外部数据源 → 15维标准化 → 两种分析工作流 → 53页PDF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E4404DF-CB5E-4F14-9EB1-7A3AE63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DC62429-19C2-4449-959B-45CEAB6A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COLLECT  /  STANDARDIZE  /  ANALYZE  /  DELIVER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9644255-3EBF-4D69-A466-0F390175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8D9198"/>
                </a:solidFill>
                <a:latin typeface="Arial"/>
                <a:ea typeface="Arial"/>
                <a:cs typeface="Arial"/>
              </a:rPr>
              <a:t>Discussion deck · 2026.08.26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5938F5B-2BA0-47B4-A28D-66E2BA27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905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919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9198"/>
                </a:solidFill>
                <a:latin typeface="Arial"/>
                <a:ea typeface="Arial"/>
                <a:cs typeface="Arial"/>
              </a:rPr>
              <a:t>FINAL DELIVERY / PAGE 53</a:t>
            </a:r>
          </a:p>
        </p:txBody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BCD03B48-F513-4544-903A-462528B1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914400"/>
            <a:ext cx="6153150" cy="5219700"/>
          </a:xfrm>
          <a:prstGeom xmlns:a="http://schemas.openxmlformats.org/drawingml/2006/main" prst="roundRect">
            <a:avLst>
              <a:gd name="adj" fmla="val 1460"/>
            </a:avLst>
          </a:prstGeom>
          <a:solidFill xmlns:a="http://schemas.openxmlformats.org/drawingml/2006/main">
            <a:srgbClr val="1E1E1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7ed95f3094a3e"/>
          <a:stretch xmlns:a="http://schemas.openxmlformats.org/drawingml/2006/main"/>
        </p:blipFill>
        <p:spPr>
          <a:xfrm xmlns:a="http://schemas.openxmlformats.org/drawingml/2006/main">
            <a:off x="5772150" y="1896070"/>
            <a:ext cx="5772150" cy="32468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605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116EE0E4-21C3-4530-83DC-E21E94B1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04350B2-43F6-45A1-9F7A-924BF357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架构核心是“批量数据底座＋按需视觉推理”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21254BD-FE58-4623-A309-621CFC61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高频浏览与筛选由本地数据层承担；只有需要语义判断时才调用视觉模型。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A5295D-D6ED-4FFE-9578-5035DB8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arrow-0">
            <a:extLst xmlns:a="http://schemas.openxmlformats.org/drawingml/2006/main">
              <a:ext uri="{FF2B5EF4-FFF2-40B4-BE49-F238E27FC236}">
                <a16:creationId xmlns:a16="http://schemas.microsoft.com/office/drawing/2014/main" id="{2D729B06-B309-4CFC-9EB7-856C08A5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arrow-1">
            <a:extLst xmlns:a="http://schemas.openxmlformats.org/drawingml/2006/main">
              <a:ext uri="{FF2B5EF4-FFF2-40B4-BE49-F238E27FC236}">
                <a16:creationId xmlns:a16="http://schemas.microsoft.com/office/drawing/2014/main" id="{4C59471D-0332-4159-8376-33D1C987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arrow-2">
            <a:extLst xmlns:a="http://schemas.openxmlformats.org/drawingml/2006/main">
              <a:ext uri="{FF2B5EF4-FFF2-40B4-BE49-F238E27FC236}">
                <a16:creationId xmlns:a16="http://schemas.microsoft.com/office/drawing/2014/main" id="{3FB39BE2-F312-4FA6-8D48-8CDFD4AB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43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stage-0">
            <a:extLst xmlns:a="http://schemas.openxmlformats.org/drawingml/2006/main">
              <a:ext uri="{FF2B5EF4-FFF2-40B4-BE49-F238E27FC236}">
                <a16:creationId xmlns:a16="http://schemas.microsoft.com/office/drawing/2014/main" id="{28E2368E-BCD3-4C18-8A99-555C961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4E40FD38-01C9-452D-96DF-6DC5156C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9355141-D660-4C01-827B-CDA4E75E7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FD369F6-B973-4451-9C9B-3EA4BE64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Shopify /products.json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Algolia browse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WooCommerce Store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Use＋人工验证</a:t>
            </a:r>
          </a:p>
        </p:txBody>
      </p:sp>
      <p:sp>
        <p:nvSpPr>
          <p:cNvPr id="12" name="stage-1">
            <a:extLst xmlns:a="http://schemas.openxmlformats.org/drawingml/2006/main">
              <a:ext uri="{FF2B5EF4-FFF2-40B4-BE49-F238E27FC236}">
                <a16:creationId xmlns:a16="http://schemas.microsoft.com/office/drawing/2014/main" id="{2B773A1C-B3AD-47AD-9E39-8CE01C4D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257ECB0F-6B4A-4E28-83C9-216249EA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A1ADFC5-47A1-4017-B81A-95A5929C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213E310-D143-4289-9A1E-0AB100BB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统一商品/图片 JSONL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稳定商品与图片键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URL/内容哈希去重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15维标签＋SQLite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965FC1FA-34B1-488B-8494-5D4E6D1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B45D34F-251F-4BAE-AECB-8B1836B1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0574A6C-B1BB-4922-AB28-0C054B5F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分析与证据引擎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9EFB3EF-7DB3-412B-A1F7-FF9B467A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体验1：组合筛选＋精读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体验2：整体分析＋报告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Terra批量打标 / Sol精读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报告共享高清缓存与证据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1578FC05-536B-4871-9B62-A8BA64E2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400300" cy="34290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BA0468B-9376-4228-83D2-4FB35F1F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4BE69741-C546-48FA-91D7-D54DF91A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产品与交付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5556D59-ACA4-48F4-BF9F-A69AE33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952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React 19 + Vite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Python HTTP API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五个Section逐章审核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ReportLab/Pillow 53页PDF</a:t>
            </a:r>
          </a:p>
        </p:txBody>
      </p:sp>
      <p:sp>
        <p:nvSpPr>
          <p:cNvPr id="24" name="box">
            <a:extLst xmlns:a="http://schemas.openxmlformats.org/drawingml/2006/main">
              <a:ext uri="{FF2B5EF4-FFF2-40B4-BE49-F238E27FC236}">
                <a16:creationId xmlns:a16="http://schemas.microsoft.com/office/drawing/2014/main" id="{79DD463B-68FE-4657-8383-5BF05391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0545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56A2EA4-A7B1-4C81-9F3A-1D8C9943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生产运行：Nginx 反向代理 → Azure VM 上的 systemd 服务 → 127.0.0.1:8603 → 持久化任务与报告目录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650AB863-38ED-4558-B90B-D778BCA9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footer">
            <a:extLst xmlns:a="http://schemas.openxmlformats.org/drawingml/2006/main">
              <a:ext uri="{FF2B5EF4-FFF2-40B4-BE49-F238E27FC236}">
                <a16:creationId xmlns:a16="http://schemas.microsoft.com/office/drawing/2014/main" id="{75C4A146-C093-4341-A9E9-A3E70090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97011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2DACFC97-526A-4872-B642-9419E623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4B4E5F-7A6C-4166-942E-3564D101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外部数据源：每个站点采用最适合它的采集入口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CAFEE8-8F51-4A8B-85D0-DE3802AC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这一页只看四种采集入口与统一入库过程；Aloruh（SHEIN）的人机协作细节在第5页单独展开。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003C84-E6B2-4B11-89BD-0F993DC7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box">
            <a:extLst xmlns:a="http://schemas.openxmlformats.org/drawingml/2006/main">
              <a:ext uri="{FF2B5EF4-FFF2-40B4-BE49-F238E27FC236}">
                <a16:creationId xmlns:a16="http://schemas.microsoft.com/office/drawing/2014/main" id="{E14C1BCD-7E70-464E-8DD9-F7CE4402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4107E5E-576A-4C68-A332-DE4CA151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SHOPIFY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D239188-504C-4347-B988-EC60C306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 / Motel Rocks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54F1979-B1EA-4408-9DF5-63E61701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/products.json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250件/页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集合页补 new / best / sale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C9B5DCC-4D3E-4DC3-839B-1CBAA6E7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变体 · 价格 · 图片URL</a:t>
            </a:r>
          </a:p>
        </p:txBody>
      </p:sp>
      <p:sp>
        <p:nvSpPr>
          <p:cNvPr id="10" name="box">
            <a:extLst xmlns:a="http://schemas.openxmlformats.org/drawingml/2006/main">
              <a:ext uri="{FF2B5EF4-FFF2-40B4-BE49-F238E27FC236}">
                <a16:creationId xmlns:a16="http://schemas.microsoft.com/office/drawing/2014/main" id="{E59EF28A-3F23-496D-96F1-0299424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F75265D-76D9-48AF-9444-85E5AB4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ALGOLIA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B0DC4CE-C6A3-466D-9CE8-90CAF5DE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4F9A5C-DCEE-45E6-BA3F-1E315AE0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 index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1,000件/批＋cursor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另查索引排名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24259E9-169D-491A-915B-612B08E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 · 库存 · 图片 · 热销标记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01368E40-4627-4B5F-A9DD-14FCD2F7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1FA17A5-3CA5-437E-A9FA-7DC178C5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WOOCOMMERCE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680D4C-0C9D-47C2-8CE8-A4D3ECDB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475E73F-3452-48A5-BF2B-C3091A82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Store API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per_page=100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保留robots/sitemap快照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0DA34BC0-A3AE-4CDC-A089-E5C62736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本地商品 · 标签 · 图片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5CC4AE9E-CD3C-4614-8F98-CAE8041D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19250"/>
            <a:ext cx="2647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E79CA5C-E029-4667-80F6-BE0D50B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0975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BROWSER USE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71318DF0-0C4E-44DF-AD83-B1F49438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526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SHEIN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BF4DA6C-AA0F-4F8E-9FA9-660165A6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24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真实浏览器会话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目录与必要详情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完整流程见第5页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39CF0111-5484-40FF-8612-E395C7D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57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品牌目录 · 商品详情 · 图片序列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22F40A6D-B182-4F53-8809-2AAEE6CD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24350"/>
            <a:ext cx="11106150" cy="1733550"/>
          </a:xfrm>
          <a:prstGeom xmlns:a="http://schemas.openxmlformats.org/drawingml/2006/main" prst="roundRect">
            <a:avLst>
              <a:gd name="adj" fmla="val 439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flow-arrow">
            <a:extLst xmlns:a="http://schemas.openxmlformats.org/drawingml/2006/main">
              <a:ext uri="{FF2B5EF4-FFF2-40B4-BE49-F238E27FC236}">
                <a16:creationId xmlns:a16="http://schemas.microsoft.com/office/drawing/2014/main" id="{8B8B440F-F2A9-4FF2-AA0C-51658BD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flow-arrow">
            <a:extLst xmlns:a="http://schemas.openxmlformats.org/drawingml/2006/main">
              <a:ext uri="{FF2B5EF4-FFF2-40B4-BE49-F238E27FC236}">
                <a16:creationId xmlns:a16="http://schemas.microsoft.com/office/drawing/2014/main" id="{15BFBD1A-2301-47AB-AA25-19415FF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flow-arrow">
            <a:extLst xmlns:a="http://schemas.openxmlformats.org/drawingml/2006/main">
              <a:ext uri="{FF2B5EF4-FFF2-40B4-BE49-F238E27FC236}">
                <a16:creationId xmlns:a16="http://schemas.microsoft.com/office/drawing/2014/main" id="{930EB43D-327C-447D-B1FA-BDCD930D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9" name="flow-arrow">
            <a:extLst xmlns:a="http://schemas.openxmlformats.org/drawingml/2006/main">
              <a:ext uri="{FF2B5EF4-FFF2-40B4-BE49-F238E27FC236}">
                <a16:creationId xmlns:a16="http://schemas.microsoft.com/office/drawing/2014/main" id="{93ED8820-E6A8-4C4F-8616-7765B152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38750"/>
            <a:ext cx="34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6ED8D3B9-23AD-4BEA-B755-80C492C9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ALL SOURCES / SHARED LANDING PIPELINE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31A5EB8-0F86-44F7-91CC-E96AA8F5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0924AF25-300C-44CD-A367-A2B5761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分页读取来源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F46AD7F-BD2B-4F5C-9799-2C6E5331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F879CFE-A0E0-4074-8237-50610506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保存原始响应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64C78F47-947B-4D0E-A5F8-82AA7B23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10D49246-F146-4300-8F47-D4CFDA1D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展开商品与图片URL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5595C8B-7B44-43AF-92B2-AD2BA1F5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B6AA1E22-46CD-4F79-8B75-6B356E7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生成稳定键＋去重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49C89E2-D33D-4E0F-A5B4-14D903C7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9530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E9E9BF81-E13A-4D68-A25D-D41FC265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5780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写入SQLite供UI查询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422662E6-3E5D-4A31-B1D7-A242DA3B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4F063EEF-A2AB-4501-A381-E9535268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71505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eyebrow">
            <a:extLst xmlns:a="http://schemas.openxmlformats.org/drawingml/2006/main">
              <a:ext uri="{FF2B5EF4-FFF2-40B4-BE49-F238E27FC236}">
                <a16:creationId xmlns:a16="http://schemas.microsoft.com/office/drawing/2014/main" id="{48324C63-514E-496A-A9EE-C0C3298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COLLECTION INVENTORY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313049-E9F6-4035-A982-DD0EE84F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60,260个商品对应288,831条图片地址，先建索引再按需下载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FB24F6D-B5DF-46E5-A3E6-64362DCB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一条图片索引 = 一个图片URL＋所属店铺、商品和图片位置；它记录“去哪里取图”，本身不是图片文件。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8BCEC69-A4B9-491C-8FA7-304D19C9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nventory-metric-0">
            <a:extLst xmlns:a="http://schemas.openxmlformats.org/drawingml/2006/main">
              <a:ext uri="{FF2B5EF4-FFF2-40B4-BE49-F238E27FC236}">
                <a16:creationId xmlns:a16="http://schemas.microsoft.com/office/drawing/2014/main" id="{F73642E7-86C1-4489-A70F-1E74D9A9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6" name="inventory-metric-label-0">
            <a:extLst xmlns:a="http://schemas.openxmlformats.org/drawingml/2006/main">
              <a:ext uri="{FF2B5EF4-FFF2-40B4-BE49-F238E27FC236}">
                <a16:creationId xmlns:a16="http://schemas.microsoft.com/office/drawing/2014/main" id="{5548D57F-BC55-4954-BC63-A7DBA2E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7" name="inventory-metric-1">
            <a:extLst xmlns:a="http://schemas.openxmlformats.org/drawingml/2006/main">
              <a:ext uri="{FF2B5EF4-FFF2-40B4-BE49-F238E27FC236}">
                <a16:creationId xmlns:a16="http://schemas.microsoft.com/office/drawing/2014/main" id="{C85F778B-C449-4A09-A79C-A43C15EF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8" name="inventory-metric-label-1">
            <a:extLst xmlns:a="http://schemas.openxmlformats.org/drawingml/2006/main">
              <a:ext uri="{FF2B5EF4-FFF2-40B4-BE49-F238E27FC236}">
                <a16:creationId xmlns:a16="http://schemas.microsoft.com/office/drawing/2014/main" id="{697B9706-6277-453F-87F5-D40097D1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图片URL索引（非文件）</a:t>
            </a:r>
          </a:p>
        </p:txBody>
      </p:sp>
      <p:sp>
        <p:nvSpPr>
          <p:cNvPr id="9" name="inventory-metric-2">
            <a:extLst xmlns:a="http://schemas.openxmlformats.org/drawingml/2006/main">
              <a:ext uri="{FF2B5EF4-FFF2-40B4-BE49-F238E27FC236}">
                <a16:creationId xmlns:a16="http://schemas.microsoft.com/office/drawing/2014/main" id="{BDD7CA19-8A52-43B0-8566-4DE260DE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10" name="inventory-metric-label-2">
            <a:extLst xmlns:a="http://schemas.openxmlformats.org/drawingml/2006/main">
              <a:ext uri="{FF2B5EF4-FFF2-40B4-BE49-F238E27FC236}">
                <a16:creationId xmlns:a16="http://schemas.microsoft.com/office/drawing/2014/main" id="{74B34B88-BE93-4FA7-8972-9EFD628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已完成15维分析图片</a:t>
            </a:r>
          </a:p>
        </p:txBody>
      </p:sp>
      <p:sp>
        <p:nvSpPr>
          <p:cNvPr id="11" name="inventory-metric-3">
            <a:extLst xmlns:a="http://schemas.openxmlformats.org/drawingml/2006/main">
              <a:ext uri="{FF2B5EF4-FFF2-40B4-BE49-F238E27FC236}">
                <a16:creationId xmlns:a16="http://schemas.microsoft.com/office/drawing/2014/main" id="{96A34DC3-9BF2-4EB1-8913-3419F524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668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606,007</a:t>
            </a:r>
          </a:p>
        </p:txBody>
      </p:sp>
      <p:sp>
        <p:nvSpPr>
          <p:cNvPr id="12" name="inventory-metric-label-3">
            <a:extLst xmlns:a="http://schemas.openxmlformats.org/drawingml/2006/main">
              <a:ext uri="{FF2B5EF4-FFF2-40B4-BE49-F238E27FC236}">
                <a16:creationId xmlns:a16="http://schemas.microsoft.com/office/drawing/2014/main" id="{D6112732-64E6-4624-AD5E-B1DD76C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累计分析标签</a:t>
            </a:r>
          </a:p>
        </p:txBody>
      </p:sp>
      <p:sp>
        <p:nvSpPr>
          <p:cNvPr id="13" name="inventory-table-header">
            <a:extLst xmlns:a="http://schemas.openxmlformats.org/drawingml/2006/main">
              <a:ext uri="{FF2B5EF4-FFF2-40B4-BE49-F238E27FC236}">
                <a16:creationId xmlns:a16="http://schemas.microsoft.com/office/drawing/2014/main" id="{CEFA5A65-5B5D-473D-A1BA-3592D3C6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11106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nventory-header-0">
            <a:extLst xmlns:a="http://schemas.openxmlformats.org/drawingml/2006/main">
              <a:ext uri="{FF2B5EF4-FFF2-40B4-BE49-F238E27FC236}">
                <a16:creationId xmlns:a16="http://schemas.microsoft.com/office/drawing/2014/main" id="{E82F5208-5A63-4B0B-9E28-C696578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</a:t>
            </a:r>
          </a:p>
        </p:txBody>
      </p:sp>
      <p:sp>
        <p:nvSpPr>
          <p:cNvPr id="15" name="inventory-header-1">
            <a:extLst xmlns:a="http://schemas.openxmlformats.org/drawingml/2006/main">
              <a:ext uri="{FF2B5EF4-FFF2-40B4-BE49-F238E27FC236}">
                <a16:creationId xmlns:a16="http://schemas.microsoft.com/office/drawing/2014/main" id="{ACE240EF-EB5B-4DD7-8B59-6DBD7AF1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商品记录</a:t>
            </a:r>
          </a:p>
        </p:txBody>
      </p:sp>
      <p:sp>
        <p:nvSpPr>
          <p:cNvPr id="16" name="inventory-header-2">
            <a:extLst xmlns:a="http://schemas.openxmlformats.org/drawingml/2006/main">
              <a:ext uri="{FF2B5EF4-FFF2-40B4-BE49-F238E27FC236}">
                <a16:creationId xmlns:a16="http://schemas.microsoft.com/office/drawing/2014/main" id="{6C6DE8BE-840D-4035-BA4F-B21133D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图片URL（条）</a:t>
            </a:r>
          </a:p>
        </p:txBody>
      </p:sp>
      <p:sp>
        <p:nvSpPr>
          <p:cNvPr id="17" name="inventory-header-3">
            <a:extLst xmlns:a="http://schemas.openxmlformats.org/drawingml/2006/main">
              <a:ext uri="{FF2B5EF4-FFF2-40B4-BE49-F238E27FC236}">
                <a16:creationId xmlns:a16="http://schemas.microsoft.com/office/drawing/2014/main" id="{899B793B-3E35-4EBB-B0D0-0EBEB892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已分析图片</a:t>
            </a:r>
          </a:p>
        </p:txBody>
      </p:sp>
      <p:sp>
        <p:nvSpPr>
          <p:cNvPr id="18" name="inventory-header-4">
            <a:extLst xmlns:a="http://schemas.openxmlformats.org/drawingml/2006/main">
              <a:ext uri="{FF2B5EF4-FFF2-40B4-BE49-F238E27FC236}">
                <a16:creationId xmlns:a16="http://schemas.microsoft.com/office/drawing/2014/main" id="{0B3BB429-8A3F-4E9D-A738-33D68DC0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相对URL数量（最长=PLT）</a:t>
            </a:r>
          </a:p>
        </p:txBody>
      </p:sp>
      <p:sp>
        <p:nvSpPr>
          <p:cNvPr id="19" name="inventory-store-0">
            <a:extLst xmlns:a="http://schemas.openxmlformats.org/drawingml/2006/main">
              <a:ext uri="{FF2B5EF4-FFF2-40B4-BE49-F238E27FC236}">
                <a16:creationId xmlns:a16="http://schemas.microsoft.com/office/drawing/2014/main" id="{F13933A3-2ADD-4FF4-8F59-5BE3B3D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</a:t>
            </a:r>
          </a:p>
        </p:txBody>
      </p:sp>
      <p:sp>
        <p:nvSpPr>
          <p:cNvPr id="20" name="inventory-products-0">
            <a:extLst xmlns:a="http://schemas.openxmlformats.org/drawingml/2006/main">
              <a:ext uri="{FF2B5EF4-FFF2-40B4-BE49-F238E27FC236}">
                <a16:creationId xmlns:a16="http://schemas.microsoft.com/office/drawing/2014/main" id="{5C666EBE-5B33-4D1D-82ED-391DB654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765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2,848</a:t>
            </a:r>
          </a:p>
        </p:txBody>
      </p:sp>
      <p:sp>
        <p:nvSpPr>
          <p:cNvPr id="21" name="inventory-images-0">
            <a:extLst xmlns:a="http://schemas.openxmlformats.org/drawingml/2006/main">
              <a:ext uri="{FF2B5EF4-FFF2-40B4-BE49-F238E27FC236}">
                <a16:creationId xmlns:a16="http://schemas.microsoft.com/office/drawing/2014/main" id="{7405DB01-034A-4AE9-9D88-7962CB24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4,352</a:t>
            </a:r>
          </a:p>
        </p:txBody>
      </p:sp>
      <p:sp>
        <p:nvSpPr>
          <p:cNvPr id="22" name="inventory-analyzed-0">
            <a:extLst xmlns:a="http://schemas.openxmlformats.org/drawingml/2006/main">
              <a:ext uri="{FF2B5EF4-FFF2-40B4-BE49-F238E27FC236}">
                <a16:creationId xmlns:a16="http://schemas.microsoft.com/office/drawing/2014/main" id="{6E289A61-8FF7-43D3-84CC-9183EC0D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765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343</a:t>
            </a:r>
          </a:p>
        </p:txBody>
      </p:sp>
      <p:sp>
        <p:nvSpPr>
          <p:cNvPr id="23" name="inventory-bar-track-0">
            <a:extLst xmlns:a="http://schemas.openxmlformats.org/drawingml/2006/main">
              <a:ext uri="{FF2B5EF4-FFF2-40B4-BE49-F238E27FC236}">
                <a16:creationId xmlns:a16="http://schemas.microsoft.com/office/drawing/2014/main" id="{BF2D8F34-92F4-4F0D-BB3B-63A3C180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nventory-bar-0">
            <a:extLst xmlns:a="http://schemas.openxmlformats.org/drawingml/2006/main">
              <a:ext uri="{FF2B5EF4-FFF2-40B4-BE49-F238E27FC236}">
                <a16:creationId xmlns:a16="http://schemas.microsoft.com/office/drawing/2014/main" id="{B37B2F32-B0A3-4658-A446-D6CC0E57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77829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AA92A0FE-2AC3-4E86-9316-BB3BA35A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inventory-row-bg-1">
            <a:extLst xmlns:a="http://schemas.openxmlformats.org/drawingml/2006/main">
              <a:ext uri="{FF2B5EF4-FFF2-40B4-BE49-F238E27FC236}">
                <a16:creationId xmlns:a16="http://schemas.microsoft.com/office/drawing/2014/main" id="{5A5E8956-0326-4374-A2DF-2C08ECAC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nventory-store-1">
            <a:extLst xmlns:a="http://schemas.openxmlformats.org/drawingml/2006/main">
              <a:ext uri="{FF2B5EF4-FFF2-40B4-BE49-F238E27FC236}">
                <a16:creationId xmlns:a16="http://schemas.microsoft.com/office/drawing/2014/main" id="{44E3EC30-E808-4CDC-BAC4-851975FD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 local</a:t>
            </a:r>
          </a:p>
        </p:txBody>
      </p:sp>
      <p:sp>
        <p:nvSpPr>
          <p:cNvPr id="28" name="inventory-products-1">
            <a:extLst xmlns:a="http://schemas.openxmlformats.org/drawingml/2006/main">
              <a:ext uri="{FF2B5EF4-FFF2-40B4-BE49-F238E27FC236}">
                <a16:creationId xmlns:a16="http://schemas.microsoft.com/office/drawing/2014/main" id="{DC7AF5C8-6305-4F09-9872-C3208941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10,487</a:t>
            </a:r>
          </a:p>
        </p:txBody>
      </p:sp>
      <p:sp>
        <p:nvSpPr>
          <p:cNvPr id="29" name="inventory-images-1">
            <a:extLst xmlns:a="http://schemas.openxmlformats.org/drawingml/2006/main">
              <a:ext uri="{FF2B5EF4-FFF2-40B4-BE49-F238E27FC236}">
                <a16:creationId xmlns:a16="http://schemas.microsoft.com/office/drawing/2014/main" id="{C76B35B2-9A41-48B6-A53B-5DF3E3D3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10,771</a:t>
            </a:r>
          </a:p>
        </p:txBody>
      </p:sp>
      <p:sp>
        <p:nvSpPr>
          <p:cNvPr id="30" name="inventory-analyzed-1">
            <a:extLst xmlns:a="http://schemas.openxmlformats.org/drawingml/2006/main">
              <a:ext uri="{FF2B5EF4-FFF2-40B4-BE49-F238E27FC236}">
                <a16:creationId xmlns:a16="http://schemas.microsoft.com/office/drawing/2014/main" id="{0CCB715B-A82B-4C32-AF1D-942F3F87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718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10,466</a:t>
            </a:r>
          </a:p>
        </p:txBody>
      </p:sp>
      <p:sp>
        <p:nvSpPr>
          <p:cNvPr id="31" name="inventory-bar-track-1">
            <a:extLst xmlns:a="http://schemas.openxmlformats.org/drawingml/2006/main">
              <a:ext uri="{FF2B5EF4-FFF2-40B4-BE49-F238E27FC236}">
                <a16:creationId xmlns:a16="http://schemas.microsoft.com/office/drawing/2014/main" id="{FA5A7953-710C-4A3D-BBF7-BD44FC60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inventory-bar-1">
            <a:extLst xmlns:a="http://schemas.openxmlformats.org/drawingml/2006/main">
              <a:ext uri="{FF2B5EF4-FFF2-40B4-BE49-F238E27FC236}">
                <a16:creationId xmlns:a16="http://schemas.microsoft.com/office/drawing/2014/main" id="{9A98E7D2-BD3C-449E-BE48-14862A8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1926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12162C74-51BD-4F02-8545-39ABE0F4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147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inventory-store-2">
            <a:extLst xmlns:a="http://schemas.openxmlformats.org/drawingml/2006/main">
              <a:ext uri="{FF2B5EF4-FFF2-40B4-BE49-F238E27FC236}">
                <a16:creationId xmlns:a16="http://schemas.microsoft.com/office/drawing/2014/main" id="{2C28A610-F030-4B5B-B5EE-B09FF25E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Princess Polly</a:t>
            </a:r>
          </a:p>
        </p:txBody>
      </p:sp>
      <p:sp>
        <p:nvSpPr>
          <p:cNvPr id="35" name="inventory-products-2">
            <a:extLst xmlns:a="http://schemas.openxmlformats.org/drawingml/2006/main">
              <a:ext uri="{FF2B5EF4-FFF2-40B4-BE49-F238E27FC236}">
                <a16:creationId xmlns:a16="http://schemas.microsoft.com/office/drawing/2014/main" id="{F4B6C59C-0C4E-45F4-A128-E8AB87C1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67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17,008</a:t>
            </a:r>
          </a:p>
        </p:txBody>
      </p:sp>
      <p:sp>
        <p:nvSpPr>
          <p:cNvPr id="36" name="inventory-images-2">
            <a:extLst xmlns:a="http://schemas.openxmlformats.org/drawingml/2006/main">
              <a:ext uri="{FF2B5EF4-FFF2-40B4-BE49-F238E27FC236}">
                <a16:creationId xmlns:a16="http://schemas.microsoft.com/office/drawing/2014/main" id="{C53F2FA5-30E1-49C0-B5DF-EA366A67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119,205</a:t>
            </a:r>
          </a:p>
        </p:txBody>
      </p:sp>
      <p:sp>
        <p:nvSpPr>
          <p:cNvPr id="37" name="inventory-analyzed-2">
            <a:extLst xmlns:a="http://schemas.openxmlformats.org/drawingml/2006/main">
              <a:ext uri="{FF2B5EF4-FFF2-40B4-BE49-F238E27FC236}">
                <a16:creationId xmlns:a16="http://schemas.microsoft.com/office/drawing/2014/main" id="{70C733F4-30AC-44D1-8C80-B4CF70BC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671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5,613</a:t>
            </a:r>
          </a:p>
        </p:txBody>
      </p:sp>
      <p:sp>
        <p:nvSpPr>
          <p:cNvPr id="38" name="inventory-bar-track-2">
            <a:extLst xmlns:a="http://schemas.openxmlformats.org/drawingml/2006/main">
              <a:ext uri="{FF2B5EF4-FFF2-40B4-BE49-F238E27FC236}">
                <a16:creationId xmlns:a16="http://schemas.microsoft.com/office/drawing/2014/main" id="{E3C35D52-29FE-4BFA-B390-E1ED850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inventory-bar-2">
            <a:extLst xmlns:a="http://schemas.openxmlformats.org/drawingml/2006/main">
              <a:ext uri="{FF2B5EF4-FFF2-40B4-BE49-F238E27FC236}">
                <a16:creationId xmlns:a16="http://schemas.microsoft.com/office/drawing/2014/main" id="{9513E9E6-737E-422F-B44D-A2A711F9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14800"/>
            <a:ext cx="213180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rule">
            <a:extLst xmlns:a="http://schemas.openxmlformats.org/drawingml/2006/main">
              <a:ext uri="{FF2B5EF4-FFF2-40B4-BE49-F238E27FC236}">
                <a16:creationId xmlns:a16="http://schemas.microsoft.com/office/drawing/2014/main" id="{CACEC269-D2A5-48BF-B8A7-53239C5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nventory-row-bg-3">
            <a:extLst xmlns:a="http://schemas.openxmlformats.org/drawingml/2006/main">
              <a:ext uri="{FF2B5EF4-FFF2-40B4-BE49-F238E27FC236}">
                <a16:creationId xmlns:a16="http://schemas.microsoft.com/office/drawing/2014/main" id="{9A5F9C7F-470A-4D5D-A687-94273C1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11061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inventory-store-3">
            <a:extLst xmlns:a="http://schemas.openxmlformats.org/drawingml/2006/main">
              <a:ext uri="{FF2B5EF4-FFF2-40B4-BE49-F238E27FC236}">
                <a16:creationId xmlns:a16="http://schemas.microsoft.com/office/drawing/2014/main" id="{386837E3-950B-40D4-8DF1-5DF70BF6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Motel Rocks</a:t>
            </a:r>
          </a:p>
        </p:txBody>
      </p:sp>
      <p:sp>
        <p:nvSpPr>
          <p:cNvPr id="43" name="inventory-products-3">
            <a:extLst xmlns:a="http://schemas.openxmlformats.org/drawingml/2006/main">
              <a:ext uri="{FF2B5EF4-FFF2-40B4-BE49-F238E27FC236}">
                <a16:creationId xmlns:a16="http://schemas.microsoft.com/office/drawing/2014/main" id="{7EB62719-70C5-416E-B412-6B10EA79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624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4,422</a:t>
            </a:r>
          </a:p>
        </p:txBody>
      </p:sp>
      <p:sp>
        <p:nvSpPr>
          <p:cNvPr id="44" name="inventory-images-3">
            <a:extLst xmlns:a="http://schemas.openxmlformats.org/drawingml/2006/main">
              <a:ext uri="{FF2B5EF4-FFF2-40B4-BE49-F238E27FC236}">
                <a16:creationId xmlns:a16="http://schemas.microsoft.com/office/drawing/2014/main" id="{5363FFEA-072C-4017-B234-37E6AE8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26,676</a:t>
            </a:r>
          </a:p>
        </p:txBody>
      </p:sp>
      <p:sp>
        <p:nvSpPr>
          <p:cNvPr id="45" name="inventory-analyzed-3">
            <a:extLst xmlns:a="http://schemas.openxmlformats.org/drawingml/2006/main">
              <a:ext uri="{FF2B5EF4-FFF2-40B4-BE49-F238E27FC236}">
                <a16:creationId xmlns:a16="http://schemas.microsoft.com/office/drawing/2014/main" id="{B0AECDF1-62D3-4461-8114-8FE81994F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62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2,141</a:t>
            </a:r>
          </a:p>
        </p:txBody>
      </p:sp>
      <p:sp>
        <p:nvSpPr>
          <p:cNvPr id="46" name="inventory-bar-track-3">
            <a:extLst xmlns:a="http://schemas.openxmlformats.org/drawingml/2006/main">
              <a:ext uri="{FF2B5EF4-FFF2-40B4-BE49-F238E27FC236}">
                <a16:creationId xmlns:a16="http://schemas.microsoft.com/office/drawing/2014/main" id="{0C67A29B-267E-41A2-A355-04FDBF3E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inventory-bar-3">
            <a:extLst xmlns:a="http://schemas.openxmlformats.org/drawingml/2006/main">
              <a:ext uri="{FF2B5EF4-FFF2-40B4-BE49-F238E27FC236}">
                <a16:creationId xmlns:a16="http://schemas.microsoft.com/office/drawing/2014/main" id="{ED72EFB9-8303-4FD4-9F61-CBFBDE8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0100"/>
            <a:ext cx="477061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rule">
            <a:extLst xmlns:a="http://schemas.openxmlformats.org/drawingml/2006/main">
              <a:ext uri="{FF2B5EF4-FFF2-40B4-BE49-F238E27FC236}">
                <a16:creationId xmlns:a16="http://schemas.microsoft.com/office/drawing/2014/main" id="{714511B7-6EDD-438F-B575-25495DCE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inventory-store-4">
            <a:extLst xmlns:a="http://schemas.openxmlformats.org/drawingml/2006/main">
              <a:ext uri="{FF2B5EF4-FFF2-40B4-BE49-F238E27FC236}">
                <a16:creationId xmlns:a16="http://schemas.microsoft.com/office/drawing/2014/main" id="{7696D882-34BE-49D3-BC6D-99D6C189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PrettyLittleThing</a:t>
            </a:r>
          </a:p>
        </p:txBody>
      </p:sp>
      <p:sp>
        <p:nvSpPr>
          <p:cNvPr id="50" name="inventory-products-4">
            <a:extLst xmlns:a="http://schemas.openxmlformats.org/drawingml/2006/main">
              <a:ext uri="{FF2B5EF4-FFF2-40B4-BE49-F238E27FC236}">
                <a16:creationId xmlns:a16="http://schemas.microsoft.com/office/drawing/2014/main" id="{D9797F2F-8B50-4844-8E1A-9CED23B0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577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25,495</a:t>
            </a:r>
          </a:p>
        </p:txBody>
      </p:sp>
      <p:sp>
        <p:nvSpPr>
          <p:cNvPr id="51" name="inventory-images-4">
            <a:extLst xmlns:a="http://schemas.openxmlformats.org/drawingml/2006/main">
              <a:ext uri="{FF2B5EF4-FFF2-40B4-BE49-F238E27FC236}">
                <a16:creationId xmlns:a16="http://schemas.microsoft.com/office/drawing/2014/main" id="{48A3486F-9220-45CE-AE51-1DB8598A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127,827</a:t>
            </a:r>
          </a:p>
        </p:txBody>
      </p:sp>
      <p:sp>
        <p:nvSpPr>
          <p:cNvPr id="52" name="inventory-analyzed-4">
            <a:extLst xmlns:a="http://schemas.openxmlformats.org/drawingml/2006/main">
              <a:ext uri="{FF2B5EF4-FFF2-40B4-BE49-F238E27FC236}">
                <a16:creationId xmlns:a16="http://schemas.microsoft.com/office/drawing/2014/main" id="{1C571B70-C055-489B-9996-2A437E2B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577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7,353</a:t>
            </a:r>
          </a:p>
        </p:txBody>
      </p:sp>
      <p:sp>
        <p:nvSpPr>
          <p:cNvPr id="53" name="inventory-bar-track-4">
            <a:extLst xmlns:a="http://schemas.openxmlformats.org/drawingml/2006/main">
              <a:ext uri="{FF2B5EF4-FFF2-40B4-BE49-F238E27FC236}">
                <a16:creationId xmlns:a16="http://schemas.microsoft.com/office/drawing/2014/main" id="{78DC19A9-89E1-42F1-BE8D-46C5DD19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inventory-bar-4">
            <a:extLst xmlns:a="http://schemas.openxmlformats.org/drawingml/2006/main">
              <a:ext uri="{FF2B5EF4-FFF2-40B4-BE49-F238E27FC236}">
                <a16:creationId xmlns:a16="http://schemas.microsoft.com/office/drawing/2014/main" id="{C5A08770-7D10-4645-B421-C9D54B0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105400"/>
            <a:ext cx="2286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rule">
            <a:extLst xmlns:a="http://schemas.openxmlformats.org/drawingml/2006/main">
              <a:ext uri="{FF2B5EF4-FFF2-40B4-BE49-F238E27FC236}">
                <a16:creationId xmlns:a16="http://schemas.microsoft.com/office/drawing/2014/main" id="{C541085D-0A5E-4BF5-B749-79AC4661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00675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3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inventory-total">
            <a:extLst xmlns:a="http://schemas.openxmlformats.org/drawingml/2006/main">
              <a:ext uri="{FF2B5EF4-FFF2-40B4-BE49-F238E27FC236}">
                <a16:creationId xmlns:a16="http://schemas.microsoft.com/office/drawing/2014/main" id="{06273FBC-926B-4278-A532-2C3CADEA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1106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inventory-total-label">
            <a:extLst xmlns:a="http://schemas.openxmlformats.org/drawingml/2006/main">
              <a:ext uri="{FF2B5EF4-FFF2-40B4-BE49-F238E27FC236}">
                <a16:creationId xmlns:a16="http://schemas.microsoft.com/office/drawing/2014/main" id="{0EED139D-75CF-4686-9E32-1020A730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全站合计</a:t>
            </a:r>
          </a:p>
        </p:txBody>
      </p:sp>
      <p:sp>
        <p:nvSpPr>
          <p:cNvPr id="58" name="inventory-total-products">
            <a:extLst xmlns:a="http://schemas.openxmlformats.org/drawingml/2006/main">
              <a:ext uri="{FF2B5EF4-FFF2-40B4-BE49-F238E27FC236}">
                <a16:creationId xmlns:a16="http://schemas.microsoft.com/office/drawing/2014/main" id="{3B978104-1B86-40A1-A89B-1E0320A5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695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60,260</a:t>
            </a:r>
          </a:p>
        </p:txBody>
      </p:sp>
      <p:sp>
        <p:nvSpPr>
          <p:cNvPr id="59" name="inventory-total-images">
            <a:extLst xmlns:a="http://schemas.openxmlformats.org/drawingml/2006/main">
              <a:ext uri="{FF2B5EF4-FFF2-40B4-BE49-F238E27FC236}">
                <a16:creationId xmlns:a16="http://schemas.microsoft.com/office/drawing/2014/main" id="{6A9CE472-192C-4491-A984-90A84549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288,831</a:t>
            </a:r>
          </a:p>
        </p:txBody>
      </p:sp>
      <p:sp>
        <p:nvSpPr>
          <p:cNvPr id="60" name="inventory-total-analyzed">
            <a:extLst xmlns:a="http://schemas.openxmlformats.org/drawingml/2006/main">
              <a:ext uri="{FF2B5EF4-FFF2-40B4-BE49-F238E27FC236}">
                <a16:creationId xmlns:a16="http://schemas.microsoft.com/office/drawing/2014/main" id="{18B20C61-5AD5-4FAF-9443-960CD7BB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6959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25,916</a:t>
            </a:r>
          </a:p>
        </p:txBody>
      </p:sp>
      <p:sp>
        <p:nvSpPr>
          <p:cNvPr id="61" name="inventory-global-dedup">
            <a:extLst xmlns:a="http://schemas.openxmlformats.org/drawingml/2006/main">
              <a:ext uri="{FF2B5EF4-FFF2-40B4-BE49-F238E27FC236}">
                <a16:creationId xmlns:a16="http://schemas.microsoft.com/office/drawing/2014/main" id="{10E007F5-25BE-4E88-ADB8-ED9583CC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95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跨店合并重复URL后：288,513</a:t>
            </a:r>
          </a:p>
        </p:txBody>
      </p:sp>
      <p:sp>
        <p:nvSpPr>
          <p:cNvPr id="62" name="inventory-method-note">
            <a:extLst xmlns:a="http://schemas.openxmlformats.org/drawingml/2006/main">
              <a:ext uri="{FF2B5EF4-FFF2-40B4-BE49-F238E27FC236}">
                <a16:creationId xmlns:a16="http://schemas.microsoft.com/office/drawing/2014/main" id="{F6FDFA43-F4B8-4FB1-A504-098ECEFA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53150"/>
            <a:ext cx="1110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读法：1个商品若有5张图，就产生5条图片URL索引；只有用户启动高清分析时，系统才下载并校验图片文件。</a:t>
            </a:r>
          </a:p>
        </p:txBody>
      </p:sp>
      <p:sp>
        <p:nvSpPr>
          <p:cNvPr id="63" name="rule">
            <a:extLst xmlns:a="http://schemas.openxmlformats.org/drawingml/2006/main">
              <a:ext uri="{FF2B5EF4-FFF2-40B4-BE49-F238E27FC236}">
                <a16:creationId xmlns:a16="http://schemas.microsoft.com/office/drawing/2014/main" id="{7AF357E3-C8F4-4B21-B39B-8BDE340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footer">
            <a:extLst xmlns:a="http://schemas.openxmlformats.org/drawingml/2006/main">
              <a:ext uri="{FF2B5EF4-FFF2-40B4-BE49-F238E27FC236}">
                <a16:creationId xmlns:a16="http://schemas.microsoft.com/office/drawing/2014/main" id="{DF8C139E-D0D1-442F-A507-F56957FD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explorer.db live inventory · 2026-08-26</a:t>
            </a:r>
          </a:p>
        </p:txBody>
      </p:sp>
    </p:spTree>
    <p:extLst>
      <p:ext uri="{BB962C8B-B14F-4D97-AF65-F5344CB8AC3E}">
        <p14:creationId xmlns:p14="http://schemas.microsoft.com/office/powerpoint/2010/main" val="20425208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89159966-0172-422B-863E-47DC19C3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· SHEIN DEEP DIVE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BDBA56-9A92-41C7-903A-D3184996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Aloruh（SHEIN）的采集核心是可暂停、可恢复的人机协同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4BE9FDB-B28F-4388-B7A2-D1209677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Use负责操作真实浏览器；用户本人负责登录与验证码；采集器只导出公开商品卡片和必要详情。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96D4E9-1E72-4107-816F-820F2542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metric-目录页完成">
            <a:extLst xmlns:a="http://schemas.openxmlformats.org/drawingml/2006/main">
              <a:ext uri="{FF2B5EF4-FFF2-40B4-BE49-F238E27FC236}">
                <a16:creationId xmlns:a16="http://schemas.microsoft.com/office/drawing/2014/main" id="{63E4D401-C150-4B79-8D5A-9C241951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26/26</a:t>
            </a:r>
          </a:p>
        </p:txBody>
      </p:sp>
      <p:sp>
        <p:nvSpPr>
          <p:cNvPr id="6" name="metric-label-目录页完成">
            <a:extLst xmlns:a="http://schemas.openxmlformats.org/drawingml/2006/main">
              <a:ext uri="{FF2B5EF4-FFF2-40B4-BE49-F238E27FC236}">
                <a16:creationId xmlns:a16="http://schemas.microsoft.com/office/drawing/2014/main" id="{31DFD2FC-0B88-47B0-AE62-5424DC39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目录页完成</a:t>
            </a:r>
          </a:p>
        </p:txBody>
      </p:sp>
      <p:sp>
        <p:nvSpPr>
          <p:cNvPr id="7" name="metric-原始商品卡片">
            <a:extLst xmlns:a="http://schemas.openxmlformats.org/drawingml/2006/main">
              <a:ext uri="{FF2B5EF4-FFF2-40B4-BE49-F238E27FC236}">
                <a16:creationId xmlns:a16="http://schemas.microsoft.com/office/drawing/2014/main" id="{836962D2-076A-45E0-8EB4-564821BD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428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3,006</a:t>
            </a:r>
          </a:p>
        </p:txBody>
      </p:sp>
      <p:sp>
        <p:nvSpPr>
          <p:cNvPr id="8" name="metric-label-原始商品卡片">
            <a:extLst xmlns:a="http://schemas.openxmlformats.org/drawingml/2006/main">
              <a:ext uri="{FF2B5EF4-FFF2-40B4-BE49-F238E27FC236}">
                <a16:creationId xmlns:a16="http://schemas.microsoft.com/office/drawing/2014/main" id="{45E722F9-47DA-4162-A3F7-2BFC77F3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原始商品卡片</a:t>
            </a:r>
          </a:p>
        </p:txBody>
      </p:sp>
      <p:sp>
        <p:nvSpPr>
          <p:cNvPr id="9" name="metric-抽样商品详情">
            <a:extLst xmlns:a="http://schemas.openxmlformats.org/drawingml/2006/main">
              <a:ext uri="{FF2B5EF4-FFF2-40B4-BE49-F238E27FC236}">
                <a16:creationId xmlns:a16="http://schemas.microsoft.com/office/drawing/2014/main" id="{7B1A1CA3-89EF-4BAB-92C4-40F5256F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metric-label-抽样商品详情">
            <a:extLst xmlns:a="http://schemas.openxmlformats.org/drawingml/2006/main">
              <a:ext uri="{FF2B5EF4-FFF2-40B4-BE49-F238E27FC236}">
                <a16:creationId xmlns:a16="http://schemas.microsoft.com/office/drawing/2014/main" id="{8840FF40-4291-49B3-81AD-DBCE093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57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抽样商品详情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F05A902-44DF-4FDE-95AC-F3FB8861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63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导出文件明确不包含 cookies、tokens、headers、credentials 或风险参数。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ACDFD24C-9C98-4C61-BF74-610055D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flow-arrow">
            <a:extLst xmlns:a="http://schemas.openxmlformats.org/drawingml/2006/main">
              <a:ext uri="{FF2B5EF4-FFF2-40B4-BE49-F238E27FC236}">
                <a16:creationId xmlns:a16="http://schemas.microsoft.com/office/drawing/2014/main" id="{40491C62-6A40-4B04-A4D0-0020910E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flow-arrow">
            <a:extLst xmlns:a="http://schemas.openxmlformats.org/drawingml/2006/main">
              <a:ext uri="{FF2B5EF4-FFF2-40B4-BE49-F238E27FC236}">
                <a16:creationId xmlns:a16="http://schemas.microsoft.com/office/drawing/2014/main" id="{2C72EC5A-7786-47D8-B826-4BD39829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flow-arrow">
            <a:extLst xmlns:a="http://schemas.openxmlformats.org/drawingml/2006/main">
              <a:ext uri="{FF2B5EF4-FFF2-40B4-BE49-F238E27FC236}">
                <a16:creationId xmlns:a16="http://schemas.microsoft.com/office/drawing/2014/main" id="{2DA271FF-4D91-4EA7-A4F4-B588FF22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arrow">
            <a:extLst xmlns:a="http://schemas.openxmlformats.org/drawingml/2006/main">
              <a:ext uri="{FF2B5EF4-FFF2-40B4-BE49-F238E27FC236}">
                <a16:creationId xmlns:a16="http://schemas.microsoft.com/office/drawing/2014/main" id="{6D500E7F-4FBA-4F14-AF6A-024A93F2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638550"/>
            <a:ext cx="20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73618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shein-step-0">
            <a:extLst xmlns:a="http://schemas.openxmlformats.org/drawingml/2006/main">
              <a:ext uri="{FF2B5EF4-FFF2-40B4-BE49-F238E27FC236}">
                <a16:creationId xmlns:a16="http://schemas.microsoft.com/office/drawing/2014/main" id="{BDA88DE3-A0C1-45E6-9BD4-170F7733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804447B-6E91-4B44-9A46-AF985B17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D548AAC-84DD-45A0-8328-5452DBCD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打开真实会话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F2696A-5856-4780-9DD7-AE5325C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Browser Use进入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SHEIN SG Aloruh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品牌排序页</a:t>
            </a:r>
          </a:p>
        </p:txBody>
      </p:sp>
      <p:sp>
        <p:nvSpPr>
          <p:cNvPr id="21" name="shein-step-1">
            <a:extLst xmlns:a="http://schemas.openxmlformats.org/drawingml/2006/main">
              <a:ext uri="{FF2B5EF4-FFF2-40B4-BE49-F238E27FC236}">
                <a16:creationId xmlns:a16="http://schemas.microsoft.com/office/drawing/2014/main" id="{4E9E5FD5-15C6-4531-99FA-845F79A0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163CAF1-3B7C-4225-BAE7-60A278A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2D75F2AD-3202-4D20-A632-8BAAD490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人工过验证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DD68718-10AF-4E9D-8474-710BEAD7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用户本人登录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并处理验证码/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风险验证</a:t>
            </a:r>
          </a:p>
        </p:txBody>
      </p:sp>
      <p:sp>
        <p:nvSpPr>
          <p:cNvPr id="25" name="shein-step-2">
            <a:extLst xmlns:a="http://schemas.openxmlformats.org/drawingml/2006/main">
              <a:ext uri="{FF2B5EF4-FFF2-40B4-BE49-F238E27FC236}">
                <a16:creationId xmlns:a16="http://schemas.microsoft.com/office/drawing/2014/main" id="{5828C07A-7126-4053-BC47-A4B4D95A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FB4B06A-210D-4767-A021-F0D07729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C9F3B2D-A1E5-45AF-A303-AE7A7407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逐页取卡片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55C3FF1-F064-4DBF-8DEB-2D7967AE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page=1…26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提取商品ID、价格、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分类、销量文案、图片URL</a:t>
            </a:r>
          </a:p>
        </p:txBody>
      </p:sp>
      <p:sp>
        <p:nvSpPr>
          <p:cNvPr id="29" name="shein-step-3">
            <a:extLst xmlns:a="http://schemas.openxmlformats.org/drawingml/2006/main">
              <a:ext uri="{FF2B5EF4-FFF2-40B4-BE49-F238E27FC236}">
                <a16:creationId xmlns:a16="http://schemas.microsoft.com/office/drawing/2014/main" id="{06544D07-5810-4415-A2E4-1F2616D3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9DFE9B7-0F5B-42F0-B28E-23F0A04E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AC13C334-1368-484A-B660-C9F71363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每页写检查点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F8ED125-DEFF-46BC-BE29-269086DD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记录已完成页码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遇风险拦截即停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保留partial文件</a:t>
            </a:r>
          </a:p>
        </p:txBody>
      </p:sp>
      <p:sp>
        <p:nvSpPr>
          <p:cNvPr id="33" name="shein-step-4">
            <a:extLst xmlns:a="http://schemas.openxmlformats.org/drawingml/2006/main">
              <a:ext uri="{FF2B5EF4-FFF2-40B4-BE49-F238E27FC236}">
                <a16:creationId xmlns:a16="http://schemas.microsoft.com/office/drawing/2014/main" id="{4B524497-2B5D-448C-8CD7-FE844B82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E71AB3F-0ED1-4C1A-88F9-61D2A248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7F05A0C-6C76-4690-9CAB-6BF59D78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补必要详情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A1A904E9-146B-442E-8636-29305D7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对150个目标商品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读取尺码、颜色、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更完整图片序列</a:t>
            </a:r>
          </a:p>
        </p:txBody>
      </p:sp>
      <p:sp>
        <p:nvSpPr>
          <p:cNvPr id="37" name="shein-step-5">
            <a:extLst xmlns:a="http://schemas.openxmlformats.org/drawingml/2006/main">
              <a:ext uri="{FF2B5EF4-FFF2-40B4-BE49-F238E27FC236}">
                <a16:creationId xmlns:a16="http://schemas.microsoft.com/office/drawing/2014/main" id="{85BE270F-D544-4256-9DF0-D17DC4CE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47950"/>
            <a:ext cx="1714500" cy="23812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E34E86DB-0468-444C-A66D-300A4BE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194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BE4CBA0-DF1D-45E2-887E-52710B9F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81350"/>
            <a:ext cx="140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导出可审计原始层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B9334522-5586-43D1-81E7-58D34489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771900"/>
            <a:ext cx="1409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目录页、商品组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失败记录、采集状态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全部保留</a:t>
            </a:r>
          </a:p>
        </p:txBody>
      </p:sp>
      <p:sp>
        <p:nvSpPr>
          <p:cNvPr id="41" name="box">
            <a:extLst xmlns:a="http://schemas.openxmlformats.org/drawingml/2006/main">
              <a:ext uri="{FF2B5EF4-FFF2-40B4-BE49-F238E27FC236}">
                <a16:creationId xmlns:a16="http://schemas.microsoft.com/office/drawing/2014/main" id="{2FF6D624-11BD-4A2B-890E-9968A376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144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11D7BB87-FEF6-4A11-AA74-95C1200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恢复策略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B5945458-B3B6-4004-B3F8-76C6FAF7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8640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风险拦截时不伪装成功：保留最后完成页、失败页和原因；人工解除验证后从检查点继续，再合并新旧卡片。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DDD00602-B9B8-4C9F-9830-7A20CC14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DD776980-4760-4E32-AEA9-1B38A024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311898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C1D93EBD-099B-4699-B8B1-599A9CF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1 → 2 · DATA MOVEMENT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432B88-DD11-468B-BF19-89B9AA6F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快的是URL索引；高清下载与AI推理只在需要时发生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B1B82CE-338A-4295-9824-4689D75F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把“商品元数据、图片URL、图片文件、AI结果”拆成不同层，才能快速更新、精确去重并控制费用。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080028-116C-48CB-95F7-82D1E9E2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D9992CBB-6C57-4636-AB40-EF2D9FF7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0A757117-025D-4740-923E-DD333AFA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62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data-lane-0">
            <a:extLst xmlns:a="http://schemas.openxmlformats.org/drawingml/2006/main">
              <a:ext uri="{FF2B5EF4-FFF2-40B4-BE49-F238E27FC236}">
                <a16:creationId xmlns:a16="http://schemas.microsoft.com/office/drawing/2014/main" id="{E3D1CC87-9DFD-4CAB-A9A6-3B265B88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6BE061A-DEFC-446D-AA91-3707E893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 / URL INDEX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9BC015B-8E0D-4936-A1CC-FCBED57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官方响应已经带 image_urls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D2F5140-3F3D-4F20-B071-6E3904DE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5F1F87-8BD7-46CF-946B-7B772B85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本地展开为 images_*.jsonl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键：store_id＋product_id＋position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计算 url_sha256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不下载图片文件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因此可以快速形成全量索引</a:t>
            </a:r>
          </a:p>
        </p:txBody>
      </p:sp>
      <p:sp>
        <p:nvSpPr>
          <p:cNvPr id="12" name="data-lane-1">
            <a:extLst xmlns:a="http://schemas.openxmlformats.org/drawingml/2006/main">
              <a:ext uri="{FF2B5EF4-FFF2-40B4-BE49-F238E27FC236}">
                <a16:creationId xmlns:a16="http://schemas.microsoft.com/office/drawing/2014/main" id="{00C985D5-A60B-40C7-B7EC-21E0769F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2E2C2C-D3AD-4770-A2EF-7E129B8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 / NORMALIZED DB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7312320-B8CF-4593-BB8A-099890A2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去重后进入SQLite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D9E9589E-0771-44D3-A50F-37A04357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A6D5B7D-D483-43E2-A37C-000DD8F7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商品ID去重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店铺内 source_url 唯一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同URL分析一次并复用结果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15维标签拆入查询表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UI只分页读取需要的行</a:t>
            </a:r>
          </a:p>
        </p:txBody>
      </p:sp>
      <p:sp>
        <p:nvSpPr>
          <p:cNvPr id="17" name="data-lane-2">
            <a:extLst xmlns:a="http://schemas.openxmlformats.org/drawingml/2006/main">
              <a:ext uri="{FF2B5EF4-FFF2-40B4-BE49-F238E27FC236}">
                <a16:creationId xmlns:a16="http://schemas.microsoft.com/office/drawing/2014/main" id="{BA31A45B-C923-4ADB-86FE-D04BB98E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619250"/>
            <a:ext cx="3429000" cy="34861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3C1BE1F4-154A-43F1-B0BA-A90A81B6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478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 / HD + AI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6F4872A0-DF86-4AE5-AAAA-D5258587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6695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付费分析才取高清字节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7B6AF40B-0973-476F-A68C-2404FB70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C033728-0BEC-472B-965B-19FF886B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952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尝试去缩略图URL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校验公网主机、格式、尺寸和SHA256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整体报告任务共享 _image_cache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缓存损坏或不达高清门槛才重下</a:t>
            </a:r>
          </a:p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随后由Sol读取detail=high</a:t>
            </a:r>
          </a:p>
        </p:txBody>
      </p:sp>
      <p:sp>
        <p:nvSpPr>
          <p:cNvPr id="22" name="box">
            <a:extLst xmlns:a="http://schemas.openxmlformats.org/drawingml/2006/main">
              <a:ext uri="{FF2B5EF4-FFF2-40B4-BE49-F238E27FC236}">
                <a16:creationId xmlns:a16="http://schemas.microsoft.com/office/drawing/2014/main" id="{A9302F74-C929-4281-88F9-663C56C6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91150"/>
            <a:ext cx="10515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3077C656-17BF-4D48-B258-7DB36141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05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关键边界：url_sha256只证明“URL已索引”；content_sha256或缓存SHA256才证明“图片字节已下载并校验”。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8AAAA586-1253-48F1-9C6D-4FBC3843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">
            <a:extLst xmlns:a="http://schemas.openxmlformats.org/drawingml/2006/main">
              <a:ext uri="{FF2B5EF4-FFF2-40B4-BE49-F238E27FC236}">
                <a16:creationId xmlns:a16="http://schemas.microsoft.com/office/drawing/2014/main" id="{648FB861-A571-4313-AA9C-C4BE5197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190173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06946280-0459-4176-BCCA-09590921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NORMALIZATION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388A11-A128-43D4-8E92-004CF407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标准化数据层：不同来源被压成同一套商品、图片与15维标签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FA1607-BAD8-45D0-AEE5-7C3613FF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每张图片保留 store_id / product_id / position / source_url；每个维度保存标签与置信度。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564A64-3A6A-4028-9597-1766AD3A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0EE10B78-6091-4C64-94C2-EE86E5BD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0D29AD70-42FE-4B24-982A-FE62260A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BC20F681-6A77-4606-BC87-8CFEFD31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ABD1A36C-D1D4-4738-814A-04430EE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8595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579FD010-4DAA-40E8-B50E-2B4F496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D29C8EA-D7FB-4F2E-BCD3-FC74F07D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原始来源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C0214D82-BD8D-4555-AFCB-36C24001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476E26F-5BA7-4DFE-8976-6CA69FB4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商品JSONL</a:t>
            </a:r>
          </a:p>
        </p:txBody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D5067AC5-1B96-4BA6-B40E-E1CCA1FE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1881A30-B159-48DB-A2A9-24129FEA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图片JSONL</a:t>
            </a:r>
          </a:p>
        </p:txBody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EE32262D-48C7-4728-B450-665D9E47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351949B-B586-4CE5-8D63-4EDF087A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URL/内容去重</a:t>
            </a:r>
          </a:p>
        </p:txBody>
      </p:sp>
      <p:sp>
        <p:nvSpPr>
          <p:cNvPr id="17" name="box">
            <a:extLst xmlns:a="http://schemas.openxmlformats.org/drawingml/2006/main">
              <a:ext uri="{FF2B5EF4-FFF2-40B4-BE49-F238E27FC236}">
                <a16:creationId xmlns:a16="http://schemas.microsoft.com/office/drawing/2014/main" id="{3520B534-D4AF-4E8A-8A34-727F136F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76400"/>
            <a:ext cx="1981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98B8564-076A-4090-9B0A-6A823B39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SQLite索引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319019E-BF38-4336-8D27-5776A693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 DIMENSIONS / FASHION-IMAGE-V2</a:t>
            </a:r>
          </a:p>
        </p:txBody>
      </p:sp>
      <p:sp>
        <p:nvSpPr>
          <p:cNvPr id="20" name="rule">
            <a:extLst xmlns:a="http://schemas.openxmlformats.org/drawingml/2006/main">
              <a:ext uri="{FF2B5EF4-FFF2-40B4-BE49-F238E27FC236}">
                <a16:creationId xmlns:a16="http://schemas.microsoft.com/office/drawing/2014/main" id="{9FF4A253-B54C-457B-9D04-F4404E34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46D4E05-41C2-4DB9-B52F-8F7ED0A2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商品属性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BDDA9E0-AFB7-40D8-8DD1-A3C61C32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01 商品类别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02 廓形与版型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03 设计元素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04 穿着场合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09 材质纹理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 色彩图案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29C683F1-D078-4E85-B9AB-E1563067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B37DADF-27B8-4766-87B9-33B5D3F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镜头与呈现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C838BE3-F38D-497D-962F-D6CDE909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05 构图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06 视角动作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07 卖点部位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08 拍摄场景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13 光线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14 模特状态</a:t>
            </a:r>
          </a:p>
        </p:txBody>
      </p:sp>
      <p:sp>
        <p:nvSpPr>
          <p:cNvPr id="26" name="rule">
            <a:extLst xmlns:a="http://schemas.openxmlformats.org/drawingml/2006/main">
              <a:ext uri="{FF2B5EF4-FFF2-40B4-BE49-F238E27FC236}">
                <a16:creationId xmlns:a16="http://schemas.microsoft.com/office/drawing/2014/main" id="{9ABADAB2-FE0E-4BC4-8A8F-895105AE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3333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14F3A1A1-80F4-4794-A54E-FDC86586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290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风格与版面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6BAE472-8D4F-47A0-9F89-6E71F68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238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11 视觉语言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12 搭配方式</a:t>
            </a:r>
          </a:p>
          <a:p xmlns:a="http://schemas.openxmlformats.org/drawingml/2006/main">
            <a:pPr algn="l">
              <a:def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 图文叠加</a:t>
            </a:r>
          </a:p>
        </p:txBody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D3F7D8E5-F8F6-4C3E-B9E9-AD64C9E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0877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957DC2B7-E2A9-46A8-93A5-3A40C2B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20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标签可多值 · 商品类别单值 · 每维都有 confidence · 新增图片可按固定字典增量分析</a:t>
            </a:r>
          </a:p>
        </p:txBody>
      </p:sp>
      <p:sp>
        <p:nvSpPr>
          <p:cNvPr id="31" name="rule">
            <a:extLst xmlns:a="http://schemas.openxmlformats.org/drawingml/2006/main">
              <a:ext uri="{FF2B5EF4-FFF2-40B4-BE49-F238E27FC236}">
                <a16:creationId xmlns:a16="http://schemas.microsoft.com/office/drawing/2014/main" id="{E28E599E-0704-4554-8249-FF32074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ooter">
            <a:extLst xmlns:a="http://schemas.openxmlformats.org/drawingml/2006/main">
              <a:ext uri="{FF2B5EF4-FFF2-40B4-BE49-F238E27FC236}">
                <a16:creationId xmlns:a16="http://schemas.microsoft.com/office/drawing/2014/main" id="{9D672B8A-E8F3-4EA5-BF74-703A4211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796834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">
            <a:extLst xmlns:a="http://schemas.openxmlformats.org/drawingml/2006/main">
              <a:ext uri="{FF2B5EF4-FFF2-40B4-BE49-F238E27FC236}">
                <a16:creationId xmlns:a16="http://schemas.microsoft.com/office/drawing/2014/main" id="{155F4F59-706A-4C19-8BCD-C8BC922E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1/2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067C49-5A85-48ED-B51A-D0485F01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15维不是抽象概念：前8维把商品与镜头变成可组合条件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155C0C9-9821-4BD6-BEC8-3DF83553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每个例子都来自 fashion-image-v2 的受控标签字典；UI显示中文，数据库保存稳定英文代码。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CB64122-8C15-4354-8042-9144E060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imension-index-01">
            <a:extLst xmlns:a="http://schemas.openxmlformats.org/drawingml/2006/main">
              <a:ext uri="{FF2B5EF4-FFF2-40B4-BE49-F238E27FC236}">
                <a16:creationId xmlns:a16="http://schemas.microsoft.com/office/drawing/2014/main" id="{694DF3F1-DB41-4CB7-936D-2EE666D6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dimension-title-01">
            <a:extLst xmlns:a="http://schemas.openxmlformats.org/drawingml/2006/main">
              <a:ext uri="{FF2B5EF4-FFF2-40B4-BE49-F238E27FC236}">
                <a16:creationId xmlns:a16="http://schemas.microsoft.com/office/drawing/2014/main" id="{6CA291AD-6AF2-4191-AD1A-E77478A8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 / product_category</a:t>
            </a:r>
          </a:p>
        </p:txBody>
      </p:sp>
      <p:sp>
        <p:nvSpPr>
          <p:cNvPr id="7" name="dimension-tags-01">
            <a:extLst xmlns:a="http://schemas.openxmlformats.org/drawingml/2006/main">
              <a:ext uri="{FF2B5EF4-FFF2-40B4-BE49-F238E27FC236}">
                <a16:creationId xmlns:a16="http://schemas.microsoft.com/office/drawing/2014/main" id="{73030D6A-4E68-4B7F-B3AA-29858599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上衣 · 半身裙 · 连衣裙 · 套装</a:t>
            </a:r>
          </a:p>
        </p:txBody>
      </p:sp>
      <p:sp>
        <p:nvSpPr>
          <p:cNvPr id="8" name="dimension-note-01">
            <a:extLst xmlns:a="http://schemas.openxmlformats.org/drawingml/2006/main">
              <a:ext uri="{FF2B5EF4-FFF2-40B4-BE49-F238E27FC236}">
                <a16:creationId xmlns:a16="http://schemas.microsoft.com/office/drawing/2014/main" id="{5D49973E-BA03-4A0C-BB70-8E7A8C54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先回答主售商品是什么；这是唯一必须单值的维度。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52BB7E11-F7F0-408E-9882-44444D5C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02">
            <a:extLst xmlns:a="http://schemas.openxmlformats.org/drawingml/2006/main">
              <a:ext uri="{FF2B5EF4-FFF2-40B4-BE49-F238E27FC236}">
                <a16:creationId xmlns:a16="http://schemas.microsoft.com/office/drawing/2014/main" id="{C2E837A5-9E6C-4E7F-B1E9-BB84E788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dimension-title-02">
            <a:extLst xmlns:a="http://schemas.openxmlformats.org/drawingml/2006/main">
              <a:ext uri="{FF2B5EF4-FFF2-40B4-BE49-F238E27FC236}">
                <a16:creationId xmlns:a16="http://schemas.microsoft.com/office/drawing/2014/main" id="{EF16FE70-6CD0-48D7-8DD7-59018AAB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廓形版型 / silhouette_fit</a:t>
            </a:r>
          </a:p>
        </p:txBody>
      </p:sp>
      <p:sp>
        <p:nvSpPr>
          <p:cNvPr id="12" name="dimension-tags-02">
            <a:extLst xmlns:a="http://schemas.openxmlformats.org/drawingml/2006/main">
              <a:ext uri="{FF2B5EF4-FFF2-40B4-BE49-F238E27FC236}">
                <a16:creationId xmlns:a16="http://schemas.microsoft.com/office/drawing/2014/main" id="{673D751B-C2CC-49EB-B725-2F7B7470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修身包体 · 宽松 · A字廓形 · 紧身胸衣式</a:t>
            </a:r>
          </a:p>
        </p:txBody>
      </p:sp>
      <p:sp>
        <p:nvSpPr>
          <p:cNvPr id="13" name="dimension-note-02">
            <a:extLst xmlns:a="http://schemas.openxmlformats.org/drawingml/2006/main">
              <a:ext uri="{FF2B5EF4-FFF2-40B4-BE49-F238E27FC236}">
                <a16:creationId xmlns:a16="http://schemas.microsoft.com/office/drawing/2014/main" id="{B6D6EECD-4805-4A2C-9976-DDE64741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用于比较贴体、宽松、A字与结构塑形的展示差异。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EBCB54DF-AEA3-4B17-840A-F9774652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03">
            <a:extLst xmlns:a="http://schemas.openxmlformats.org/drawingml/2006/main">
              <a:ext uri="{FF2B5EF4-FFF2-40B4-BE49-F238E27FC236}">
                <a16:creationId xmlns:a16="http://schemas.microsoft.com/office/drawing/2014/main" id="{E97D2F3B-8D16-4CB6-BDE4-20286841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imension-title-03">
            <a:extLst xmlns:a="http://schemas.openxmlformats.org/drawingml/2006/main">
              <a:ext uri="{FF2B5EF4-FFF2-40B4-BE49-F238E27FC236}">
                <a16:creationId xmlns:a16="http://schemas.microsoft.com/office/drawing/2014/main" id="{9A87602A-2612-486A-9D7B-036F6958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设计元素 / design_elements</a:t>
            </a:r>
          </a:p>
        </p:txBody>
      </p:sp>
      <p:sp>
        <p:nvSpPr>
          <p:cNvPr id="17" name="dimension-tags-03">
            <a:extLst xmlns:a="http://schemas.openxmlformats.org/drawingml/2006/main">
              <a:ext uri="{FF2B5EF4-FFF2-40B4-BE49-F238E27FC236}">
                <a16:creationId xmlns:a16="http://schemas.microsoft.com/office/drawing/2014/main" id="{A0432746-10FC-4AF8-946D-52C57ABC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露背 · 镂空 · 褶皱 · 压褶</a:t>
            </a:r>
          </a:p>
        </p:txBody>
      </p:sp>
      <p:sp>
        <p:nvSpPr>
          <p:cNvPr id="18" name="dimension-note-03">
            <a:extLst xmlns:a="http://schemas.openxmlformats.org/drawingml/2006/main">
              <a:ext uri="{FF2B5EF4-FFF2-40B4-BE49-F238E27FC236}">
                <a16:creationId xmlns:a16="http://schemas.microsoft.com/office/drawing/2014/main" id="{328B78A2-7A32-4898-8765-EF8D345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把露背、挖空、褶皱、压褶等具体结构显式化。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EE326ABB-D7DD-4E4C-AB4C-9943A81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04">
            <a:extLst xmlns:a="http://schemas.openxmlformats.org/drawingml/2006/main">
              <a:ext uri="{FF2B5EF4-FFF2-40B4-BE49-F238E27FC236}">
                <a16:creationId xmlns:a16="http://schemas.microsoft.com/office/drawing/2014/main" id="{210370C5-6D19-44FE-B205-C0593F14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dimension-title-04">
            <a:extLst xmlns:a="http://schemas.openxmlformats.org/drawingml/2006/main">
              <a:ext uri="{FF2B5EF4-FFF2-40B4-BE49-F238E27FC236}">
                <a16:creationId xmlns:a16="http://schemas.microsoft.com/office/drawing/2014/main" id="{BC72927C-DFB9-4891-A5DC-C585A52D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穿着场合 / occasion</a:t>
            </a:r>
          </a:p>
        </p:txBody>
      </p:sp>
      <p:sp>
        <p:nvSpPr>
          <p:cNvPr id="22" name="dimension-tags-04">
            <a:extLst xmlns:a="http://schemas.openxmlformats.org/drawingml/2006/main">
              <a:ext uri="{FF2B5EF4-FFF2-40B4-BE49-F238E27FC236}">
                <a16:creationId xmlns:a16="http://schemas.microsoft.com/office/drawing/2014/main" id="{0F65ABA2-C1C7-4CBF-8766-FC0A2850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日常 · 外出聚会 · 度假 · 婚礼宾客</a:t>
            </a:r>
          </a:p>
        </p:txBody>
      </p:sp>
      <p:sp>
        <p:nvSpPr>
          <p:cNvPr id="23" name="dimension-note-04">
            <a:extLst xmlns:a="http://schemas.openxmlformats.org/drawingml/2006/main">
              <a:ext uri="{FF2B5EF4-FFF2-40B4-BE49-F238E27FC236}">
                <a16:creationId xmlns:a16="http://schemas.microsoft.com/office/drawing/2014/main" id="{C44662FA-F708-4672-ABDA-A8AC845B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描述服装适用语境，不等于照片实际拍摄地点。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E2FD9548-7084-4F7A-A0FF-CEDBDD2A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05">
            <a:extLst xmlns:a="http://schemas.openxmlformats.org/drawingml/2006/main">
              <a:ext uri="{FF2B5EF4-FFF2-40B4-BE49-F238E27FC236}">
                <a16:creationId xmlns:a16="http://schemas.microsoft.com/office/drawing/2014/main" id="{93C22536-10F7-4674-AB06-E0A1DE14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imension-title-05">
            <a:extLst xmlns:a="http://schemas.openxmlformats.org/drawingml/2006/main">
              <a:ext uri="{FF2B5EF4-FFF2-40B4-BE49-F238E27FC236}">
                <a16:creationId xmlns:a16="http://schemas.microsoft.com/office/drawing/2014/main" id="{F5C340A5-DC7A-4D02-A63E-C251D637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画面构图 / composition</a:t>
            </a:r>
          </a:p>
        </p:txBody>
      </p:sp>
      <p:sp>
        <p:nvSpPr>
          <p:cNvPr id="27" name="dimension-tags-05">
            <a:extLst xmlns:a="http://schemas.openxmlformats.org/drawingml/2006/main">
              <a:ext uri="{FF2B5EF4-FFF2-40B4-BE49-F238E27FC236}">
                <a16:creationId xmlns:a16="http://schemas.microsoft.com/office/drawing/2014/main" id="{6DCDA43B-6862-471D-B253-FA33811D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全身 · 近景 · 细节特写 · 纯商品图</a:t>
            </a:r>
          </a:p>
        </p:txBody>
      </p:sp>
      <p:sp>
        <p:nvSpPr>
          <p:cNvPr id="28" name="dimension-note-05">
            <a:extLst xmlns:a="http://schemas.openxmlformats.org/drawingml/2006/main">
              <a:ext uri="{FF2B5EF4-FFF2-40B4-BE49-F238E27FC236}">
                <a16:creationId xmlns:a16="http://schemas.microsoft.com/office/drawing/2014/main" id="{ACACEB53-2C51-4041-BC7D-3CA531B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区分全身、近景、细节与无模特商品图。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2E1E981E-05BF-43FD-9829-F37BCA68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06">
            <a:extLst xmlns:a="http://schemas.openxmlformats.org/drawingml/2006/main">
              <a:ext uri="{FF2B5EF4-FFF2-40B4-BE49-F238E27FC236}">
                <a16:creationId xmlns:a16="http://schemas.microsoft.com/office/drawing/2014/main" id="{FB368B44-7A6C-4C0E-BAA3-C5FFF3F4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dimension-title-06">
            <a:extLst xmlns:a="http://schemas.openxmlformats.org/drawingml/2006/main">
              <a:ext uri="{FF2B5EF4-FFF2-40B4-BE49-F238E27FC236}">
                <a16:creationId xmlns:a16="http://schemas.microsoft.com/office/drawing/2014/main" id="{AE10A82F-C65D-408C-B61D-5C92864F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视角动作 / view_action</a:t>
            </a:r>
          </a:p>
        </p:txBody>
      </p:sp>
      <p:sp>
        <p:nvSpPr>
          <p:cNvPr id="32" name="dimension-tags-06">
            <a:extLst xmlns:a="http://schemas.openxmlformats.org/drawingml/2006/main">
              <a:ext uri="{FF2B5EF4-FFF2-40B4-BE49-F238E27FC236}">
                <a16:creationId xmlns:a16="http://schemas.microsoft.com/office/drawing/2014/main" id="{15BCA22F-D56E-41BB-AA45-26A8F9A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正面 · 背面 · 行走 · 镜面自拍</a:t>
            </a:r>
          </a:p>
        </p:txBody>
      </p:sp>
      <p:sp>
        <p:nvSpPr>
          <p:cNvPr id="33" name="dimension-note-06">
            <a:extLst xmlns:a="http://schemas.openxmlformats.org/drawingml/2006/main">
              <a:ext uri="{FF2B5EF4-FFF2-40B4-BE49-F238E27FC236}">
                <a16:creationId xmlns:a16="http://schemas.microsoft.com/office/drawing/2014/main" id="{F55C411A-950B-4D68-B2AF-A74295B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把正面、背面、行走与自拍等观看方式固定下来。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0863B956-CDEE-4B1F-A594-2BAA2687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07">
            <a:extLst xmlns:a="http://schemas.openxmlformats.org/drawingml/2006/main">
              <a:ext uri="{FF2B5EF4-FFF2-40B4-BE49-F238E27FC236}">
                <a16:creationId xmlns:a16="http://schemas.microsoft.com/office/drawing/2014/main" id="{39A00511-3F5A-44C0-965B-706934ED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6" name="dimension-title-07">
            <a:extLst xmlns:a="http://schemas.openxmlformats.org/drawingml/2006/main">
              <a:ext uri="{FF2B5EF4-FFF2-40B4-BE49-F238E27FC236}">
                <a16:creationId xmlns:a16="http://schemas.microsoft.com/office/drawing/2014/main" id="{508DDF74-99A9-407C-9EEB-EB8FCCC0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卖点部位 / selling_points</a:t>
            </a:r>
          </a:p>
        </p:txBody>
      </p:sp>
      <p:sp>
        <p:nvSpPr>
          <p:cNvPr id="37" name="dimension-tags-07">
            <a:extLst xmlns:a="http://schemas.openxmlformats.org/drawingml/2006/main">
              <a:ext uri="{FF2B5EF4-FFF2-40B4-BE49-F238E27FC236}">
                <a16:creationId xmlns:a16="http://schemas.microsoft.com/office/drawing/2014/main" id="{19D7009D-4CC0-4425-9ECE-2AF20562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领口 · 腰胯 · 面料纹理 · 整体造型</a:t>
            </a:r>
          </a:p>
        </p:txBody>
      </p:sp>
      <p:sp>
        <p:nvSpPr>
          <p:cNvPr id="38" name="dimension-note-07">
            <a:extLst xmlns:a="http://schemas.openxmlformats.org/drawingml/2006/main">
              <a:ext uri="{FF2B5EF4-FFF2-40B4-BE49-F238E27FC236}">
                <a16:creationId xmlns:a16="http://schemas.microsoft.com/office/drawing/2014/main" id="{0D2079D8-BF33-48F2-B3E3-C7D1AFA2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记录镜头主要在解释领口、腰胯、面料还是整套造型。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E851EB9E-33C3-47B4-B238-BD138F7A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imension-index-08">
            <a:extLst xmlns:a="http://schemas.openxmlformats.org/drawingml/2006/main">
              <a:ext uri="{FF2B5EF4-FFF2-40B4-BE49-F238E27FC236}">
                <a16:creationId xmlns:a16="http://schemas.microsoft.com/office/drawing/2014/main" id="{DF34BED1-5712-45B9-8447-7331846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1" name="dimension-title-08">
            <a:extLst xmlns:a="http://schemas.openxmlformats.org/drawingml/2006/main">
              <a:ext uri="{FF2B5EF4-FFF2-40B4-BE49-F238E27FC236}">
                <a16:creationId xmlns:a16="http://schemas.microsoft.com/office/drawing/2014/main" id="{2A5E9DE3-7C47-4FB6-9C45-0E34C4D8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拍摄场景 / scene</a:t>
            </a:r>
          </a:p>
        </p:txBody>
      </p:sp>
      <p:sp>
        <p:nvSpPr>
          <p:cNvPr id="42" name="dimension-tags-08">
            <a:extLst xmlns:a="http://schemas.openxmlformats.org/drawingml/2006/main">
              <a:ext uri="{FF2B5EF4-FFF2-40B4-BE49-F238E27FC236}">
                <a16:creationId xmlns:a16="http://schemas.microsoft.com/office/drawing/2014/main" id="{65BC85A0-076F-4815-9C09-92AD76D5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中性棚拍 · 街道 · 海滩 · 建筑空间</a:t>
            </a:r>
          </a:p>
        </p:txBody>
      </p:sp>
      <p:sp>
        <p:nvSpPr>
          <p:cNvPr id="43" name="dimension-note-08">
            <a:extLst xmlns:a="http://schemas.openxmlformats.org/drawingml/2006/main">
              <a:ext uri="{FF2B5EF4-FFF2-40B4-BE49-F238E27FC236}">
                <a16:creationId xmlns:a16="http://schemas.microsoft.com/office/drawing/2014/main" id="{7AD5157B-8C6C-40A1-A42E-0BE66DE5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描述图片真实背景：棚拍、街道、海滩或建筑空间。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51688EA5-E8F6-454B-8FC8-4BC1B3BD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rule">
            <a:extLst xmlns:a="http://schemas.openxmlformats.org/drawingml/2006/main">
              <a:ext uri="{FF2B5EF4-FFF2-40B4-BE49-F238E27FC236}">
                <a16:creationId xmlns:a16="http://schemas.microsoft.com/office/drawing/2014/main" id="{1D30467D-0013-438F-AEF9-D12D9E6A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footer">
            <a:extLst xmlns:a="http://schemas.openxmlformats.org/drawingml/2006/main">
              <a:ext uri="{FF2B5EF4-FFF2-40B4-BE49-F238E27FC236}">
                <a16:creationId xmlns:a16="http://schemas.microsoft.com/office/drawing/2014/main" id="{8F29D146-FC43-4BB6-8CCC-0B121A94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413655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eyebrow">
            <a:extLst xmlns:a="http://schemas.openxmlformats.org/drawingml/2006/main">
              <a:ext uri="{FF2B5EF4-FFF2-40B4-BE49-F238E27FC236}">
                <a16:creationId xmlns:a16="http://schemas.microsoft.com/office/drawing/2014/main" id="{1D613103-4D9F-4615-A607-B1BC157B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TAXONOMY EXAMPLES 2/2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9AABFB-6BCB-4183-8CDC-E61ADA39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后7维补足材质、视觉语言与版面信号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C53C84B-2D8B-40AD-942C-764231B9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同一张图可在大多数维度返回多个标签，但每个维度都必须给出标签数组和0–1置信度。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7715D82-7402-4596-B784-8B16814D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dimension-index-09">
            <a:extLst xmlns:a="http://schemas.openxmlformats.org/drawingml/2006/main">
              <a:ext uri="{FF2B5EF4-FFF2-40B4-BE49-F238E27FC236}">
                <a16:creationId xmlns:a16="http://schemas.microsoft.com/office/drawing/2014/main" id="{A21ACDED-6B69-46A5-9D54-C24E625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dimension-title-09">
            <a:extLst xmlns:a="http://schemas.openxmlformats.org/drawingml/2006/main">
              <a:ext uri="{FF2B5EF4-FFF2-40B4-BE49-F238E27FC236}">
                <a16:creationId xmlns:a16="http://schemas.microsoft.com/office/drawing/2014/main" id="{02F4BD03-BBC0-4BAD-BE55-FDB38811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材质纹理 / material_texture</a:t>
            </a:r>
          </a:p>
        </p:txBody>
      </p:sp>
      <p:sp>
        <p:nvSpPr>
          <p:cNvPr id="7" name="dimension-tags-09">
            <a:extLst xmlns:a="http://schemas.openxmlformats.org/drawingml/2006/main">
              <a:ext uri="{FF2B5EF4-FFF2-40B4-BE49-F238E27FC236}">
                <a16:creationId xmlns:a16="http://schemas.microsoft.com/office/drawing/2014/main" id="{08560DD7-1A93-4DB1-BF7D-522127A4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针织 · 蕾丝 · 缎面感 · 牛仔</a:t>
            </a:r>
          </a:p>
        </p:txBody>
      </p:sp>
      <p:sp>
        <p:nvSpPr>
          <p:cNvPr id="8" name="dimension-note-09">
            <a:extLst xmlns:a="http://schemas.openxmlformats.org/drawingml/2006/main">
              <a:ext uri="{FF2B5EF4-FFF2-40B4-BE49-F238E27FC236}">
                <a16:creationId xmlns:a16="http://schemas.microsoft.com/office/drawing/2014/main" id="{28C1C6E2-87B1-434C-AF3B-A180190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只标记肉眼可见或标题明确支持的纹理，不猜测纤维成分。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5B42E8AE-3428-4554-8F4D-59AF1246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imension-index-10">
            <a:extLst xmlns:a="http://schemas.openxmlformats.org/drawingml/2006/main">
              <a:ext uri="{FF2B5EF4-FFF2-40B4-BE49-F238E27FC236}">
                <a16:creationId xmlns:a16="http://schemas.microsoft.com/office/drawing/2014/main" id="{E0349A7C-DEDF-4AE2-92D4-CDD8D408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1" name="dimension-title-10">
            <a:extLst xmlns:a="http://schemas.openxmlformats.org/drawingml/2006/main">
              <a:ext uri="{FF2B5EF4-FFF2-40B4-BE49-F238E27FC236}">
                <a16:creationId xmlns:a16="http://schemas.microsoft.com/office/drawing/2014/main" id="{AD4D2DB8-580A-42C1-932F-F17D440F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色彩图案 / color_pattern</a:t>
            </a:r>
          </a:p>
        </p:txBody>
      </p:sp>
      <p:sp>
        <p:nvSpPr>
          <p:cNvPr id="12" name="dimension-tags-10">
            <a:extLst xmlns:a="http://schemas.openxmlformats.org/drawingml/2006/main">
              <a:ext uri="{FF2B5EF4-FFF2-40B4-BE49-F238E27FC236}">
                <a16:creationId xmlns:a16="http://schemas.microsoft.com/office/drawing/2014/main" id="{1BF1EA83-28B1-47DB-A7D2-6B2B20BD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黑色 · 红色 · 花卉图案 · 纯色</a:t>
            </a:r>
          </a:p>
        </p:txBody>
      </p:sp>
      <p:sp>
        <p:nvSpPr>
          <p:cNvPr id="13" name="dimension-note-10">
            <a:extLst xmlns:a="http://schemas.openxmlformats.org/drawingml/2006/main">
              <a:ext uri="{FF2B5EF4-FFF2-40B4-BE49-F238E27FC236}">
                <a16:creationId xmlns:a16="http://schemas.microsoft.com/office/drawing/2014/main" id="{3B01E75A-FD12-42FD-AACE-924CE9D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颜色与图案可以并存，例如红色＋纯色。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9865E62B-2C61-4027-998F-22BFF559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imension-index-11">
            <a:extLst xmlns:a="http://schemas.openxmlformats.org/drawingml/2006/main">
              <a:ext uri="{FF2B5EF4-FFF2-40B4-BE49-F238E27FC236}">
                <a16:creationId xmlns:a16="http://schemas.microsoft.com/office/drawing/2014/main" id="{E55D0A59-D4F9-4713-BCA1-527F2E83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6" name="dimension-title-11">
            <a:extLst xmlns:a="http://schemas.openxmlformats.org/drawingml/2006/main">
              <a:ext uri="{FF2B5EF4-FFF2-40B4-BE49-F238E27FC236}">
                <a16:creationId xmlns:a16="http://schemas.microsoft.com/office/drawing/2014/main" id="{3B33EE79-2D0C-401E-99C8-9F5DBB8A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视觉语言 / visual_language</a:t>
            </a:r>
          </a:p>
        </p:txBody>
      </p:sp>
      <p:sp>
        <p:nvSpPr>
          <p:cNvPr id="17" name="dimension-tags-11">
            <a:extLst xmlns:a="http://schemas.openxmlformats.org/drawingml/2006/main">
              <a:ext uri="{FF2B5EF4-FFF2-40B4-BE49-F238E27FC236}">
                <a16:creationId xmlns:a16="http://schemas.microsoft.com/office/drawing/2014/main" id="{EC2F88DC-ABB0-4520-A7A9-4FF7EF60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干净电商风 · 编辑大片感 · 社交UGC · 直接闪光</a:t>
            </a:r>
          </a:p>
        </p:txBody>
      </p:sp>
      <p:sp>
        <p:nvSpPr>
          <p:cNvPr id="18" name="dimension-note-11">
            <a:extLst xmlns:a="http://schemas.openxmlformats.org/drawingml/2006/main">
              <a:ext uri="{FF2B5EF4-FFF2-40B4-BE49-F238E27FC236}">
                <a16:creationId xmlns:a16="http://schemas.microsoft.com/office/drawing/2014/main" id="{6F52D1A7-0EEB-4AAC-B800-DE729258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描述商业棚拍、编辑感、社交UGC或直接闪光等表达。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BCA06B31-DF6E-4F8E-AA04-D9B0FFE14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imension-index-12">
            <a:extLst xmlns:a="http://schemas.openxmlformats.org/drawingml/2006/main">
              <a:ext uri="{FF2B5EF4-FFF2-40B4-BE49-F238E27FC236}">
                <a16:creationId xmlns:a16="http://schemas.microsoft.com/office/drawing/2014/main" id="{E64F878F-6308-4BD6-8FF0-9FD4922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1" name="dimension-title-12">
            <a:extLst xmlns:a="http://schemas.openxmlformats.org/drawingml/2006/main">
              <a:ext uri="{FF2B5EF4-FFF2-40B4-BE49-F238E27FC236}">
                <a16:creationId xmlns:a16="http://schemas.microsoft.com/office/drawing/2014/main" id="{B9004DBA-1738-43E8-9F76-4E2F6F49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搭配方式 / styling</a:t>
            </a:r>
          </a:p>
        </p:txBody>
      </p:sp>
      <p:sp>
        <p:nvSpPr>
          <p:cNvPr id="22" name="dimension-tags-12">
            <a:extLst xmlns:a="http://schemas.openxmlformats.org/drawingml/2006/main">
              <a:ext uri="{FF2B5EF4-FFF2-40B4-BE49-F238E27FC236}">
                <a16:creationId xmlns:a16="http://schemas.microsoft.com/office/drawing/2014/main" id="{C1890E75-ED53-450A-AA58-535D2E8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单品展示 · 完整造型 · 叠穿 · 手袋</a:t>
            </a:r>
          </a:p>
        </p:txBody>
      </p:sp>
      <p:sp>
        <p:nvSpPr>
          <p:cNvPr id="23" name="dimension-note-12">
            <a:extLst xmlns:a="http://schemas.openxmlformats.org/drawingml/2006/main">
              <a:ext uri="{FF2B5EF4-FFF2-40B4-BE49-F238E27FC236}">
                <a16:creationId xmlns:a16="http://schemas.microsoft.com/office/drawing/2014/main" id="{D4679F5E-CEAA-43B4-98DC-BF793180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记录单品、整套、叠穿以及可见配饰如何参与画面。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BFAB978A-C960-4991-8601-1507B029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dimension-index-13">
            <a:extLst xmlns:a="http://schemas.openxmlformats.org/drawingml/2006/main">
              <a:ext uri="{FF2B5EF4-FFF2-40B4-BE49-F238E27FC236}">
                <a16:creationId xmlns:a16="http://schemas.microsoft.com/office/drawing/2014/main" id="{DFB16C1B-F74E-4D6B-A608-6FF40A29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6" name="dimension-title-13">
            <a:extLst xmlns:a="http://schemas.openxmlformats.org/drawingml/2006/main">
              <a:ext uri="{FF2B5EF4-FFF2-40B4-BE49-F238E27FC236}">
                <a16:creationId xmlns:a16="http://schemas.microsoft.com/office/drawing/2014/main" id="{D8249FCD-5788-49FA-84DA-4926887E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049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光线 / lighting</a:t>
            </a:r>
          </a:p>
        </p:txBody>
      </p:sp>
      <p:sp>
        <p:nvSpPr>
          <p:cNvPr id="27" name="dimension-tags-13">
            <a:extLst xmlns:a="http://schemas.openxmlformats.org/drawingml/2006/main">
              <a:ext uri="{FF2B5EF4-FFF2-40B4-BE49-F238E27FC236}">
                <a16:creationId xmlns:a16="http://schemas.microsoft.com/office/drawing/2014/main" id="{742B26F8-3A8A-4C95-97BC-6F92D5DF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478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柔和漫射光 · 自然日光 · 直接闪光 · 低调暗光</a:t>
            </a:r>
          </a:p>
        </p:txBody>
      </p:sp>
      <p:sp>
        <p:nvSpPr>
          <p:cNvPr id="28" name="dimension-note-13">
            <a:extLst xmlns:a="http://schemas.openxmlformats.org/drawingml/2006/main">
              <a:ext uri="{FF2B5EF4-FFF2-40B4-BE49-F238E27FC236}">
                <a16:creationId xmlns:a16="http://schemas.microsoft.com/office/drawing/2014/main" id="{FD8A1C94-8F16-4503-8FF7-2A75BE3F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把柔光、自然光、直闪和低调照明拆成独立可筛选信号。</a:t>
            </a:r>
          </a:p>
        </p:txBody>
      </p:sp>
      <p:sp>
        <p:nvSpPr>
          <p:cNvPr id="29" name="rule">
            <a:extLst xmlns:a="http://schemas.openxmlformats.org/drawingml/2006/main">
              <a:ext uri="{FF2B5EF4-FFF2-40B4-BE49-F238E27FC236}">
                <a16:creationId xmlns:a16="http://schemas.microsoft.com/office/drawing/2014/main" id="{592EA86D-57BB-4931-9E6D-CC9C5423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imension-index-14">
            <a:extLst xmlns:a="http://schemas.openxmlformats.org/drawingml/2006/main">
              <a:ext uri="{FF2B5EF4-FFF2-40B4-BE49-F238E27FC236}">
                <a16:creationId xmlns:a16="http://schemas.microsoft.com/office/drawing/2014/main" id="{9512FCD1-B2BC-495D-AF57-0B5AF3F3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05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1" name="dimension-title-14">
            <a:extLst xmlns:a="http://schemas.openxmlformats.org/drawingml/2006/main">
              <a:ext uri="{FF2B5EF4-FFF2-40B4-BE49-F238E27FC236}">
                <a16:creationId xmlns:a16="http://schemas.microsoft.com/office/drawing/2014/main" id="{963E569A-CCDF-4C05-9E0D-557C854C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模特状态 / model_state</a:t>
            </a:r>
          </a:p>
        </p:txBody>
      </p:sp>
      <p:sp>
        <p:nvSpPr>
          <p:cNvPr id="32" name="dimension-tags-14">
            <a:extLst xmlns:a="http://schemas.openxmlformats.org/drawingml/2006/main">
              <a:ext uri="{FF2B5EF4-FFF2-40B4-BE49-F238E27FC236}">
                <a16:creationId xmlns:a16="http://schemas.microsoft.com/office/drawing/2014/main" id="{348D4669-CCC8-4931-8A25-CE24943D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无模特 · 站立姿势 · 视线偏离镜头 · 面部裁切</a:t>
            </a:r>
          </a:p>
        </p:txBody>
      </p:sp>
      <p:sp>
        <p:nvSpPr>
          <p:cNvPr id="33" name="dimension-note-14">
            <a:extLst xmlns:a="http://schemas.openxmlformats.org/drawingml/2006/main">
              <a:ext uri="{FF2B5EF4-FFF2-40B4-BE49-F238E27FC236}">
                <a16:creationId xmlns:a16="http://schemas.microsoft.com/office/drawing/2014/main" id="{639AB0F8-55EC-45CB-A647-53D8AC4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只记录姿态与可见状态，不推断身份、健康或吸引力。</a:t>
            </a:r>
          </a:p>
        </p:txBody>
      </p:sp>
      <p:sp>
        <p:nvSpPr>
          <p:cNvPr id="34" name="rule">
            <a:extLst xmlns:a="http://schemas.openxmlformats.org/drawingml/2006/main">
              <a:ext uri="{FF2B5EF4-FFF2-40B4-BE49-F238E27FC236}">
                <a16:creationId xmlns:a16="http://schemas.microsoft.com/office/drawing/2014/main" id="{65792FA0-36CE-42A2-BBFD-0696505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dimension-index-15">
            <a:extLst xmlns:a="http://schemas.openxmlformats.org/drawingml/2006/main">
              <a:ext uri="{FF2B5EF4-FFF2-40B4-BE49-F238E27FC236}">
                <a16:creationId xmlns:a16="http://schemas.microsoft.com/office/drawing/2014/main" id="{DF3712BA-51E1-4B1C-8C59-5BD161C2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6" name="dimension-title-15">
            <a:extLst xmlns:a="http://schemas.openxmlformats.org/drawingml/2006/main">
              <a:ext uri="{FF2B5EF4-FFF2-40B4-BE49-F238E27FC236}">
                <a16:creationId xmlns:a16="http://schemas.microsoft.com/office/drawing/2014/main" id="{F6CD1570-CB30-4887-BABA-BF3A6C66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671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图文叠加 / graphic_overlay</a:t>
            </a:r>
          </a:p>
        </p:txBody>
      </p:sp>
      <p:sp>
        <p:nvSpPr>
          <p:cNvPr id="37" name="dimension-tags-15">
            <a:extLst xmlns:a="http://schemas.openxmlformats.org/drawingml/2006/main">
              <a:ext uri="{FF2B5EF4-FFF2-40B4-BE49-F238E27FC236}">
                <a16:creationId xmlns:a16="http://schemas.microsoft.com/office/drawing/2014/main" id="{5FFA96CC-C0A7-4F9C-A1CF-2279B96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无叠加 · 文字叠加 · 拼贴 · Logo水印</a:t>
            </a:r>
          </a:p>
        </p:txBody>
      </p:sp>
      <p:sp>
        <p:nvSpPr>
          <p:cNvPr id="38" name="dimension-note-15">
            <a:extLst xmlns:a="http://schemas.openxmlformats.org/drawingml/2006/main">
              <a:ext uri="{FF2B5EF4-FFF2-40B4-BE49-F238E27FC236}">
                <a16:creationId xmlns:a16="http://schemas.microsoft.com/office/drawing/2014/main" id="{8B87ECE4-9F11-474D-A427-27053FD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识别纯图、文字、拼贴、Logo水印等版面处理。</a:t>
            </a:r>
          </a:p>
        </p:txBody>
      </p:sp>
      <p:sp>
        <p:nvSpPr>
          <p:cNvPr id="39" name="rule">
            <a:extLst xmlns:a="http://schemas.openxmlformats.org/drawingml/2006/main">
              <a:ext uri="{FF2B5EF4-FFF2-40B4-BE49-F238E27FC236}">
                <a16:creationId xmlns:a16="http://schemas.microsoft.com/office/drawing/2014/main" id="{763BD647-231A-414E-B6CF-75135EE0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33950"/>
            <a:ext cx="527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box">
            <a:extLst xmlns:a="http://schemas.openxmlformats.org/drawingml/2006/main">
              <a:ext uri="{FF2B5EF4-FFF2-40B4-BE49-F238E27FC236}">
                <a16:creationId xmlns:a16="http://schemas.microsoft.com/office/drawing/2014/main" id="{AF4DBC33-6C3D-4F6E-ADE2-721D64C9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52768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CB0DF695-A7BA-4730-A607-77207142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959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D4F2"/>
                </a:solidFill>
                <a:latin typeface="Microsoft YaHei"/>
                <a:ea typeface="Microsoft YaHei"/>
                <a:cs typeface="Microsoft YaHei"/>
              </a:rPr>
              <a:t>“无法判断”规则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98D1B596-3935-424E-BC82-58768D1E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6007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看不清就返回“无法判断”（UNKNOWN），不再返回其他标签。</a:t>
            </a:r>
          </a:p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漏图、重复图或非法标签会被程序拒绝。</a:t>
            </a:r>
          </a:p>
        </p:txBody>
      </p:sp>
      <p:sp>
        <p:nvSpPr>
          <p:cNvPr id="43" name="rule">
            <a:extLst xmlns:a="http://schemas.openxmlformats.org/drawingml/2006/main">
              <a:ext uri="{FF2B5EF4-FFF2-40B4-BE49-F238E27FC236}">
                <a16:creationId xmlns:a16="http://schemas.microsoft.com/office/drawing/2014/main" id="{D5E8FB37-C89D-44AD-BF5A-98852B8F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">
            <a:extLst xmlns:a="http://schemas.openxmlformats.org/drawingml/2006/main">
              <a:ext uri="{FF2B5EF4-FFF2-40B4-BE49-F238E27FC236}">
                <a16:creationId xmlns:a16="http://schemas.microsoft.com/office/drawing/2014/main" id="{8EBB7360-1932-4966-9296-CD668472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725920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yebrow">
            <a:extLst xmlns:a="http://schemas.openxmlformats.org/drawingml/2006/main">
              <a:ext uri="{FF2B5EF4-FFF2-40B4-BE49-F238E27FC236}">
                <a16:creationId xmlns:a16="http://schemas.microsoft.com/office/drawing/2014/main" id="{D295739C-0EE7-4134-AC76-A2C4D330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→ 3 · AI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85903B-6471-499D-9E19-57090217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Terra负责“可查询标签”，Sol负责“可交付结论”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F274B7C-0D77-44F9-B68F-A44C1850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两层模型共享图片键与证据上下文，但输入清晰度、触发时机、输出结构和成本完全不同。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478462-CD1C-46DD-90AC-FE66994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model-lane-0">
            <a:extLst xmlns:a="http://schemas.openxmlformats.org/drawingml/2006/main">
              <a:ext uri="{FF2B5EF4-FFF2-40B4-BE49-F238E27FC236}">
                <a16:creationId xmlns:a16="http://schemas.microsoft.com/office/drawing/2014/main" id="{8AE2CCEA-1560-46A5-A3CA-0E2D1B50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1C8D185-B8FB-4CC3-A58A-B4BB1A2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GPT-5.6-TERRA / BATCH TAGGING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00801D3-951F-43E1-9D16-FEF0013B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批量15维分类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FF33062-ACFF-43B6-8B56-E84BEE9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5E461D-4B3D-4CCC-8112-23531B27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图片URL＋标题＋当前分类＋位置；detail=low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13AC37-B744-4782-88FE-BF7C1588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113A8C8-9A43-4AE3-8004-36291EE7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默认8图/批、8个worker；只处理未分析且URL去重后的图片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D101A18-AC20-4B84-AF1E-760CE6D2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3C0ADD1-4AED-4CC2-BCA6-91FB53CA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受控字典＋可见证据边界＋UNKNOWN＋主售商品规则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5B25C72-FC61-41E2-B62A-9FCA3992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95819DA-4714-475F-813A-96D7754E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15组tags＋15个confidence；strict JSON Schema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145E989-FB5C-4872-8DC9-D8E244BB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E5334AF-E5C4-49B5-8600-C7DAB8C4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增量检查点、4次重试、策略拦截拆批、图片索引校验</a:t>
            </a:r>
          </a:p>
        </p:txBody>
      </p:sp>
      <p:sp>
        <p:nvSpPr>
          <p:cNvPr id="18" name="model-lane-1">
            <a:extLst xmlns:a="http://schemas.openxmlformats.org/drawingml/2006/main">
              <a:ext uri="{FF2B5EF4-FFF2-40B4-BE49-F238E27FC236}">
                <a16:creationId xmlns:a16="http://schemas.microsoft.com/office/drawing/2014/main" id="{DF7A7E7D-007C-4A36-B73D-B99F3D01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334000" cy="4076700"/>
          </a:xfrm>
          <a:prstGeom xmlns:a="http://schemas.openxmlformats.org/drawingml/2006/main" prst="roundRect">
            <a:avLst>
              <a:gd name="adj" fmla="val 186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223C903-22CD-4BA1-96B9-775D47DE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GPT-5.6-SOL / PAID DEEP ANALYSIS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B284155-38B3-4B93-9348-1530115B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09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按需高清精读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BC6B7C4-B95E-426E-9F17-3D7EC66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7812DD9-4EE2-43BD-895B-8AEB4CD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575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高清文件＋店铺/商品/品类＋固定筛选条件；detail=high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7737EE3-9416-4D15-8504-8E2ACC01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09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9260489-7D8D-4AD5-8FE3-39AE6960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909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体验1点击付费分析；体验2启动整体报告专项分析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13AF7FA-737E-4CD5-982C-B7A5CD6B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43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Prompt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CC9E0C1-86DF-453D-A468-778F1CD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243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先写可见事实，再解释；每个判断必须有visible_cue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635ECF7-F25A-4460-839B-705DF370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767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B9E8D5A0-7C78-40CC-98C8-2AA6E4B4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4577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逐图观察、优缺点、建议、证据；再汇总店铺与Section结论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0955ABDC-86B0-41E8-A8A6-53AEAC1B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质控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88186414-CE1A-4486-B8BA-755AF1CE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991100"/>
            <a:ext cx="417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不写CTR/CVR因果；校验图片ID、品牌归属与Section数量</a:t>
            </a:r>
          </a:p>
        </p:txBody>
      </p:sp>
      <p:sp>
        <p:nvSpPr>
          <p:cNvPr id="31" name="box">
            <a:extLst xmlns:a="http://schemas.openxmlformats.org/drawingml/2006/main">
              <a:ext uri="{FF2B5EF4-FFF2-40B4-BE49-F238E27FC236}">
                <a16:creationId xmlns:a16="http://schemas.microsoft.com/office/drawing/2014/main" id="{128F1DCF-B789-484F-8DCE-D9CD701E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0297438-F667-4780-821C-051E7966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先用Terra把数万张图变成检索空间；只有用户明确付费时，才让Sol读取高清图并写结论。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6783A3B9-897F-4B1B-805D-CB8B917E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footer">
            <a:extLst xmlns:a="http://schemas.openxmlformats.org/drawingml/2006/main">
              <a:ext uri="{FF2B5EF4-FFF2-40B4-BE49-F238E27FC236}">
                <a16:creationId xmlns:a16="http://schemas.microsoft.com/office/drawing/2014/main" id="{2EC346D2-5756-4B0A-B0C7-0B41CF25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3704908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7F7BC27A-6998-4FB0-AAB3-68E6C5BD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2 · TERRA PROMPT EXAMPLES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A63EE7-9BA1-45E3-A29F-74BD3816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不同维度要问不同问题，不能只说“分析图片”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E340A0F-621E-4B7D-90D7-C4DA096B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Terra把15维拆成三组可回答的问题；下面是发送给模型的中文化Prompt示例。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DB0D72-2167-4671-BEAC-634C38DD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prompt-example-0">
            <a:extLst xmlns:a="http://schemas.openxmlformats.org/drawingml/2006/main">
              <a:ext uri="{FF2B5EF4-FFF2-40B4-BE49-F238E27FC236}">
                <a16:creationId xmlns:a16="http://schemas.microsoft.com/office/drawing/2014/main" id="{C886CBCF-2E3C-43DC-A988-D75BA31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1106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ompt-example-index-0">
            <a:extLst xmlns:a="http://schemas.openxmlformats.org/drawingml/2006/main">
              <a:ext uri="{FF2B5EF4-FFF2-40B4-BE49-F238E27FC236}">
                <a16:creationId xmlns:a16="http://schemas.microsoft.com/office/drawing/2014/main" id="{9A922491-42E4-4811-9F1B-72C6C60E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rompt-example-title-0">
            <a:extLst xmlns:a="http://schemas.openxmlformats.org/drawingml/2006/main">
              <a:ext uri="{FF2B5EF4-FFF2-40B4-BE49-F238E27FC236}">
                <a16:creationId xmlns:a16="http://schemas.microsoft.com/office/drawing/2014/main" id="{0669A94B-C4DD-4334-AFD7-323969B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商品本身</a:t>
            </a:r>
          </a:p>
        </p:txBody>
      </p:sp>
      <p:sp>
        <p:nvSpPr>
          <p:cNvPr id="8" name="prompt-example-dimensions-0">
            <a:extLst xmlns:a="http://schemas.openxmlformats.org/drawingml/2006/main">
              <a:ext uri="{FF2B5EF4-FFF2-40B4-BE49-F238E27FC236}">
                <a16:creationId xmlns:a16="http://schemas.microsoft.com/office/drawing/2014/main" id="{35A653DA-C81C-4E12-A15E-7DEDB2FF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8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商品类别 · 廓形版型 · 设计元素 · 材质纹理 · 色彩图案</a:t>
            </a:r>
          </a:p>
        </p:txBody>
      </p:sp>
      <p:sp>
        <p:nvSpPr>
          <p:cNvPr id="9" name="prompt-example-body-0">
            <a:extLst xmlns:a="http://schemas.openxmlformats.org/drawingml/2006/main">
              <a:ext uri="{FF2B5EF4-FFF2-40B4-BE49-F238E27FC236}">
                <a16:creationId xmlns:a16="http://schemas.microsoft.com/office/drawing/2014/main" id="{5C5664E8-E1CB-435F-9AE7-00A50F50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716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“先找出画面中的主售服装。判断它属于上衣、半身裙、连衣裙或套装中的哪一类；再根据可见轮廓、结构、纹理、颜色和图案选择标签。只标画面或标题能支持的内容，不猜纤维成分。”</a:t>
            </a:r>
          </a:p>
        </p:txBody>
      </p:sp>
      <p:sp>
        <p:nvSpPr>
          <p:cNvPr id="10" name="prompt-example-1">
            <a:extLst xmlns:a="http://schemas.openxmlformats.org/drawingml/2006/main">
              <a:ext uri="{FF2B5EF4-FFF2-40B4-BE49-F238E27FC236}">
                <a16:creationId xmlns:a16="http://schemas.microsoft.com/office/drawing/2014/main" id="{E73E154C-5158-4EF7-9318-46293872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0"/>
            <a:ext cx="11106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mpt-example-index-1">
            <a:extLst xmlns:a="http://schemas.openxmlformats.org/drawingml/2006/main">
              <a:ext uri="{FF2B5EF4-FFF2-40B4-BE49-F238E27FC236}">
                <a16:creationId xmlns:a16="http://schemas.microsoft.com/office/drawing/2014/main" id="{010A6C8F-F1F6-4700-8470-3F8CB20A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prompt-example-title-1">
            <a:extLst xmlns:a="http://schemas.openxmlformats.org/drawingml/2006/main">
              <a:ext uri="{FF2B5EF4-FFF2-40B4-BE49-F238E27FC236}">
                <a16:creationId xmlns:a16="http://schemas.microsoft.com/office/drawing/2014/main" id="{3AC88769-EC66-4B26-8F0B-2BC56D6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图片怎么拍</a:t>
            </a:r>
          </a:p>
        </p:txBody>
      </p:sp>
      <p:sp>
        <p:nvSpPr>
          <p:cNvPr id="13" name="prompt-example-dimensions-1">
            <a:extLst xmlns:a="http://schemas.openxmlformats.org/drawingml/2006/main">
              <a:ext uri="{FF2B5EF4-FFF2-40B4-BE49-F238E27FC236}">
                <a16:creationId xmlns:a16="http://schemas.microsoft.com/office/drawing/2014/main" id="{DD4DFC5F-F8F7-403E-8752-72C1AF19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08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画面构图 · 视角动作 · 卖点部位 · 拍摄场景 · 光线 · 模特状态</a:t>
            </a:r>
          </a:p>
        </p:txBody>
      </p:sp>
      <p:sp>
        <p:nvSpPr>
          <p:cNvPr id="14" name="prompt-example-body-1">
            <a:extLst xmlns:a="http://schemas.openxmlformats.org/drawingml/2006/main">
              <a:ext uri="{FF2B5EF4-FFF2-40B4-BE49-F238E27FC236}">
                <a16:creationId xmlns:a16="http://schemas.microsoft.com/office/drawing/2014/main" id="{3C50C157-285E-4880-A0CD-439716FC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623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“判断图片是全身、近景、细节还是纯商品图；记录正面、背面、行走等视角动作；再识别镜头强调的部位、实际场景、光线与模特状态。不要用图片序号推断正背面。”</a:t>
            </a:r>
          </a:p>
        </p:txBody>
      </p:sp>
      <p:sp>
        <p:nvSpPr>
          <p:cNvPr id="15" name="prompt-example-2">
            <a:extLst xmlns:a="http://schemas.openxmlformats.org/drawingml/2006/main">
              <a:ext uri="{FF2B5EF4-FFF2-40B4-BE49-F238E27FC236}">
                <a16:creationId xmlns:a16="http://schemas.microsoft.com/office/drawing/2014/main" id="{A80CF2D9-584A-4A43-9ED3-CFC4AF0B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43400"/>
            <a:ext cx="111061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mpt-example-index-2">
            <a:extLst xmlns:a="http://schemas.openxmlformats.org/drawingml/2006/main">
              <a:ext uri="{FF2B5EF4-FFF2-40B4-BE49-F238E27FC236}">
                <a16:creationId xmlns:a16="http://schemas.microsoft.com/office/drawing/2014/main" id="{763D2728-DFC6-4D24-A6B6-7CE2F32E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prompt-example-title-2">
            <a:extLst xmlns:a="http://schemas.openxmlformats.org/drawingml/2006/main">
              <a:ext uri="{FF2B5EF4-FFF2-40B4-BE49-F238E27FC236}">
                <a16:creationId xmlns:a16="http://schemas.microsoft.com/office/drawing/2014/main" id="{9429E6A7-6656-48D6-9371-E1F9AD0E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语境与表达</a:t>
            </a:r>
          </a:p>
        </p:txBody>
      </p:sp>
      <p:sp>
        <p:nvSpPr>
          <p:cNvPr id="18" name="prompt-example-dimensions-2">
            <a:extLst xmlns:a="http://schemas.openxmlformats.org/drawingml/2006/main">
              <a:ext uri="{FF2B5EF4-FFF2-40B4-BE49-F238E27FC236}">
                <a16:creationId xmlns:a16="http://schemas.microsoft.com/office/drawing/2014/main" id="{ECE1D31A-5071-4020-B9ED-57CE9647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穿着场合 · 视觉语言 · 搭配方式 · 图文叠加</a:t>
            </a:r>
          </a:p>
        </p:txBody>
      </p:sp>
      <p:sp>
        <p:nvSpPr>
          <p:cNvPr id="19" name="prompt-example-body-2">
            <a:extLst xmlns:a="http://schemas.openxmlformats.org/drawingml/2006/main">
              <a:ext uri="{FF2B5EF4-FFF2-40B4-BE49-F238E27FC236}">
                <a16:creationId xmlns:a16="http://schemas.microsoft.com/office/drawing/2014/main" id="{8A061358-A1AF-4CBB-92BC-10BC1C1E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5529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“分别判断衣服适合的场合和照片实际拍摄的场景——两者不能混为一谈；再判断视觉风格、搭配方式和是否有文字、拼贴或Logo水印。看不清就返回“无法判断”。”</a:t>
            </a:r>
          </a:p>
        </p:txBody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D45A71B7-4C31-4CB6-B552-46C8E093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168FB70-13A6-4CD9-BAF8-3DA9F442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51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每一维都返回：词典内标签＋0–1置信度；不在词典内的标签、漏维度或重复图片会被程序拒绝。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E9705E1C-8C55-44B2-AFA7-B8485C41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2FD7DC62-03E6-41FB-9682-AF92C729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2008382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725CFFF-5ACA-463A-A265-0DD6F201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 · SOL PROMPT EXAMPLES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51494F-17E5-4A02-B5C5-FE7417E0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Sol把选中的图片变成可核验结论，不负责重新分类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F73D06-CD03-479B-B3DE-B2360356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它只在用户点击分析或启动整体报告时运行；每个判断都必须引用具体图片和肉眼可见的线索。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C43C77-3965-498F-AA93-19A96A0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prompt-体验1 / 回答当前筛选问题">
            <a:extLst xmlns:a="http://schemas.openxmlformats.org/drawingml/2006/main">
              <a:ext uri="{FF2B5EF4-FFF2-40B4-BE49-F238E27FC236}">
                <a16:creationId xmlns:a16="http://schemas.microsoft.com/office/drawing/2014/main" id="{FB921487-16CE-430B-87BA-9FA67D94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53340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B780711-702D-41D3-A619-E0868EEA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体验1 / 回答当前筛选问题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C6F5D7E-029F-4145-8F8B-B4C6BFFD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49530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输入：用户选择的维度组合＋手动勾选的高清图片。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Prompt示例：你正在分析“上衣 × 度假”。对每张图：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  先写能直接看到的构图、场景、动作、光线与搭配；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  说明这些线索是否强化“度假”表达；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  比较不同店铺的做法；</a:t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  每个判断引用图片ID和具体可见线索。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输出：逐图解释＋店铺差异＋可执行建议。</a:t>
            </a:r>
          </a:p>
        </p:txBody>
      </p:sp>
      <p:sp>
        <p:nvSpPr>
          <p:cNvPr id="8" name="prompt-体验2 / 形成整体报告">
            <a:extLst xmlns:a="http://schemas.openxmlformats.org/drawingml/2006/main">
              <a:ext uri="{FF2B5EF4-FFF2-40B4-BE49-F238E27FC236}">
                <a16:creationId xmlns:a16="http://schemas.microsoft.com/office/drawing/2014/main" id="{253AE708-0A69-4F5D-BFFA-9E6ADFDE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388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982F282-C41B-4C51-9C0B-0B365907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/ 形成整体报告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0F7F4C2B-DEED-41C7-B2B1-DDA5B9D4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33600"/>
            <a:ext cx="52578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输入：Aloruh目标图片＋竞品全量15维分布＋竞品高清证据图。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Prompt示例：先分别观察每张图，再按品牌汇总：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  Princess Polly、Motel Rocks、PrettyLittleThing分别写结论；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  每条结论说明样本数、推导过程、支持图和反例图；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  汇总成五个Section，交给用户逐章审核；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4  任何结论都不能脱离输入图片或混用品牌图片。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输出：五章可审核草稿；通过后再本地排版PDF。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FDA3CECB-4D06-4671-AC16-E51C34DB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049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92D0C76-241A-46B8-94B0-128D73D2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59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一句话：Terra回答“这张图是什么标签”；Sol回答“这些图片说明了什么，为什么”。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36F477B-3B5F-4507-A3EC-8C05877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1EBF8AB2-56E1-439C-9DA8-8C0DA2BD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1188766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yebrow">
            <a:extLst xmlns:a="http://schemas.openxmlformats.org/drawingml/2006/main">
              <a:ext uri="{FF2B5EF4-FFF2-40B4-BE49-F238E27FC236}">
                <a16:creationId xmlns:a16="http://schemas.microsoft.com/office/drawing/2014/main" id="{1C166276-0961-4983-8218-D4FFDAF5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CLASSIFY + ANALYZE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C97BE6-8DB5-45F9-B7F3-FFEFEF0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体验1工作流：先用15维圈定图片集，再按需做精细分析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C3D143-8E35-4C3E-84E3-5AFD341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这是探索链路：不预先写结论，而是从维度组合进入店铺、商品与图片证据。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232A0D-EB17-486D-943C-0328411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8A633154-6255-4D42-B255-309AA5EA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ABA62D07-CF7D-496B-8C08-4E6F990B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9CD98E84-FAA2-4C23-B4EB-08D615D5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8DD1FDF9-596B-42D0-9051-351BF9FE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6CF59CB6-1657-4AF8-A910-86012139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99030164-DFC7-408D-9777-732E068E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2435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1" name="flow-01">
            <a:extLst xmlns:a="http://schemas.openxmlformats.org/drawingml/2006/main">
              <a:ext uri="{FF2B5EF4-FFF2-40B4-BE49-F238E27FC236}">
                <a16:creationId xmlns:a16="http://schemas.microsoft.com/office/drawing/2014/main" id="{5511AB07-EB4B-445D-A670-4186BF70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CF0F49E-8F78-4E72-9C78-AA15354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1147AAD-6DB3-4A8C-86C8-C5AFB9DF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选择1–N个维度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FB628E-0ADC-41A5-8F0F-7C6E98EB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从15维中自由勾选</a:t>
            </a:r>
          </a:p>
        </p:txBody>
      </p:sp>
      <p:sp>
        <p:nvSpPr>
          <p:cNvPr id="15" name="flow-02">
            <a:extLst xmlns:a="http://schemas.openxmlformats.org/drawingml/2006/main">
              <a:ext uri="{FF2B5EF4-FFF2-40B4-BE49-F238E27FC236}">
                <a16:creationId xmlns:a16="http://schemas.microsoft.com/office/drawing/2014/main" id="{C571FD91-DB09-49D7-818F-5EE7062D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CD4BEF-D6B4-4153-89C5-DE1B1F2D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2B24070-98DA-4318-8033-47900EB2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每维选择1个标签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7AEBE69-A4CC-4E5E-B6BD-B0B3B04D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例如：商品类别=上衣</a:t>
            </a:r>
          </a:p>
        </p:txBody>
      </p:sp>
      <p:sp>
        <p:nvSpPr>
          <p:cNvPr id="19" name="flow-03">
            <a:extLst xmlns:a="http://schemas.openxmlformats.org/drawingml/2006/main">
              <a:ext uri="{FF2B5EF4-FFF2-40B4-BE49-F238E27FC236}">
                <a16:creationId xmlns:a16="http://schemas.microsoft.com/office/drawing/2014/main" id="{631701B3-B63B-4711-9886-3A17DE5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B2DDABD-78E9-4E3E-8AA2-D010078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33A6AA1-BB8D-4185-9F7E-8BC792A0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组合成AND条件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1787B4-E199-4AF4-B8A4-9BB69F35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例如：上衣 AND 度假</a:t>
            </a:r>
          </a:p>
        </p:txBody>
      </p:sp>
      <p:sp>
        <p:nvSpPr>
          <p:cNvPr id="23" name="flow-04">
            <a:extLst xmlns:a="http://schemas.openxmlformats.org/drawingml/2006/main">
              <a:ext uri="{FF2B5EF4-FFF2-40B4-BE49-F238E27FC236}">
                <a16:creationId xmlns:a16="http://schemas.microsoft.com/office/drawing/2014/main" id="{530AE318-C902-473C-9479-6468A9E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6EE870A-D6BA-4192-A3CE-0F088965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8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7414B1B9-5E6A-42CA-8399-17747297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336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按店铺返回命中图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9C5FE94-2F17-4FF7-AADC-C5DB5BB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527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结果保留商品与图片键</a:t>
            </a:r>
          </a:p>
        </p:txBody>
      </p:sp>
      <p:sp>
        <p:nvSpPr>
          <p:cNvPr id="27" name="flow-05">
            <a:extLst xmlns:a="http://schemas.openxmlformats.org/drawingml/2006/main">
              <a:ext uri="{FF2B5EF4-FFF2-40B4-BE49-F238E27FC236}">
                <a16:creationId xmlns:a16="http://schemas.microsoft.com/office/drawing/2014/main" id="{D2D3232E-04F2-4802-BF0C-69B0649D5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D8357F11-F1B0-4A72-B5B7-C88660F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D5184BD-0489-43E2-96E1-A2FEF0F0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抽样或手动勾选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F9AE7CC7-8C0A-4F6C-A41B-D7455661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只选需要解释的图片</a:t>
            </a:r>
          </a:p>
        </p:txBody>
      </p:sp>
      <p:sp>
        <p:nvSpPr>
          <p:cNvPr id="31" name="flow-06">
            <a:extLst xmlns:a="http://schemas.openxmlformats.org/drawingml/2006/main">
              <a:ext uri="{FF2B5EF4-FFF2-40B4-BE49-F238E27FC236}">
                <a16:creationId xmlns:a16="http://schemas.microsoft.com/office/drawing/2014/main" id="{1CE17761-32C1-436A-9260-FC0E478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0E42CF3-D0F7-4E3E-86D8-E3A41DC5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0C0253CA-0B56-48EA-B0A4-B2EAA92F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高清校验＋Sol精读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064FEAF-408A-48F6-A6FB-D41B422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分析构图、动作与卖点</a:t>
            </a:r>
          </a:p>
        </p:txBody>
      </p:sp>
      <p:sp>
        <p:nvSpPr>
          <p:cNvPr id="35" name="flow-07">
            <a:extLst xmlns:a="http://schemas.openxmlformats.org/drawingml/2006/main">
              <a:ext uri="{FF2B5EF4-FFF2-40B4-BE49-F238E27FC236}">
                <a16:creationId xmlns:a16="http://schemas.microsoft.com/office/drawing/2014/main" id="{42575D49-1DA2-4D51-832F-6D61CD38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CECEB502-F5B6-40A6-8EE6-C60746C1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EC0FDD4-74F8-4CC5-9547-016794A5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48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形成可回查结论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E63FA5B3-89B1-41A5-93F0-F6B96E9C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67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店铺差异、支持图与建议</a:t>
            </a:r>
          </a:p>
        </p:txBody>
      </p:sp>
      <p:sp>
        <p:nvSpPr>
          <p:cNvPr id="39" name="box">
            <a:extLst xmlns:a="http://schemas.openxmlformats.org/drawingml/2006/main">
              <a:ext uri="{FF2B5EF4-FFF2-40B4-BE49-F238E27FC236}">
                <a16:creationId xmlns:a16="http://schemas.microsoft.com/office/drawing/2014/main" id="{E6BC72C5-ED26-4896-9926-2908310B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0782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176C4041-C3C3-4E1C-A505-7791D7B2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真实示例：商品类别=上衣 AND 穿着场景=度假 → 生产环境命中 3,179 张图片</a:t>
            </a:r>
          </a:p>
        </p:txBody>
      </p:sp>
      <p:sp>
        <p:nvSpPr>
          <p:cNvPr id="41" name="rule">
            <a:extLst xmlns:a="http://schemas.openxmlformats.org/drawingml/2006/main">
              <a:ext uri="{FF2B5EF4-FFF2-40B4-BE49-F238E27FC236}">
                <a16:creationId xmlns:a16="http://schemas.microsoft.com/office/drawing/2014/main" id="{FF256456-1DA4-4D57-B624-4EADF548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footer">
            <a:extLst xmlns:a="http://schemas.openxmlformats.org/drawingml/2006/main">
              <a:ext uri="{FF2B5EF4-FFF2-40B4-BE49-F238E27FC236}">
                <a16:creationId xmlns:a16="http://schemas.microsoft.com/office/drawing/2014/main" id="{24A73FC6-3417-42EE-AE2B-31409ECA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2288317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7734335-2F44-4E83-8F8B-E6991974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1/7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83D193-2502-4C70-9A51-F8D00C3A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Demo：进入维度分析，先看可用范围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1EF2DC7-7799-472D-AAB5-6AE0B50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入口先告诉用户已有25,916张分析图、15个维度，以及AND组合筛选规则。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E01279-1BB6-4676-B803-CCD73CE4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B6C7D7BE-BBC1-45EB-94D8-5AE91FE2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cf6d6b38f45f8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F0231F4-224C-46AD-A752-28332C91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DCAA4EA0-E412-4D2B-A4E8-5E7E9504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09575999-BB42-40D0-B46F-CE351BEF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进入图片维度分析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7C284EF-3E4B-49E7-99F7-04359CF2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A689670-92C1-4AF7-B50C-72F33CCE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92A53D12-007A-4ED6-8D88-CD27DB1C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确认已有分析图片规模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A51596E-C24B-43F1-84F2-94E3755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0ADFE165-17FE-4729-A752-59991557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查看15个维度与可用标签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AB0F2E8-253D-4586-93FE-D4BDFC7A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CD93D518-E040-4DD2-B56C-CCB055B4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此时还没有筛选结果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085A23FC-9256-46A4-9DB6-F5F4207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62B6FF8-8685-4B15-8280-7DC0DDE4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6667669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AE9AFB29-DAEC-4E34-8E1A-17844DD6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2/7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B7F7AF-C84E-429E-8A85-A341609E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Demo：选择需要组合的分析维度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0C386A-A681-4CFE-80DB-7A6C57C7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示例选择“商品类别”和“穿着场景”，页面同步生成两个标签下拉框。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EFABB12-13BC-41F5-BA9B-B2C25A2E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283502C4-748C-416F-879C-5AE3DCE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7e0301fa14f22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41A88D22-7364-4331-9EF9-E222E6B5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C4EB718-A9D3-4B92-AB9F-9F7AB63E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308DEB5-401B-414D-9B95-EF2B6287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勾选两个维度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F2FE2D6-81D2-4F09-B19D-81AA6850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883CC99-056B-43A6-B52D-5FB456B2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9A7B680-62E2-4F91-8AC2-3366F000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商品类别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8BE7E176-CBF3-4025-9BF1-723A01D2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2C5BE7E1-0673-48E7-8C8C-2890492B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穿着场景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E72F76D2-5BEC-4F1D-9965-5BB65225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1A46CD2-3873-4AA2-B5B6-B9D6E31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其余维度保持未选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9F47BFB-3E96-40C8-8C97-5D349F33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23E4006B-0CE4-4DA8-9448-57290150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68012967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2BF6757-BB73-4B15-B27E-68D48EE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3/7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2BC686-B28B-4A8C-A0B0-12EF9951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Demo：把标签组合成可解释的AND条件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5E5B7F3-53A1-4F09-8E40-DB42D628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商品类别=上衣，穿着场景=度假；只有同时满足两个标签的图片才会命中。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96CABD-8656-4A29-96E4-1BD6CC2D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A25B63A-2BCF-460B-B55A-38F985DC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964de4b564c4c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CF00A4F5-6FF4-4DA3-B242-D672AB62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40171E7-9D6E-4879-8AF8-6308A7EB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0575A99B-14F4-4EC0-A8A6-8DB8C841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设定“上衣 AND 度假”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D76E8E2F-3326-4C93-ADD1-970E578F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1C5C698-19D2-4934-B26A-609E3E5F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7DFC073A-8DC1-43FC-9FCE-5FD0A88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每个维度只取一个标签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F3E28B5E-C230-4E0B-9851-6B1686F2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A1DA43D7-E0EB-4AA8-B5E8-3DAFC873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条件之间使用AND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DC9B6597-272B-489C-8876-BEAEB60E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F4749505-6CE2-4C58-94AB-86A304B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生产结果即时刷新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4AAA6814-A09D-41B3-80E2-A76DAFFE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CCAA7FEC-8749-4BAC-AB95-6D018841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6833323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80CF0EC3-1372-437A-A797-53DE8CBB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4/7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4F03A0-AC07-4E6E-992D-78F7F825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Demo：结果按店铺拆分，并保留商品证据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5444FA0-4A69-4493-BFD8-C7BD6D92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生产环境命中3,179张；每张卡片都保留店铺、商品ID、标签与原图。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B3E7BC-B465-40E2-ACFE-48D0B51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ABC8B6B-F45D-4D4E-803D-C0781911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e0f18784e44e8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4D9C303-6C86-47DE-9284-535BD0F0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099462B-88F8-4F63-8DAA-0298C53F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0F46ED96-8385-4A5D-BD01-E5537101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查看匹配结果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8A70A95-285B-47B2-BC3B-8B4D7B1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D83896BE-4969-4630-AD21-43D66469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07D3613F-6CB8-44A6-A260-6DFEA9FC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命中3,179张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93E562E5-3C97-471C-B05B-B5EA7BE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E3A3149-410D-4B68-90C6-82E886A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按5家店分别展示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A69A0D1D-27A5-4CC0-B6F2-9C921BAB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3DB3F1A4-F660-46E0-8913-550BED57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可继续打开单图证据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2EB22E8D-4569-4310-91FD-92742375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0DFAD20-DF97-4944-991E-E80160A2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2854681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2676B821-D768-49E7-BB23-9A3C0436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5/7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75D1F8-1F3B-495D-9389-ABE7E94D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Demo：手动选图，确认付费分析范围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589666-4D8E-4E50-8C01-02BA4D2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勾选2张图并切换为手动选图；界面明确显示将分析1家店、2张高清图。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0DEBDB-DE51-42AE-94F0-FAFA940D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CCE6F1FB-3DFF-4F3D-B2CA-1E7650F7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f554ff3e2418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5DA549EE-569D-49BB-8B26-9DC9E298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CAAB013F-0811-4FDC-8888-1CA4A027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D21D5FBF-9400-4E4E-ACC5-A6E2EFCB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选择精读样本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F91A3C8-804D-4A40-8E8F-EB97F968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43CAE40D-49F4-4A40-956F-4BD1E8C1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DA6B5173-C998-426D-B3E4-5E43767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手动勾选2张图片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A13D387A-B282-42E8-A572-D830577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D8BD8E57-3D79-4876-986E-641ED49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确认1家店、2张高清图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5EB56144-6353-49F7-8CEC-ECA884BF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E64A1206-FDF0-4055-B0E1-A7DC9F6B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费用提示在点击前可见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1013C558-1061-4025-A82F-D5B1F758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B6B5FEB-6B47-4930-8822-BBD5B4DC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4442844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38357B54-3F59-43A5-962B-7824A1D6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6/7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69934E-93A9-4C71-8E89-FE7D8582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Demo：点击付费分析，实时查看运行状态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4DDEB4-0944-4DD2-9950-EFC69A3F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点击一次“开始精细视觉分析（付费）”后，按钮锁定并持续显示GPT-5.6 Sol任务进度。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6DC121-2A11-4DC0-8197-6BA44620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8B54B10C-878C-44BB-8C64-AC7FB372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c53142a8b49af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17FF5A40-51F0-414D-AEC6-582C1173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31FDC88-B9F9-4C9F-B6B0-F6580972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06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A484BCAB-22BA-4D5B-B669-9D840A53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启动付费分析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62A335F-3FC9-4D3C-B54B-807B3946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6ACDC251-2845-4B5D-AA77-4B5102F8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8493468-54AB-4B5F-BA85-208B8FB8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付费按钮只触发一次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5462BEE5-0B74-41AA-8216-32C25A17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3C1B02FF-4585-4D4C-8EBF-CEC03A03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运行中按钮自动锁定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840BFD06-5348-4B6A-A4D1-0B2FB71A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6C6D8755-1133-472B-A574-4866364D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实时进度显示为55%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6488CF2E-B0F1-46CF-BD3B-7913785B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D581A59-05E2-4E59-85E5-25FDFD0C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3235777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D87A8922-C906-4173-BE30-1656785C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3A · DEMO 7/7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C22406-C50C-4240-8820-76CE3DD4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体验1 Demo：结果同时给出结论、Token与费用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2B6974-771D-4882-BABC-45CA06B8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2张高清图在81.3秒内完成；页面返回总体结论、共同模式、店铺差异和逐图可验证建议。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A7A351-A15B-48A7-8E4D-3CCD2F50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B53C21B6-15A3-4D8E-BE18-DB088F6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f60c950644ad3"/>
          <a:srcRect xmlns:a="http://schemas.openxmlformats.org/drawingml/2006/main" l="0" t="35" r="0" b="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248CE3FB-8561-4978-9BEE-78F57DD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683B0AEA-CEFF-4FF8-AA12-E82BEA64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07 / 07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3A2D78A7-22D7-4998-BB68-CE9CA8D8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查看精细分析结果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FD0D7A81-19EE-4141-B18C-FB312353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BB70F75A-4CF5-4B6C-A3F1-77008959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5F106C0D-4EF2-42FF-92FC-E6935F64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2/2图片成功、无失败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7D64AD99-07DC-44BD-BE84-8D142DC5C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6ABD2F6-1281-4FD0-B111-DC02C4A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总Token 8,343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71AFD00E-3592-4B9C-8632-0790DD8F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7B23460B-6824-44CB-BEE2-11CB6581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预估费用 $0.1897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9DF4945-12CF-47A7-932E-DFEE7732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6C586141-DEB9-4778-8319-888CB881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64401060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eyebrow">
            <a:extLst xmlns:a="http://schemas.openxmlformats.org/drawingml/2006/main">
              <a:ext uri="{FF2B5EF4-FFF2-40B4-BE49-F238E27FC236}">
                <a16:creationId xmlns:a16="http://schemas.microsoft.com/office/drawing/2014/main" id="{B1C3886B-944D-4756-8D64-E225B6C0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FULL ANALYSIS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917244-47C3-4292-9DCD-464E8231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体验2工作流：目标店铺全量分析，竞品按全量分布挑选证据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1B386E7-5DC2-4D95-8FA2-A94AF334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先固定范围和证据契约；目标店铺与竞品采用不同取图规则，最终合并成同一报告底座。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26342D-F053-455C-81BF-E06BD746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flow-arrow">
            <a:extLst xmlns:a="http://schemas.openxmlformats.org/drawingml/2006/main">
              <a:ext uri="{FF2B5EF4-FFF2-40B4-BE49-F238E27FC236}">
                <a16:creationId xmlns:a16="http://schemas.microsoft.com/office/drawing/2014/main" id="{3FD9D7FA-4534-478D-9E94-FBA0055D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6" name="flow-arrow">
            <a:extLst xmlns:a="http://schemas.openxmlformats.org/drawingml/2006/main">
              <a:ext uri="{FF2B5EF4-FFF2-40B4-BE49-F238E27FC236}">
                <a16:creationId xmlns:a16="http://schemas.microsoft.com/office/drawing/2014/main" id="{FC7545DE-42B6-4199-B85A-FF766F0A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481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7" name="flow-arrow">
            <a:extLst xmlns:a="http://schemas.openxmlformats.org/drawingml/2006/main">
              <a:ext uri="{FF2B5EF4-FFF2-40B4-BE49-F238E27FC236}">
                <a16:creationId xmlns:a16="http://schemas.microsoft.com/office/drawing/2014/main" id="{59D9A439-DCA7-459B-B5EC-7DB9868D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434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flow-arrow">
            <a:extLst xmlns:a="http://schemas.openxmlformats.org/drawingml/2006/main">
              <a:ext uri="{FF2B5EF4-FFF2-40B4-BE49-F238E27FC236}">
                <a16:creationId xmlns:a16="http://schemas.microsoft.com/office/drawing/2014/main" id="{10BCAC52-FB45-4772-8C9F-5E4B0351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↘</a:t>
            </a:r>
          </a:p>
        </p:txBody>
      </p:sp>
      <p:sp>
        <p:nvSpPr>
          <p:cNvPr id="9" name="flow-arrow">
            <a:extLst xmlns:a="http://schemas.openxmlformats.org/drawingml/2006/main">
              <a:ext uri="{FF2B5EF4-FFF2-40B4-BE49-F238E27FC236}">
                <a16:creationId xmlns:a16="http://schemas.microsoft.com/office/drawing/2014/main" id="{92EEA17B-6663-44FB-993E-16F9446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385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0" name="flow-arrow">
            <a:extLst xmlns:a="http://schemas.openxmlformats.org/drawingml/2006/main">
              <a:ext uri="{FF2B5EF4-FFF2-40B4-BE49-F238E27FC236}">
                <a16:creationId xmlns:a16="http://schemas.microsoft.com/office/drawing/2014/main" id="{6A5F7A86-256B-4A0F-BBE6-F074DA47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11" name="flow-arrow">
            <a:extLst xmlns:a="http://schemas.openxmlformats.org/drawingml/2006/main">
              <a:ext uri="{FF2B5EF4-FFF2-40B4-BE49-F238E27FC236}">
                <a16:creationId xmlns:a16="http://schemas.microsoft.com/office/drawing/2014/main" id="{6A188A32-1E62-4279-83D3-1E3687E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0099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flow-arrow">
            <a:extLst xmlns:a="http://schemas.openxmlformats.org/drawingml/2006/main">
              <a:ext uri="{FF2B5EF4-FFF2-40B4-BE49-F238E27FC236}">
                <a16:creationId xmlns:a16="http://schemas.microsoft.com/office/drawing/2014/main" id="{74EB9328-3211-4EAE-8196-43D9A317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686300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flow-01">
            <a:extLst xmlns:a="http://schemas.openxmlformats.org/drawingml/2006/main">
              <a:ext uri="{FF2B5EF4-FFF2-40B4-BE49-F238E27FC236}">
                <a16:creationId xmlns:a16="http://schemas.microsoft.com/office/drawing/2014/main" id="{257F63DC-F10F-469D-8DF9-917216F5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524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FDD59A3-4148-4973-A91B-0FE34A02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1F3D7CF-37AD-450D-B952-F16892D9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固定范围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985915BB-6BEE-4869-80D9-9B34AB61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TOPS＋SKIRTS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目标＋竞品</a:t>
            </a:r>
          </a:p>
        </p:txBody>
      </p:sp>
      <p:sp>
        <p:nvSpPr>
          <p:cNvPr id="17" name="flow-02A">
            <a:extLst xmlns:a="http://schemas.openxmlformats.org/drawingml/2006/main">
              <a:ext uri="{FF2B5EF4-FFF2-40B4-BE49-F238E27FC236}">
                <a16:creationId xmlns:a16="http://schemas.microsoft.com/office/drawing/2014/main" id="{69E4A948-1725-4C84-AD25-E0094612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752600"/>
            <a:ext cx="1885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376AD0E-94A1-405F-A17D-6D132F75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9050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02A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A04C7F9-6E2A-40D3-B9E1-44FADDA7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098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586EA73-F019-470C-AF5E-5E6B95F0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289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386张目标图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全量高清</a:t>
            </a:r>
          </a:p>
        </p:txBody>
      </p:sp>
      <p:sp>
        <p:nvSpPr>
          <p:cNvPr id="21" name="flow-02B">
            <a:extLst xmlns:a="http://schemas.openxmlformats.org/drawingml/2006/main">
              <a:ext uri="{FF2B5EF4-FFF2-40B4-BE49-F238E27FC236}">
                <a16:creationId xmlns:a16="http://schemas.microsoft.com/office/drawing/2014/main" id="{A6C2B813-0CEE-4CF7-BF4B-5951C982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962400"/>
            <a:ext cx="1885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289A6D5-F27A-49EE-9E65-074B563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1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02B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4A0FEB9-C5C8-4D98-A02F-DE269225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196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竞品分母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053654-7AE7-47B2-B20E-CE6D29C5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8387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15,107张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全量维度分布</a:t>
            </a:r>
          </a:p>
        </p:txBody>
      </p:sp>
      <p:sp>
        <p:nvSpPr>
          <p:cNvPr id="25" name="flow-03">
            <a:extLst xmlns:a="http://schemas.openxmlformats.org/drawingml/2006/main">
              <a:ext uri="{FF2B5EF4-FFF2-40B4-BE49-F238E27FC236}">
                <a16:creationId xmlns:a16="http://schemas.microsoft.com/office/drawing/2014/main" id="{B33D5297-32FA-4E96-AEA1-D940D0C5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8859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579FD9F-36B9-411F-BDD7-0D04E22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1148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4CDF77D-464E-47FD-A81D-9CB1D7D3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1960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六维分层选证据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CF90317C-3CEE-46D8-B70A-526D2F37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8387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106张高频典型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＋低频边界</a:t>
            </a:r>
          </a:p>
        </p:txBody>
      </p:sp>
      <p:sp>
        <p:nvSpPr>
          <p:cNvPr id="29" name="flow-04">
            <a:extLst xmlns:a="http://schemas.openxmlformats.org/drawingml/2006/main">
              <a:ext uri="{FF2B5EF4-FFF2-40B4-BE49-F238E27FC236}">
                <a16:creationId xmlns:a16="http://schemas.microsoft.com/office/drawing/2014/main" id="{209D0CC6-D840-4617-9A26-94A8E588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24150"/>
            <a:ext cx="192405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1AFD3316-1419-41A9-906D-6620C213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EF674E44-B455-4829-9E3A-9FAD386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813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共享分析底座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F8D54B8-DDE9-483A-B835-0E658D8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00450"/>
            <a:ext cx="158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高清缓存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492张逐图观察</a:t>
            </a:r>
          </a:p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GPT-5.6 Sol</a:t>
            </a:r>
          </a:p>
        </p:txBody>
      </p:sp>
      <p:sp>
        <p:nvSpPr>
          <p:cNvPr id="33" name="flow-05">
            <a:extLst xmlns:a="http://schemas.openxmlformats.org/drawingml/2006/main">
              <a:ext uri="{FF2B5EF4-FFF2-40B4-BE49-F238E27FC236}">
                <a16:creationId xmlns:a16="http://schemas.microsoft.com/office/drawing/2014/main" id="{3C369EF5-A059-401B-93F3-B113B2F2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038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39F6FC2A-40AE-4B10-ACA9-EEB274DA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669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F0380E0-C2E5-4FD3-9756-F19B5574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1717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五个Section草稿</a:t>
            </a:r>
          </a:p>
        </p:txBody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3C24D645-6FB9-4A3E-8FEE-FC29A826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908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09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结论＋图片角色＋image_id</a:t>
            </a:r>
          </a:p>
        </p:txBody>
      </p:sp>
      <p:sp>
        <p:nvSpPr>
          <p:cNvPr id="37" name="flow-06">
            <a:extLst xmlns:a="http://schemas.openxmlformats.org/drawingml/2006/main">
              <a:ext uri="{FF2B5EF4-FFF2-40B4-BE49-F238E27FC236}">
                <a16:creationId xmlns:a16="http://schemas.microsoft.com/office/drawing/2014/main" id="{042D1465-15C3-4691-B9C5-CCF37BF9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29000"/>
            <a:ext cx="20383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6EA1A1D-BF29-47A5-BD5F-09F14900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814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66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AF23C67-45FE-4250-82D5-15B8162E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8620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逐章人工审核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96F8C41C-B0FF-465B-BEDF-5E10FAB8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305300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通过 / 修改 / 补图 / 重跑</a:t>
            </a:r>
          </a:p>
        </p:txBody>
      </p:sp>
      <p:sp>
        <p:nvSpPr>
          <p:cNvPr id="41" name="flow-07">
            <a:extLst xmlns:a="http://schemas.openxmlformats.org/drawingml/2006/main">
              <a:ext uri="{FF2B5EF4-FFF2-40B4-BE49-F238E27FC236}">
                <a16:creationId xmlns:a16="http://schemas.microsoft.com/office/drawing/2014/main" id="{C691806F-C651-45A2-B21A-D518CDD3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62550"/>
            <a:ext cx="20383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4BFA7D18-CA86-46E8-9B4E-AE363EBD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3149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7D7D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7D7D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9C876A4D-2DB5-4170-9B9C-BD229749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1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53页PDF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ReportLab / Pillow</a:t>
            </a:r>
          </a:p>
        </p:txBody>
      </p:sp>
      <p:sp>
        <p:nvSpPr>
          <p:cNvPr id="44" name="rule">
            <a:extLst xmlns:a="http://schemas.openxmlformats.org/drawingml/2006/main">
              <a:ext uri="{FF2B5EF4-FFF2-40B4-BE49-F238E27FC236}">
                <a16:creationId xmlns:a16="http://schemas.microsoft.com/office/drawing/2014/main" id="{15E5ADB4-A280-48FC-82B0-5682CD4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footer">
            <a:extLst xmlns:a="http://schemas.openxmlformats.org/drawingml/2006/main">
              <a:ext uri="{FF2B5EF4-FFF2-40B4-BE49-F238E27FC236}">
                <a16:creationId xmlns:a16="http://schemas.microsoft.com/office/drawing/2014/main" id="{F88B172F-23BF-4B41-B13B-350A445F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8195689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57DA1457-C0FD-4C44-8D61-B5E82C27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1/5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53824E-0CA0-4E02-ABC7-335A2304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Demo：先确认报告范围与证据契约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F6C42F3-0461-45F0-9D0E-AAC655EB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用户主动启动专项分析；界面提前说明目标范围、竞品选证据规则、五个Section与费用边界。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31C832-562C-4478-870E-372031A9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FEECF502-8F4A-447F-925F-7541C9D0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ba82a61d2410a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61BF68F1-F921-4AFE-991F-C8FA6BF7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83B5B9C1-5E95-47AD-B163-2137A5FA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01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4AF19C8-1716-40FD-9033-80900EB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确认后再启动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B03C68E-1BB5-4583-B4CE-CB3EFB79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B9E9788E-FBA3-4E8E-B6E1-70D2ECD0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1879F5F0-E990-4697-8E30-78AF1C6D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目标：Aloruh Tops＋Skirts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6F582CE4-0DB2-40EC-92E4-F443272B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6BCC32A4-E635-4EF9-A98F-C8A68C8F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竞品以全量分布为分母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B1C97FAF-092E-458F-9F47-35742591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99585E6A-527D-476E-A4CD-C3AE144F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按钮明确提示会产生费用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9A5958D7-D9D5-47B1-BD22-FB1D39B3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EC9FFDD9-9C50-4F32-8488-15D1DD5A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2704797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11FEC8BB-BA7A-4889-B867-F626168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2/5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534816-C5F2-4F6E-A8A5-DB4A51C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Demo：分析完成后先看统计与草稿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886B371-704C-42CC-B608-1D1CF77D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已完成任务展示386张目标图、15,107张竞品分母、106张高清证据及成本统计。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F2914AE-C350-4CD3-AEDF-96B35CB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0D974F7E-8888-41EB-AF49-1774D72CE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b9b7e7228474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90186399-1B68-42D6-B8E8-07579E90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B22E37CD-9941-407E-9401-8AD2D5C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02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69F1EE1D-7EC1-48A6-B04F-5625997A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打开已完成任务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702F201-F331-40F3-AFE5-65D71239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E5E793C1-D1D3-4E17-B495-B4AD8A8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C3820105-E191-4EAE-BEE4-70DE80C5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目标店铺全量逐图分析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D547164C-B919-4ACA-ADEA-C9A92041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B63A63F-7F07-45C7-B029-43470B6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三家竞品分布＋高清证据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4350C0B7-5C7D-4EE7-A84F-2C717FD92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93A7B1FB-0A6B-4F1D-8635-3411F694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PDF本地排版成本为0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E38E47DF-D22B-4EB0-96F2-4AE5155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2A0C8CD-E5E4-453D-862F-6D2676D3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4052154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40C1AA6B-F419-448B-8D1D-C43B094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3/5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5919F1-E11E-4C83-9E71-3AB212FE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Demo：逐条检查结论、推导与图片证据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6905DF-BE21-45E9-B20F-5409E18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每个Section先展示结论，再展示怎么得到、样本范围、观察字段、支持图与反例图。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7FD1DB-CFF1-4EA9-A88D-9688E55F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32291C08-B526-489B-9BFC-3BF55410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60feb6d71469d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A0777A1-1BE5-4449-B11E-26805EF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9E9BA987-2C3C-44E4-A112-F4CE8C6F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03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590CB488-138E-4BEC-9804-C6580BE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审核Section证据链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77BF4B8-5694-47D7-897E-5ED8739D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E1042DA-241E-4EF0-8BE7-0B8354A8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0E7FCE35-EF1A-4ECF-A2C4-103B7EAC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结论与推导同屏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3344117-C404-4F36-8618-A18EBC0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E6C4A7D6-81E5-428B-882E-7E74218D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图片直接展示，不只显示ID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C58B5E26-A065-401C-96C1-FB0A03E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5836C8D6-1E3B-477B-A5C5-2B4415C7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店铺归属与样本范围可回查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8507A0C9-4AD9-49AA-81B8-7B2DED1C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30384C71-093F-4C90-A6E4-169D2B36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3759310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B5B2B3CB-E9FA-4774-9A20-26B31670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4/5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CEC61C-3D08-4263-8749-149B8232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Demo：每个Section独立通过或退回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A0DDBB-5C5D-43AE-A2E5-C0DD4603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审核区同时保留“满意 / 不满意”入口；当前章节显示已通过，下一章节继续审核。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83EF0BA-EA2C-4DCF-AE08-CEE6A68F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6E888D66-EA54-4F23-B1A7-151C6DF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03a3d95794e9b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FD8C4AAD-4DBF-456E-A9F2-007CEC34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086646CF-3827-4637-9F87-B60A20B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04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BAB25CCA-C3BD-4905-823E-8BC0498B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逐章做人工判断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20A8067D-B37E-4CD4-A4EA-4BD42B73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FB3EC47A-918F-4B9B-BFBB-7F0F49E6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AFDA5EA5-B566-43DA-9F14-35B0D56E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支持图与反例图已展开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21EB9B3E-3637-4477-955B-F757DC9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79F3894E-AC81-43EE-9177-9F401B9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审核状态显示已通过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0EBE8BF7-55A6-4BBC-8E8C-2C9DE7A7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8CEE0F33-8592-403B-BD8A-9C8D71CD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未通过章节可单独修订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D77E1EC0-0E09-42B7-BA74-3DCAF88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7AF753BF-6033-40F6-91F2-575A03A8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12715067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">
            <a:extLst xmlns:a="http://schemas.openxmlformats.org/drawingml/2006/main">
              <a:ext uri="{FF2B5EF4-FFF2-40B4-BE49-F238E27FC236}">
                <a16:creationId xmlns:a16="http://schemas.microsoft.com/office/drawing/2014/main" id="{7F8E8D37-E57D-4A53-B83F-D3B3C3E5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LAYER 3B · DEMO 5/5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05B49E-BD5A-4E3A-A545-31AEA67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体验2 Demo：五章通过后生成或下载最终PDF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2850D7F-D631-41DE-8B3E-B4D0069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第二步只读取已通过草稿进行本地排版；可浏览或下载PDF，不再调用模型。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1FA13E2-BA77-4D62-8038-C417941D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demo-frame">
            <a:extLst xmlns:a="http://schemas.openxmlformats.org/drawingml/2006/main">
              <a:ext uri="{FF2B5EF4-FFF2-40B4-BE49-F238E27FC236}">
                <a16:creationId xmlns:a16="http://schemas.microsoft.com/office/drawing/2014/main" id="{DB335C77-685E-459D-B987-23F70E9B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857250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7D9DD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a51d16456b4b67"/>
          <a:srcRect xmlns:a="http://schemas.openxmlformats.org/drawingml/2006/main" l="0" t="5818" r="0" b="5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83820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7" name="demo-guide">
            <a:extLst xmlns:a="http://schemas.openxmlformats.org/drawingml/2006/main">
              <a:ext uri="{FF2B5EF4-FFF2-40B4-BE49-F238E27FC236}">
                <a16:creationId xmlns:a16="http://schemas.microsoft.com/office/drawing/2014/main" id="{ADDE1C7B-76F7-47B3-BE3D-600973EB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04950"/>
            <a:ext cx="2495550" cy="48196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D9F0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">
            <a:extLst xmlns:a="http://schemas.openxmlformats.org/drawingml/2006/main">
              <a:ext uri="{FF2B5EF4-FFF2-40B4-BE49-F238E27FC236}">
                <a16:creationId xmlns:a16="http://schemas.microsoft.com/office/drawing/2014/main" id="{2830C139-E87B-42E3-92C5-E9CC8109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716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STEP 05 / 05</a:t>
            </a:r>
          </a:p>
        </p:txBody>
      </p:sp>
      <p:sp>
        <p:nvSpPr>
          <p:cNvPr id="9" name="demo-summary">
            <a:extLst xmlns:a="http://schemas.openxmlformats.org/drawingml/2006/main">
              <a:ext uri="{FF2B5EF4-FFF2-40B4-BE49-F238E27FC236}">
                <a16:creationId xmlns:a16="http://schemas.microsoft.com/office/drawing/2014/main" id="{8A0D9F1E-24DF-452D-AEB1-E60FDEA9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52650"/>
            <a:ext cx="20383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交付最终PDF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74E1C54C-8D80-4ACA-AE65-DA9A95E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2038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F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emo-detail-index-0">
            <a:extLst xmlns:a="http://schemas.openxmlformats.org/drawingml/2006/main">
              <a:ext uri="{FF2B5EF4-FFF2-40B4-BE49-F238E27FC236}">
                <a16:creationId xmlns:a16="http://schemas.microsoft.com/office/drawing/2014/main" id="{8FB53823-E6F9-476D-A2E6-231B9A30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433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demo-detail-0">
            <a:extLst xmlns:a="http://schemas.openxmlformats.org/drawingml/2006/main">
              <a:ext uri="{FF2B5EF4-FFF2-40B4-BE49-F238E27FC236}">
                <a16:creationId xmlns:a16="http://schemas.microsoft.com/office/drawing/2014/main" id="{3BAFD528-2DCE-4B6C-92AE-20A9420F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242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生成、浏览、下载三种动作</a:t>
            </a:r>
          </a:p>
        </p:txBody>
      </p:sp>
      <p:sp>
        <p:nvSpPr>
          <p:cNvPr id="13" name="demo-detail-index-1">
            <a:extLst xmlns:a="http://schemas.openxmlformats.org/drawingml/2006/main">
              <a:ext uri="{FF2B5EF4-FFF2-40B4-BE49-F238E27FC236}">
                <a16:creationId xmlns:a16="http://schemas.microsoft.com/office/drawing/2014/main" id="{B4DB2CC4-B43F-4A3C-B8E0-457B0E03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243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demo-detail-1">
            <a:extLst xmlns:a="http://schemas.openxmlformats.org/drawingml/2006/main">
              <a:ext uri="{FF2B5EF4-FFF2-40B4-BE49-F238E27FC236}">
                <a16:creationId xmlns:a16="http://schemas.microsoft.com/office/drawing/2014/main" id="{E2F89A78-D1C3-44BE-8105-78683DF3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0530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排版0 Token / 0模型费用</a:t>
            </a:r>
          </a:p>
        </p:txBody>
      </p:sp>
      <p:sp>
        <p:nvSpPr>
          <p:cNvPr id="15" name="demo-detail-index-2">
            <a:extLst xmlns:a="http://schemas.openxmlformats.org/drawingml/2006/main">
              <a:ext uri="{FF2B5EF4-FFF2-40B4-BE49-F238E27FC236}">
                <a16:creationId xmlns:a16="http://schemas.microsoft.com/office/drawing/2014/main" id="{39C400D3-A5D6-4569-96CB-78D93C19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05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demo-detail-2">
            <a:extLst xmlns:a="http://schemas.openxmlformats.org/drawingml/2006/main">
              <a:ext uri="{FF2B5EF4-FFF2-40B4-BE49-F238E27FC236}">
                <a16:creationId xmlns:a16="http://schemas.microsoft.com/office/drawing/2014/main" id="{4ED5A618-D2C5-4F1B-9A3D-B2CB345F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86350"/>
            <a:ext cx="1676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结论与证据进入固定版式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35A12EB9-6CBC-498A-8252-8611690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981CA87B-E905-40F7-AE29-47E77322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production screenshot walkthrough · 2026-08-26</a:t>
            </a:r>
          </a:p>
        </p:txBody>
      </p:sp>
    </p:spTree>
    <p:extLst>
      <p:ext uri="{BB962C8B-B14F-4D97-AF65-F5344CB8AC3E}">
        <p14:creationId xmlns:p14="http://schemas.microsoft.com/office/powerpoint/2010/main" val="48430746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87366E6C-4016-41DA-98EC-970FEBBA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PDF STRUCTURE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C5748A-B671-4E27-BAE2-D527298C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53 页成品由五个 Section 逐层收敛到行动方案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D2785DF-CE77-4FDD-B8F1-5CC1CD0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每个章节都回答一个不同的问题，并保留代表图、支持图、反例图与推导方法。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EA3FB1-B6B4-49D9-913B-07719CC1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951e0508a64375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9AA3F6-614F-45E2-AFC3-0A796A9E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P2–6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BC8165A-00B0-455E-B2C3-96FA9F69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品牌视觉定位校准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C39D11B-9464-41B2-A315-4F4D6625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我们到底像什么？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9a76dca1b47d6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241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D1A73EB-8D12-4B82-B3BC-C7D6595F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P7–14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3ADCC86F-181B-4CD4-8EA3-A6DBA13F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商品展示分析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B4FB589-DB29-412B-9F56-1A6F5AF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商品信息是否可读？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2200719824ad9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11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45EF29A-73F2-4CBC-9A67-28451975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P15–25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FB89CC3-D704-4209-AA7B-780F1CD7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店铺视觉审计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A42B6DF-A7BB-4CA0-8B17-E6B54134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浏览体验哪里失序？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9582b2fec4064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5805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1A5C211-AE69-4425-B783-04748280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P26–39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5918D02-F6DD-4B22-A7BF-EC5FF68C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竞品视觉差距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96DF309-ED2A-405D-B0C7-96F6782A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差距来自什么系统？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8d57c808c47bd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0" y="1666875"/>
            <a:ext cx="2095500" cy="1181100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1CCA7D6-2ABC-4562-BA1B-A5477116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67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P40–53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EAE91F1-3AF4-4054-8FDC-E09A8C99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视觉升级方向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A2E197E-0275-452A-BC30-E37C8AF4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862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下一步怎么改？</a:t>
            </a:r>
          </a:p>
        </p:txBody>
      </p:sp>
      <p:sp>
        <p:nvSpPr>
          <p:cNvPr id="25" name="box">
            <a:extLst xmlns:a="http://schemas.openxmlformats.org/drawingml/2006/main">
              <a:ext uri="{FF2B5EF4-FFF2-40B4-BE49-F238E27FC236}">
                <a16:creationId xmlns:a16="http://schemas.microsoft.com/office/drawing/2014/main" id="{4B22D858-5B4A-48BD-BCB7-0B37FF84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14950"/>
            <a:ext cx="10972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0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7488F13-AF9D-439F-B6FD-67970B16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共同证据契约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EB65FCF-E2B4-4102-B2CA-3C852F5C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50545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范围与分母清楚 · 图片角色清楚 · 店铺归属清楚 · 结论能够回查到 image_id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DEB96455-FF81-4376-9621-03883D86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A3819DC6-4E87-4470-81C9-93BFA176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repository + production evidence</a:t>
            </a:r>
          </a:p>
        </p:txBody>
      </p:sp>
    </p:spTree>
    <p:extLst>
      <p:ext uri="{BB962C8B-B14F-4D97-AF65-F5344CB8AC3E}">
        <p14:creationId xmlns:p14="http://schemas.microsoft.com/office/powerpoint/2010/main" val="186371825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1DB177E9-9A49-4862-B94F-63F9271E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FINISHED ARTIFACT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0BE6FD-A004-4D6F-BBB8-6BCD3A09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10810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成品不是图册，而是一套可复用的视觉诊断语言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49BE023-B189-40CF-920A-DA4B273F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从品牌母题、品类图法、店铺秩序、竞品系统，最终落到可执行的视觉系列方案。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849E1E-A1E6-4A9E-8A71-A209D07C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238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666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666D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2fbdef8f44ee4"/>
          <a:srcRect xmlns:a="http://schemas.openxmlformats.org/drawingml/2006/main" l="46" t="0" r="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485900"/>
            <a:ext cx="6953250" cy="3914775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7416e3e3f4c61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c06d72fef4d02"/>
          <a:srcRect xmlns:a="http://schemas.openxmlformats.org/drawingml/2006/main" l="0" t="105" r="0" b="1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28900" y="1485900"/>
            <a:ext cx="2019300" cy="1133475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daab709c946c2"/>
          <a:srcRect xmlns:a="http://schemas.openxmlformats.org/drawingml/2006/main" l="0" t="101" r="0" b="1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809875"/>
            <a:ext cx="4191000" cy="2352675"/>
          </a:xfrm>
          <a:prstGeom xmlns:a="http://schemas.openxmlformats.org/drawingml/2006/main" prst="rect">
            <a:avLst/>
          </a:prstGeom>
        </p:spPr>
      </p:pic>
      <p:sp>
        <p:nvSpPr>
          <p:cNvPr id="9" name="metric-页视觉诊断">
            <a:extLst xmlns:a="http://schemas.openxmlformats.org/drawingml/2006/main">
              <a:ext uri="{FF2B5EF4-FFF2-40B4-BE49-F238E27FC236}">
                <a16:creationId xmlns:a16="http://schemas.microsoft.com/office/drawing/2014/main" id="{DC80A9EC-F113-4DC4-AE06-DE5EC414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sp>
        <p:nvSpPr>
          <p:cNvPr id="10" name="metric-label-页视觉诊断">
            <a:extLst xmlns:a="http://schemas.openxmlformats.org/drawingml/2006/main">
              <a:ext uri="{FF2B5EF4-FFF2-40B4-BE49-F238E27FC236}">
                <a16:creationId xmlns:a16="http://schemas.microsoft.com/office/drawing/2014/main" id="{9A37187E-60F7-4916-B6CB-9ACD54F8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页视觉诊断</a:t>
            </a:r>
          </a:p>
        </p:txBody>
      </p:sp>
      <p:sp>
        <p:nvSpPr>
          <p:cNvPr id="11" name="metric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28AD862A-C0DF-4FE1-ADAD-CB6F5819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190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metric-label-个可审核 Section">
            <a:extLst xmlns:a="http://schemas.openxmlformats.org/drawingml/2006/main">
              <a:ext uri="{FF2B5EF4-FFF2-40B4-BE49-F238E27FC236}">
                <a16:creationId xmlns:a16="http://schemas.microsoft.com/office/drawing/2014/main" id="{C6B2FCA8-D6B3-4F08-A03C-75EDD35B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960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个可审核 Section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CBE880D-38EF-4D63-A5A8-72CA858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5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成品文件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706102A-DEA5-4123-929A-0BD9989D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007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Aloruh纯视觉诊断－图片结论版.pdf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E426654-3423-4113-B6A1-EAF1233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ooter">
            <a:extLst xmlns:a="http://schemas.openxmlformats.org/drawingml/2006/main">
              <a:ext uri="{FF2B5EF4-FFF2-40B4-BE49-F238E27FC236}">
                <a16:creationId xmlns:a16="http://schemas.microsoft.com/office/drawing/2014/main" id="{EA48B303-594E-4A07-BB45-CE08F39B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81775"/>
            <a:ext cx="10668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2666D"/>
                </a:solidFill>
                <a:latin typeface="Microsoft YaHei"/>
                <a:ea typeface="Microsoft YaHei"/>
                <a:cs typeface="Microsoft YaHei"/>
              </a:rPr>
              <a:t>Fashion Scope · final report rendered and visually checked page by page</a:t>
            </a:r>
          </a:p>
        </p:txBody>
      </p:sp>
    </p:spTree>
    <p:extLst>
      <p:ext uri="{BB962C8B-B14F-4D97-AF65-F5344CB8AC3E}">
        <p14:creationId xmlns:p14="http://schemas.microsoft.com/office/powerpoint/2010/main" val="60374364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527114C-A798-4C6C-B969-904D4955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C4914EE-12B5-4F3B-80F6-9B421BA3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下一步，应该把它变成什么？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A92B3E61-0A6F-4BDB-9037-6DD29773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A31FF16-8F8E-47C3-9123-12370B72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240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采集边界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6ED7B68-6C15-47D5-97D3-09FAC265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050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哪些站点继续自动化，哪些登录与验证码环节必须保留人工确认？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E5F97BE5-0125-4961-BACD-992CD47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098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480BEC2-8DF5-4D1C-ADC4-3EAD713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1213699-F982-4F3A-BCEF-6044FFE9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维度体系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768E5DC-C17A-49EF-86BC-6A863036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现有15维是否足够支持视觉决策，还是需要新增品牌专属维度？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8E74B753-7B54-4B93-B6E5-3201115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163EBC7-7D3F-4B2A-9E2A-DAA15DE3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FC58BA3-4A76-447B-A548-18FB344C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使用分工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471C2C1-864D-48F6-AF2B-0AEE761B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探索型组合分析与报告型整体分析，分别应该由谁、在何时使用？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1819E17D-8308-4BDB-8D7A-869735BC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3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599E56-F3A5-4AE3-88CA-8A249F6B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7205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4F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FD4F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4E43876-AAE1-49AA-BCCA-21FC65C2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交付闭环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8FBFD54-ECC1-4417-AE22-75609204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33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0D0D0"/>
                </a:solidFill>
                <a:latin typeface="Microsoft YaHei"/>
                <a:ea typeface="Microsoft YaHei"/>
                <a:cs typeface="Microsoft YaHei"/>
              </a:rPr>
              <a:t>PDF止于结论，还是继续连接拍摄brief、图序规范与效果KPI？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7F80D6F-0437-41E5-AAD2-280EEA33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Fashion Scope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8595392-580A-40D7-B7D1-E4EAC51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055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67A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767A82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7026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2026-08-26T06:02:43.2410000Z</dcterms:created>
  <dcterms:modified xsi:type="dcterms:W3CDTF">2026-08-26T06:02:43.2410000Z</dcterms:modified>
</coreProperties>
</file>