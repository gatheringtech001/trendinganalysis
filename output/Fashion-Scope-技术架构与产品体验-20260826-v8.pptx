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e732aa57204d58" /><Relationship Type="http://schemas.openxmlformats.org/officeDocument/2006/relationships/extended-properties" Target="/docProps/app.xml" Id="R6b9714441e8543aa" /><Relationship Type="http://schemas.openxmlformats.org/officeDocument/2006/relationships/officeDocument" Target="/ppt/presentation.xml" Id="Rdc088960669f41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d8bdd4cf5f484e"/>
  </p:sldMasterIdLst>
  <p:notesMasterIdLst>
    <p:notesMasterId xmlns:r="http://schemas.openxmlformats.org/officeDocument/2006/relationships" r:id="R03fc8c5acc4a4fa9"/>
  </p:notesMasterIdLst>
  <p:sldIdLst>
    <p:sldId xmlns:r="http://schemas.openxmlformats.org/officeDocument/2006/relationships" id="256" r:id="Ra0835ca616414cb2"/>
    <p:sldId xmlns:r="http://schemas.openxmlformats.org/officeDocument/2006/relationships" id="257" r:id="R4c4775fc871f4e51"/>
    <p:sldId xmlns:r="http://schemas.openxmlformats.org/officeDocument/2006/relationships" id="258" r:id="Ra7859965b22d477b"/>
    <p:sldId xmlns:r="http://schemas.openxmlformats.org/officeDocument/2006/relationships" id="259" r:id="R69909e9236d141e9"/>
    <p:sldId xmlns:r="http://schemas.openxmlformats.org/officeDocument/2006/relationships" id="260" r:id="R367262beccdd4706"/>
    <p:sldId xmlns:r="http://schemas.openxmlformats.org/officeDocument/2006/relationships" id="261" r:id="R3035b107ede74469"/>
    <p:sldId xmlns:r="http://schemas.openxmlformats.org/officeDocument/2006/relationships" id="262" r:id="R01f53205968343a2"/>
    <p:sldId xmlns:r="http://schemas.openxmlformats.org/officeDocument/2006/relationships" id="263" r:id="Ra7a87a96ece243d5"/>
    <p:sldId xmlns:r="http://schemas.openxmlformats.org/officeDocument/2006/relationships" id="264" r:id="R5042709263e24968"/>
    <p:sldId xmlns:r="http://schemas.openxmlformats.org/officeDocument/2006/relationships" id="265" r:id="R1dcf21202fc74337"/>
    <p:sldId xmlns:r="http://schemas.openxmlformats.org/officeDocument/2006/relationships" id="266" r:id="R3fb8d5f972be45af"/>
    <p:sldId xmlns:r="http://schemas.openxmlformats.org/officeDocument/2006/relationships" id="267" r:id="R2fa84d8b19f24679"/>
    <p:sldId xmlns:r="http://schemas.openxmlformats.org/officeDocument/2006/relationships" id="268" r:id="Rf66d769d7ecb4bf0"/>
    <p:sldId xmlns:r="http://schemas.openxmlformats.org/officeDocument/2006/relationships" id="269" r:id="R9b3c86ae04304e04"/>
    <p:sldId xmlns:r="http://schemas.openxmlformats.org/officeDocument/2006/relationships" id="270" r:id="Rd3fa83cc83e74934"/>
    <p:sldId xmlns:r="http://schemas.openxmlformats.org/officeDocument/2006/relationships" id="271" r:id="R70322507fb3b433e"/>
    <p:sldId xmlns:r="http://schemas.openxmlformats.org/officeDocument/2006/relationships" id="272" r:id="Rfbc41ac35b86489b"/>
    <p:sldId xmlns:r="http://schemas.openxmlformats.org/officeDocument/2006/relationships" id="273" r:id="R48c6adb46343493f"/>
    <p:sldId xmlns:r="http://schemas.openxmlformats.org/officeDocument/2006/relationships" id="274" r:id="R859b4e6d04f14b2f"/>
    <p:sldId xmlns:r="http://schemas.openxmlformats.org/officeDocument/2006/relationships" id="275" r:id="Rff5bd66d84f346e7"/>
    <p:sldId xmlns:r="http://schemas.openxmlformats.org/officeDocument/2006/relationships" id="276" r:id="Ra10e54addfa2439e"/>
    <p:sldId xmlns:r="http://schemas.openxmlformats.org/officeDocument/2006/relationships" id="277" r:id="R6f5ae6238fb04dae"/>
    <p:sldId xmlns:r="http://schemas.openxmlformats.org/officeDocument/2006/relationships" id="278" r:id="R6467c4cd7db24991"/>
    <p:sldId xmlns:r="http://schemas.openxmlformats.org/officeDocument/2006/relationships" id="279" r:id="R1b770751adbb4333"/>
    <p:sldId xmlns:r="http://schemas.openxmlformats.org/officeDocument/2006/relationships" id="280" r:id="R5049321567024e7c"/>
    <p:sldId xmlns:r="http://schemas.openxmlformats.org/officeDocument/2006/relationships" id="281" r:id="R8a2c71871af14bb2"/>
    <p:sldId xmlns:r="http://schemas.openxmlformats.org/officeDocument/2006/relationships" id="282" r:id="R29c744f226824cf0"/>
    <p:sldId xmlns:r="http://schemas.openxmlformats.org/officeDocument/2006/relationships" id="283" r:id="Rc1b056be062749be"/>
    <p:sldId xmlns:r="http://schemas.openxmlformats.org/officeDocument/2006/relationships" id="284" r:id="R88e806a14e3e4f08"/>
    <p:sldId xmlns:r="http://schemas.openxmlformats.org/officeDocument/2006/relationships" id="285" r:id="R86092205c01446fe"/>
    <p:sldId xmlns:r="http://schemas.openxmlformats.org/officeDocument/2006/relationships" id="286" r:id="R003e9273f5274148"/>
    <p:sldId xmlns:r="http://schemas.openxmlformats.org/officeDocument/2006/relationships" id="287" r:id="Rd524b178bb6c49f3"/>
    <p:sldId xmlns:r="http://schemas.openxmlformats.org/officeDocument/2006/relationships" id="288" r:id="Ra74a5c494bab4fd5"/>
    <p:sldId xmlns:r="http://schemas.openxmlformats.org/officeDocument/2006/relationships" id="289" r:id="Rdb87056e77b94eff"/>
    <p:sldId xmlns:r="http://schemas.openxmlformats.org/officeDocument/2006/relationships" id="290" r:id="R93878db9956040d5"/>
    <p:sldId xmlns:r="http://schemas.openxmlformats.org/officeDocument/2006/relationships" id="291" r:id="R7caf68d0e9ca4636"/>
    <p:sldId xmlns:r="http://schemas.openxmlformats.org/officeDocument/2006/relationships" id="292" r:id="R10b5069d7cd644a0"/>
    <p:sldId xmlns:r="http://schemas.openxmlformats.org/officeDocument/2006/relationships" id="293" r:id="R120e3d65dfd645de"/>
    <p:sldId xmlns:r="http://schemas.openxmlformats.org/officeDocument/2006/relationships" id="294" r:id="Rcf61923a8bca4410"/>
    <p:sldId xmlns:r="http://schemas.openxmlformats.org/officeDocument/2006/relationships" id="295" r:id="Rfc0b27f151e34c92"/>
    <p:sldId xmlns:r="http://schemas.openxmlformats.org/officeDocument/2006/relationships" id="296" r:id="R36d08112445d4b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ae662e5fa24648" /><Relationship Type="http://schemas.openxmlformats.org/officeDocument/2006/relationships/slideMaster" Target="/ppt/slideMasters/slideMaster1.xml" Id="R3ed8bdd4cf5f484e" /><Relationship Type="http://schemas.openxmlformats.org/officeDocument/2006/relationships/notesMaster" Target="/ppt/notesMasters/notesMaster1.xml" Id="R03fc8c5acc4a4fa9" /><Relationship Type="http://schemas.openxmlformats.org/officeDocument/2006/relationships/presProps" Target="/ppt/presProps.xml" Id="Rc9688279f9714948" /><Relationship Type="http://schemas.openxmlformats.org/officeDocument/2006/relationships/tableStyles" Target="/ppt/tableStyles.xml" Id="R28ff7cbb05ba4bd9" /><Relationship Type="http://schemas.openxmlformats.org/officeDocument/2006/relationships/slide" Target="/ppt/slides/slide1.xml" Id="Ra0835ca616414cb2" /><Relationship Type="http://schemas.openxmlformats.org/officeDocument/2006/relationships/slide" Target="/ppt/slides/slide2.xml" Id="R4c4775fc871f4e51" /><Relationship Type="http://schemas.openxmlformats.org/officeDocument/2006/relationships/slide" Target="/ppt/slides/slide3.xml" Id="Ra7859965b22d477b" /><Relationship Type="http://schemas.openxmlformats.org/officeDocument/2006/relationships/slide" Target="/ppt/slides/slide4.xml" Id="R69909e9236d141e9" /><Relationship Type="http://schemas.openxmlformats.org/officeDocument/2006/relationships/slide" Target="/ppt/slides/slide5.xml" Id="R367262beccdd4706" /><Relationship Type="http://schemas.openxmlformats.org/officeDocument/2006/relationships/slide" Target="/ppt/slides/slide6.xml" Id="R3035b107ede74469" /><Relationship Type="http://schemas.openxmlformats.org/officeDocument/2006/relationships/slide" Target="/ppt/slides/slide7.xml" Id="R01f53205968343a2" /><Relationship Type="http://schemas.openxmlformats.org/officeDocument/2006/relationships/slide" Target="/ppt/slides/slide8.xml" Id="Ra7a87a96ece243d5" /><Relationship Type="http://schemas.openxmlformats.org/officeDocument/2006/relationships/slide" Target="/ppt/slides/slide9.xml" Id="R5042709263e24968" /><Relationship Type="http://schemas.openxmlformats.org/officeDocument/2006/relationships/slide" Target="/ppt/slides/slide10.xml" Id="R1dcf21202fc74337" /><Relationship Type="http://schemas.openxmlformats.org/officeDocument/2006/relationships/slide" Target="/ppt/slides/slide11.xml" Id="R3fb8d5f972be45af" /><Relationship Type="http://schemas.openxmlformats.org/officeDocument/2006/relationships/slide" Target="/ppt/slides/slide12.xml" Id="R2fa84d8b19f24679" /><Relationship Type="http://schemas.openxmlformats.org/officeDocument/2006/relationships/slide" Target="/ppt/slides/slide13.xml" Id="Rf66d769d7ecb4bf0" /><Relationship Type="http://schemas.openxmlformats.org/officeDocument/2006/relationships/slide" Target="/ppt/slides/slide14.xml" Id="R9b3c86ae04304e04" /><Relationship Type="http://schemas.openxmlformats.org/officeDocument/2006/relationships/slide" Target="/ppt/slides/slide15.xml" Id="Rd3fa83cc83e74934" /><Relationship Type="http://schemas.openxmlformats.org/officeDocument/2006/relationships/slide" Target="/ppt/slides/slide16.xml" Id="R70322507fb3b433e" /><Relationship Type="http://schemas.openxmlformats.org/officeDocument/2006/relationships/slide" Target="/ppt/slides/slide17.xml" Id="Rfbc41ac35b86489b" /><Relationship Type="http://schemas.openxmlformats.org/officeDocument/2006/relationships/slide" Target="/ppt/slides/slide18.xml" Id="R48c6adb46343493f" /><Relationship Type="http://schemas.openxmlformats.org/officeDocument/2006/relationships/slide" Target="/ppt/slides/slide19.xml" Id="R859b4e6d04f14b2f" /><Relationship Type="http://schemas.openxmlformats.org/officeDocument/2006/relationships/slide" Target="/ppt/slides/slide20.xml" Id="Rff5bd66d84f346e7" /><Relationship Type="http://schemas.openxmlformats.org/officeDocument/2006/relationships/slide" Target="/ppt/slides/slide21.xml" Id="Ra10e54addfa2439e" /><Relationship Type="http://schemas.openxmlformats.org/officeDocument/2006/relationships/slide" Target="/ppt/slides/slide22.xml" Id="R6f5ae6238fb04dae" /><Relationship Type="http://schemas.openxmlformats.org/officeDocument/2006/relationships/slide" Target="/ppt/slides/slide23.xml" Id="R6467c4cd7db24991" /><Relationship Type="http://schemas.openxmlformats.org/officeDocument/2006/relationships/slide" Target="/ppt/slides/slide24.xml" Id="R1b770751adbb4333" /><Relationship Type="http://schemas.openxmlformats.org/officeDocument/2006/relationships/slide" Target="/ppt/slides/slide25.xml" Id="R5049321567024e7c" /><Relationship Type="http://schemas.openxmlformats.org/officeDocument/2006/relationships/slide" Target="/ppt/slides/slide26.xml" Id="R8a2c71871af14bb2" /><Relationship Type="http://schemas.openxmlformats.org/officeDocument/2006/relationships/slide" Target="/ppt/slides/slide27.xml" Id="R29c744f226824cf0" /><Relationship Type="http://schemas.openxmlformats.org/officeDocument/2006/relationships/slide" Target="/ppt/slides/slide28.xml" Id="Rc1b056be062749be" /><Relationship Type="http://schemas.openxmlformats.org/officeDocument/2006/relationships/slide" Target="/ppt/slides/slide29.xml" Id="R88e806a14e3e4f08" /><Relationship Type="http://schemas.openxmlformats.org/officeDocument/2006/relationships/slide" Target="/ppt/slides/slide30.xml" Id="R86092205c01446fe" /><Relationship Type="http://schemas.openxmlformats.org/officeDocument/2006/relationships/slide" Target="/ppt/slides/slide31.xml" Id="R003e9273f5274148" /><Relationship Type="http://schemas.openxmlformats.org/officeDocument/2006/relationships/slide" Target="/ppt/slides/slide32.xml" Id="Rd524b178bb6c49f3" /><Relationship Type="http://schemas.openxmlformats.org/officeDocument/2006/relationships/slide" Target="/ppt/slides/slide33.xml" Id="Ra74a5c494bab4fd5" /><Relationship Type="http://schemas.openxmlformats.org/officeDocument/2006/relationships/slide" Target="/ppt/slides/slide34.xml" Id="Rdb87056e77b94eff" /><Relationship Type="http://schemas.openxmlformats.org/officeDocument/2006/relationships/slide" Target="/ppt/slides/slide35.xml" Id="R93878db9956040d5" /><Relationship Type="http://schemas.openxmlformats.org/officeDocument/2006/relationships/slide" Target="/ppt/slides/slide36.xml" Id="R7caf68d0e9ca4636" /><Relationship Type="http://schemas.openxmlformats.org/officeDocument/2006/relationships/slide" Target="/ppt/slides/slide37.xml" Id="R10b5069d7cd644a0" /><Relationship Type="http://schemas.openxmlformats.org/officeDocument/2006/relationships/slide" Target="/ppt/slides/slide38.xml" Id="R120e3d65dfd645de" /><Relationship Type="http://schemas.openxmlformats.org/officeDocument/2006/relationships/slide" Target="/ppt/slides/slide39.xml" Id="Rcf61923a8bca4410" /><Relationship Type="http://schemas.openxmlformats.org/officeDocument/2006/relationships/slide" Target="/ppt/slides/slide40.xml" Id="Rfc0b27f151e34c92" /><Relationship Type="http://schemas.openxmlformats.org/officeDocument/2006/relationships/slide" Target="/ppt/slides/slide41.xml" Id="R36d08112445d4b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593ff4242d4a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ee76549dba4050" /><Relationship Type="http://schemas.openxmlformats.org/officeDocument/2006/relationships/notesMaster" Target="/ppt/notesMasters/notesMaster1.xml" Id="R0cdf142b4a4d42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c6f477d6bc449c" /><Relationship Type="http://schemas.openxmlformats.org/officeDocument/2006/relationships/notesMaster" Target="/ppt/notesMasters/notesMaster1.xml" Id="R78455aeb03bf40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73fadfe9d341c7" /><Relationship Type="http://schemas.openxmlformats.org/officeDocument/2006/relationships/notesMaster" Target="/ppt/notesMasters/notesMaster1.xml" Id="R7c1f3826590d41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6d04124de74fba" /><Relationship Type="http://schemas.openxmlformats.org/officeDocument/2006/relationships/notesMaster" Target="/ppt/notesMasters/notesMaster1.xml" Id="Re3354e583efe4b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38fabe046244ba" /><Relationship Type="http://schemas.openxmlformats.org/officeDocument/2006/relationships/notesMaster" Target="/ppt/notesMasters/notesMaster1.xml" Id="R5df3de189b1342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cc454e3fbf47f7" /><Relationship Type="http://schemas.openxmlformats.org/officeDocument/2006/relationships/notesMaster" Target="/ppt/notesMasters/notesMaster1.xml" Id="Re2744bcafa9d48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d864235f5e4015" /><Relationship Type="http://schemas.openxmlformats.org/officeDocument/2006/relationships/notesMaster" Target="/ppt/notesMasters/notesMaster1.xml" Id="Rec42dcf6afa741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a02ae5841248fa" /><Relationship Type="http://schemas.openxmlformats.org/officeDocument/2006/relationships/notesMaster" Target="/ppt/notesMasters/notesMaster1.xml" Id="R9f7294d6622f46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7f15168c7146cd" /><Relationship Type="http://schemas.openxmlformats.org/officeDocument/2006/relationships/notesMaster" Target="/ppt/notesMasters/notesMaster1.xml" Id="R7d145a843b604c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fbb743fdc747ce" /><Relationship Type="http://schemas.openxmlformats.org/officeDocument/2006/relationships/notesMaster" Target="/ppt/notesMasters/notesMaster1.xml" Id="R1787fe0cfa5746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69dea08ed944bc" /><Relationship Type="http://schemas.openxmlformats.org/officeDocument/2006/relationships/notesMaster" Target="/ppt/notesMasters/notesMaster1.xml" Id="Ra0414fca549d49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2dadfc587d4102" /><Relationship Type="http://schemas.openxmlformats.org/officeDocument/2006/relationships/notesMaster" Target="/ppt/notesMasters/notesMaster1.xml" Id="R2dea49cf774e4f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963ccdb5b54773" /><Relationship Type="http://schemas.openxmlformats.org/officeDocument/2006/relationships/notesMaster" Target="/ppt/notesMasters/notesMaster1.xml" Id="R95c90a8510ff40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fb8ae02bd684dd8" /><Relationship Type="http://schemas.openxmlformats.org/officeDocument/2006/relationships/notesMaster" Target="/ppt/notesMasters/notesMaster1.xml" Id="R7556650517244e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0fb20cc91b415e" /><Relationship Type="http://schemas.openxmlformats.org/officeDocument/2006/relationships/notesMaster" Target="/ppt/notesMasters/notesMaster1.xml" Id="R6850e8634e2d48e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281892e441d48c3" /><Relationship Type="http://schemas.openxmlformats.org/officeDocument/2006/relationships/notesMaster" Target="/ppt/notesMasters/notesMaster1.xml" Id="R80276aa87e9245c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273fae5124c4040" /><Relationship Type="http://schemas.openxmlformats.org/officeDocument/2006/relationships/notesMaster" Target="/ppt/notesMasters/notesMaster1.xml" Id="R8a7fa233128449a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cff153f13ab411c" /><Relationship Type="http://schemas.openxmlformats.org/officeDocument/2006/relationships/notesMaster" Target="/ppt/notesMasters/notesMaster1.xml" Id="R277c6ff57c3d4d8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34b5b192e5148f4" /><Relationship Type="http://schemas.openxmlformats.org/officeDocument/2006/relationships/notesMaster" Target="/ppt/notesMasters/notesMaster1.xml" Id="Rc1ab7648c3ab447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a1610f1db174b76" /><Relationship Type="http://schemas.openxmlformats.org/officeDocument/2006/relationships/notesMaster" Target="/ppt/notesMasters/notesMaster1.xml" Id="Rdcd003b8946c436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2858174a12d4a26" /><Relationship Type="http://schemas.openxmlformats.org/officeDocument/2006/relationships/notesMaster" Target="/ppt/notesMasters/notesMaster1.xml" Id="R468255d7fbaf402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ded3248f2c241c5" /><Relationship Type="http://schemas.openxmlformats.org/officeDocument/2006/relationships/notesMaster" Target="/ppt/notesMasters/notesMaster1.xml" Id="R8341ac812669495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7c18c4a62814f78" /><Relationship Type="http://schemas.openxmlformats.org/officeDocument/2006/relationships/notesMaster" Target="/ppt/notesMasters/notesMaster1.xml" Id="R8b58dd4290394f8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3a1cfc060e443db" /><Relationship Type="http://schemas.openxmlformats.org/officeDocument/2006/relationships/notesMaster" Target="/ppt/notesMasters/notesMaster1.xml" Id="Rfe52cabea305427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2a8a0e6aed74f1e" /><Relationship Type="http://schemas.openxmlformats.org/officeDocument/2006/relationships/notesMaster" Target="/ppt/notesMasters/notesMaster1.xml" Id="Rca57cf0b87e045b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4ebde5babe54aa3" /><Relationship Type="http://schemas.openxmlformats.org/officeDocument/2006/relationships/notesMaster" Target="/ppt/notesMasters/notesMaster1.xml" Id="Rbd8618e486bb40a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51c53a81a034234" /><Relationship Type="http://schemas.openxmlformats.org/officeDocument/2006/relationships/notesMaster" Target="/ppt/notesMasters/notesMaster1.xml" Id="Re67e730c8e1b468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17a210568e04dfc" /><Relationship Type="http://schemas.openxmlformats.org/officeDocument/2006/relationships/notesMaster" Target="/ppt/notesMasters/notesMaster1.xml" Id="Rfcbd72a782c84fa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4bac011b1114773" /><Relationship Type="http://schemas.openxmlformats.org/officeDocument/2006/relationships/notesMaster" Target="/ppt/notesMasters/notesMaster1.xml" Id="R3de050380f83494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0b137ce49a1489e" /><Relationship Type="http://schemas.openxmlformats.org/officeDocument/2006/relationships/notesMaster" Target="/ppt/notesMasters/notesMaster1.xml" Id="R85e0139f330642d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ad21b04a4874800" /><Relationship Type="http://schemas.openxmlformats.org/officeDocument/2006/relationships/notesMaster" Target="/ppt/notesMasters/notesMaster1.xml" Id="R246ae472b9fe4b0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a1a0b7194114bef" /><Relationship Type="http://schemas.openxmlformats.org/officeDocument/2006/relationships/notesMaster" Target="/ppt/notesMasters/notesMaster1.xml" Id="R8481b0acb58c456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5b9ae0d0dc64a28" /><Relationship Type="http://schemas.openxmlformats.org/officeDocument/2006/relationships/notesMaster" Target="/ppt/notesMasters/notesMaster1.xml" Id="Rf5d81aba552b428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148fdb546574129" /><Relationship Type="http://schemas.openxmlformats.org/officeDocument/2006/relationships/notesMaster" Target="/ppt/notesMasters/notesMaster1.xml" Id="R2247ca1951224a9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ddb73a636cb4e99" /><Relationship Type="http://schemas.openxmlformats.org/officeDocument/2006/relationships/notesMaster" Target="/ppt/notesMasters/notesMaster1.xml" Id="R60acec3cd3a3459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7d4c7fa19234123" /><Relationship Type="http://schemas.openxmlformats.org/officeDocument/2006/relationships/notesMaster" Target="/ppt/notesMasters/notesMaster1.xml" Id="R5796bcbf42fe474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532c0b81c424080" /><Relationship Type="http://schemas.openxmlformats.org/officeDocument/2006/relationships/notesMaster" Target="/ppt/notesMasters/notesMaster1.xml" Id="R3ac1332c26dd4ae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2fcaed6d57f421e" /><Relationship Type="http://schemas.openxmlformats.org/officeDocument/2006/relationships/notesMaster" Target="/ppt/notesMasters/notesMaster1.xml" Id="R5aa9ee751fe1460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48373012ea54272" /><Relationship Type="http://schemas.openxmlformats.org/officeDocument/2006/relationships/notesMaster" Target="/ppt/notesMasters/notesMaster1.xml" Id="R8fc31ab120e24e4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c8cf06b5e5f4976" /><Relationship Type="http://schemas.openxmlformats.org/officeDocument/2006/relationships/notesMaster" Target="/ppt/notesMasters/notesMaster1.xml" Id="R12c936432f5c4c0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c5d585be4e8b4ffa" /><Relationship Type="http://schemas.openxmlformats.org/officeDocument/2006/relationships/notesMaster" Target="/ppt/notesMasters/notesMaster1.xml" Id="Re4cfc4a6dd7f47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./tmp/pdfs/semantic-pages-22a1362/page-53.jpg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./research/2026-08-14/explorer/server.py</a:t>
            </a:r>
          </a:p>
          <a:p xmlns:a="http://schemas.openxmlformats.org/drawingml/2006/main">
            <a:r>
              <a:t>- ./research/2026-08-14/explorer/database_builder.py</a:t>
            </a:r>
          </a:p>
          <a:p xmlns:a="http://schemas.openxmlformats.org/drawingml/2006/main">
            <a:r>
              <a:t>- ./research/2026-08-14/explorer/deploy_kevindigital.sh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./research/2026-08-14/scripts/collect_catalogs.py</a:t>
            </a:r>
          </a:p>
          <a:p xmlns:a="http://schemas.openxmlformats.org/drawingml/2006/main">
            <a:r>
              <a:t>- ./research/2026-08-14/explorer/database_builder.py</a:t>
            </a:r>
          </a:p>
          <a:p xmlns:a="http://schemas.openxmlformats.org/drawingml/2006/main">
            <a:r>
              <a:t>- ./research/2026-08-18/scripts/prepare_aloruh_shein_for_explorer.py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./research/2026-08-14/explorer/explorer.db</a:t>
            </a:r>
          </a:p>
          <a:p xmlns:a="http://schemas.openxmlformats.org/drawingml/2006/main">
            <a:r>
              <a:t>- ./research/2026-08-14/explorer/database_builder.py</a:t>
            </a:r>
          </a:p>
          <a:p xmlns:a="http://schemas.openxmlformats.org/drawingml/2006/main">
            <a:r>
              <a:t>- Live SQLite aggregate query executed 2026-08-26: products, per-store distinct source_url, analyzed images, and analysis tags.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./research/2026-08-18/data/aloruh_shein_browser_export.json</a:t>
            </a:r>
          </a:p>
          <a:p xmlns:a="http://schemas.openxmlformats.org/drawingml/2006/main">
            <a:r>
              <a:t>- ./research/2026-08-18/data/aloruh_shein_browser_export.recollect.partial.json</a:t>
            </a:r>
          </a:p>
          <a:p xmlns:a="http://schemas.openxmlformats.org/drawingml/2006/main">
            <a:r>
              <a:t>- ./research/2026-08-18/scripts/prepare_aloruh_shein_for_explorer.py</a:t>
            </a:r>
          </a:p>
          <a:p xmlns:a="http://schemas.openxmlformats.org/drawingml/2006/main">
            <a:r>
              <a:t>- User-confirmed Browser Use login and captcha workflow in current conversation, 2026-08-26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./research/2026-08-14/scripts/collect_catalogs.py</a:t>
            </a:r>
          </a:p>
          <a:p xmlns:a="http://schemas.openxmlformats.org/drawingml/2006/main">
            <a:r>
              <a:t>- ./research/2026-08-14/explorer/database_builder.py</a:t>
            </a:r>
          </a:p>
          <a:p xmlns:a="http://schemas.openxmlformats.org/drawingml/2006/main">
            <a:r>
              <a:t>- ./research/2026-08-18/scripts/high_resolution_images.py</a:t>
            </a:r>
          </a:p>
          <a:p xmlns:a="http://schemas.openxmlformats.org/drawingml/2006/main">
            <a:r>
              <a:t>- ./research/2026-08-18/scripts/report_analysis_runner.py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./research/2026-08-18/scripts/fashion_image_analysis.py</a:t>
            </a:r>
          </a:p>
          <a:p xmlns:a="http://schemas.openxmlformats.org/drawingml/2006/main">
            <a:r>
              <a:t>- ./research/2026-08-14/explorer/src/imageAnalysis.js</a:t>
            </a:r>
          </a:p>
          <a:p xmlns:a="http://schemas.openxmlformats.org/drawingml/2006/main">
            <a:r>
              <a:t>- ./research/2026-08-14/explorer/database_builder.py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./research/2026-08-18/scripts/fashion_image_analysis.py</a:t>
            </a:r>
          </a:p>
          <a:p xmlns:a="http://schemas.openxmlformats.org/drawingml/2006/main">
            <a:r>
              <a:t>- ./research/2026-08-18/scripts/azure_openai_fashion_analyzer.py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./research/2026-08-18/scripts/analyze_explorer_images.py</a:t>
            </a:r>
          </a:p>
          <a:p xmlns:a="http://schemas.openxmlformats.org/drawingml/2006/main">
            <a:r>
              <a:t>- ./research/2026-08-18/scripts/azure_openai_fashion_analyzer.py</a:t>
            </a:r>
          </a:p>
          <a:p xmlns:a="http://schemas.openxmlformats.org/drawingml/2006/main">
            <a:r>
              <a:t>- ./research/2026-08-18/scripts/detailed_visual_analysis.py</a:t>
            </a:r>
          </a:p>
          <a:p xmlns:a="http://schemas.openxmlformats.org/drawingml/2006/main">
            <a:r>
              <a:t>- ./research/2026-08-18/scripts/report_analysis_model.py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./research/2026-08-18/scripts/azure_openai_fashion_analyzer.py</a:t>
            </a:r>
          </a:p>
          <a:p xmlns:a="http://schemas.openxmlformats.org/drawingml/2006/main">
            <a:r>
              <a:t>- ./research/2026-08-18/scripts/fashion_image_analysis.py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./research/2026-08-18/scripts/detailed_visual_analysis.py</a:t>
            </a:r>
          </a:p>
          <a:p xmlns:a="http://schemas.openxmlformats.org/drawingml/2006/main">
            <a:r>
              <a:t>- ./research/2026-08-18/scripts/report_analysis_model.py</a:t>
            </a:r>
          </a:p>
          <a:p xmlns:a="http://schemas.openxmlformats.org/drawingml/2006/main">
            <a:r>
              <a:t>- ./research/2026-08-18/scripts/report_analysis_runner.py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./research/2026-08-14/explorer/src/ImageDimensions.jsx</a:t>
            </a:r>
          </a:p>
          <a:p xmlns:a="http://schemas.openxmlformats.org/drawingml/2006/main">
            <a:r>
              <a:t>- ./research/2026-08-18/scripts/analyze_dimension_selection.py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./research/2026-08-18/scripts/analyze_dimension_selection.py</a:t>
            </a:r>
          </a:p>
          <a:p xmlns:a="http://schemas.openxmlformats.org/drawingml/2006/main">
            <a:r>
              <a:t>- ./research/2026-08-18/scripts/detailed_visual_analysis.py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tmp/slides-fashion-scope-20260825/assets/experience1-step1-enter-dimensions.png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tmp/slides-fashion-scope-20260825/assets/experience1-step2-select-dimensions.png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tmp/slides-fashion-scope-20260825/assets/experience1-step3-and-filter.png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tmp/slides-fashion-scope-20260825/assets/experience1-step4-matched-results.png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tmp/slides-fashion-scope-20260825/assets/experience1-step5-select-for-analysis.png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tmp/slides-fashion-scope-20260825/assets/experience1-step6-analysis-running.png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tmp/slides-fashion-scope-20260825/assets/experience1-step7-analysis-result.png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./research/2026-08-18/scripts/report_analysis_runner.py</a:t>
            </a:r>
          </a:p>
          <a:p xmlns:a="http://schemas.openxmlformats.org/drawingml/2006/main">
            <a:r>
              <a:t>- ./research/2026-08-18/scripts/report_analysis_model.py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./research/2026-08-18/scripts/report_analysis_runner.py</a:t>
            </a:r>
          </a:p>
          <a:p xmlns:a="http://schemas.openxmlformats.org/drawingml/2006/main">
            <a:r>
              <a:t>- ./research/2026-08-18/scripts/report_analysis_model.py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./research/2026-08-18/scripts/report_analysis_model.py</a:t>
            </a:r>
          </a:p>
          <a:p xmlns:a="http://schemas.openxmlformats.org/drawingml/2006/main">
            <a:r>
              <a:t>- ./research/2026-08-18/scripts/report_analysis_runner.py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./research/2026-08-18/scripts/report_analysis_model.py</a:t>
            </a:r>
          </a:p>
          <a:p xmlns:a="http://schemas.openxmlformats.org/drawingml/2006/main">
            <a:r>
              <a:t>- ./research/2026-08-18/scripts/report_analysis_runner.py</a:t>
            </a:r>
          </a:p>
          <a:p xmlns:a="http://schemas.openxmlformats.org/drawingml/2006/main">
            <a:r>
              <a:t>- ./research/2026-08-14/explorer/src/Reports.jsx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tmp/slides-fashion-scope-20260825/assets/experience2-step1-start-report.png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tmp/slides-fashion-scope-20260825/assets/experience2-step2-completed-analysis.png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tmp/slides-fashion-scope-20260825/assets/experience2-step3-review-section.png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tmp/slides-fashion-scope-20260825/assets/experience2-step4-approve-section.png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tmp/slides-fashion-scope-20260825/assets/experience2-step5-final-pdf.png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./research/2026-08-14/explorer/report_pdf_pages.py</a:t>
            </a:r>
          </a:p>
          <a:p xmlns:a="http://schemas.openxmlformats.org/drawingml/2006/main">
            <a:r>
              <a:t>- ./tmp/pdfs/production-semantic-22a1362.pdf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./tmp/pdfs/production-semantic-22a1362.pdf</a:t>
            </a:r>
          </a:p>
          <a:p xmlns:a="http://schemas.openxmlformats.org/drawingml/2006/main">
            <a:r>
              <a:t>- ./tmp/pdfs/semantic-pages-22a1362/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./research/2026-08-18/scripts/azure_openai_fashion_analyzer.py</a:t>
            </a:r>
          </a:p>
          <a:p xmlns:a="http://schemas.openxmlformats.org/drawingml/2006/main">
            <a:r>
              <a:t>- ./research/2026-08-18/scripts/fashion_image_analysis.py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./research/2026-08-18/scripts/azure_openai_fashion_analyzer.py</a:t>
            </a:r>
          </a:p>
          <a:p xmlns:a="http://schemas.openxmlformats.org/drawingml/2006/main">
            <a:r>
              <a:t>- ./research/2026-08-18/scripts/fashion_image_analysis.py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./research/2026-08-18/scripts/detailed_visual_analysis.py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./research/2026-08-18/scripts/report_analysis_model.py</a:t>
            </a:r>
          </a:p>
          <a:p xmlns:a="http://schemas.openxmlformats.org/drawingml/2006/main">
            <a:r>
              <a:t>- ./research/2026-08-18/scripts/report_analysis_runner.py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synthesis based on the verified Fashion Scope product and report workflow.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440326ccf440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f2a3765ffc4242" /><Relationship Type="http://schemas.openxmlformats.org/officeDocument/2006/relationships/slideLayout" Target="/ppt/slideLayouts/slideLayout1.xml" Id="R1885d3aad31e46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85d3aad31e46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bc32aa5814223" /><Relationship Type="http://schemas.openxmlformats.org/officeDocument/2006/relationships/image" Target="/ppt/media/image.jpeg" Id="Rde01058ba605486e" /><Relationship Type="http://schemas.openxmlformats.org/officeDocument/2006/relationships/notesSlide" Target="/ppt/notesSlides/notesSlide1.xml" Id="Rf0a7c42510474b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bfbc1a4704287" /><Relationship Type="http://schemas.openxmlformats.org/officeDocument/2006/relationships/notesSlide" Target="/ppt/notesSlides/notesSlide2.xml" Id="Rbb8a199e044c4b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3a6353d20409d" /><Relationship Type="http://schemas.openxmlformats.org/officeDocument/2006/relationships/notesSlide" Target="/ppt/notesSlides/notesSlide3.xml" Id="R5f7546664a1e47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cb1002a0a4c5d" /><Relationship Type="http://schemas.openxmlformats.org/officeDocument/2006/relationships/notesSlide" Target="/ppt/notesSlides/notesSlide4.xml" Id="R7b73b2fa920e42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01d01acf345cd" /><Relationship Type="http://schemas.openxmlformats.org/officeDocument/2006/relationships/notesSlide" Target="/ppt/notesSlides/notesSlide5.xml" Id="R8a75fcf8535f47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9c82560834fdc" /><Relationship Type="http://schemas.openxmlformats.org/officeDocument/2006/relationships/notesSlide" Target="/ppt/notesSlides/notesSlide6.xml" Id="Rb04e4c4639394d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9dc19640ef4b6f" /><Relationship Type="http://schemas.openxmlformats.org/officeDocument/2006/relationships/notesSlide" Target="/ppt/notesSlides/notesSlide7.xml" Id="R8bda36c1966443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5d5705a2b4550" /><Relationship Type="http://schemas.openxmlformats.org/officeDocument/2006/relationships/notesSlide" Target="/ppt/notesSlides/notesSlide8.xml" Id="R4287c6d615e740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b3d9bb2c44164" /><Relationship Type="http://schemas.openxmlformats.org/officeDocument/2006/relationships/notesSlide" Target="/ppt/notesSlides/notesSlide9.xml" Id="Rf404e02a4ab44b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0b79a9d164f80" /><Relationship Type="http://schemas.openxmlformats.org/officeDocument/2006/relationships/notesSlide" Target="/ppt/notesSlides/notesSlide10.xml" Id="R98ee5dbf116b4e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548e4f4c74340" /><Relationship Type="http://schemas.openxmlformats.org/officeDocument/2006/relationships/notesSlide" Target="/ppt/notesSlides/notesSlide11.xml" Id="Rbd79d8f1e0c64d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a0e945ba94513" /><Relationship Type="http://schemas.openxmlformats.org/officeDocument/2006/relationships/notesSlide" Target="/ppt/notesSlides/notesSlide12.xml" Id="R90bb4656b1264f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5bdede11543cb" /><Relationship Type="http://schemas.openxmlformats.org/officeDocument/2006/relationships/notesSlide" Target="/ppt/notesSlides/notesSlide13.xml" Id="R90a05ecb10be44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5a8e8849c4d04" /><Relationship Type="http://schemas.openxmlformats.org/officeDocument/2006/relationships/notesSlide" Target="/ppt/notesSlides/notesSlide14.xml" Id="Rd37200c439fe434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2b09f0a7d459e" /><Relationship Type="http://schemas.openxmlformats.org/officeDocument/2006/relationships/image" Target="/ppt/media/image.png" Id="R3ee1e2640b5a44ed" /><Relationship Type="http://schemas.openxmlformats.org/officeDocument/2006/relationships/notesSlide" Target="/ppt/notesSlides/notesSlide15.xml" Id="Rea914cdbee4d47d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1e40cf07a4872" /><Relationship Type="http://schemas.openxmlformats.org/officeDocument/2006/relationships/image" Target="/ppt/media/image2.png" Id="R9aa9cf1a02904b39" /><Relationship Type="http://schemas.openxmlformats.org/officeDocument/2006/relationships/notesSlide" Target="/ppt/notesSlides/notesSlide16.xml" Id="R760a1f01512b4da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e5952c3154c42" /><Relationship Type="http://schemas.openxmlformats.org/officeDocument/2006/relationships/image" Target="/ppt/media/image3.png" Id="R37a8733351ed4ff3" /><Relationship Type="http://schemas.openxmlformats.org/officeDocument/2006/relationships/notesSlide" Target="/ppt/notesSlides/notesSlide17.xml" Id="R27727498fd5246d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df157e134462c" /><Relationship Type="http://schemas.openxmlformats.org/officeDocument/2006/relationships/image" Target="/ppt/media/image4.png" Id="R7edd0d496ee246c0" /><Relationship Type="http://schemas.openxmlformats.org/officeDocument/2006/relationships/notesSlide" Target="/ppt/notesSlides/notesSlide18.xml" Id="R7b9798eb4856459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34fdb91f34d67" /><Relationship Type="http://schemas.openxmlformats.org/officeDocument/2006/relationships/image" Target="/ppt/media/image5.png" Id="Rba0ca098a5304fb6" /><Relationship Type="http://schemas.openxmlformats.org/officeDocument/2006/relationships/notesSlide" Target="/ppt/notesSlides/notesSlide19.xml" Id="Rdb612d54bdd14dc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4e176346b4e47" /><Relationship Type="http://schemas.openxmlformats.org/officeDocument/2006/relationships/image" Target="/ppt/media/image6.png" Id="R0c4b82fb61f0421c" /><Relationship Type="http://schemas.openxmlformats.org/officeDocument/2006/relationships/notesSlide" Target="/ppt/notesSlides/notesSlide20.xml" Id="R72ccc944829d459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f3b662c124023" /><Relationship Type="http://schemas.openxmlformats.org/officeDocument/2006/relationships/image" Target="/ppt/media/image7.png" Id="R12888376c00c4208" /><Relationship Type="http://schemas.openxmlformats.org/officeDocument/2006/relationships/notesSlide" Target="/ppt/notesSlides/notesSlide21.xml" Id="Reb2c17961e3546f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6d928047446cc" /><Relationship Type="http://schemas.openxmlformats.org/officeDocument/2006/relationships/notesSlide" Target="/ppt/notesSlides/notesSlide22.xml" Id="R6bca219134c84ca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0546c9f0c4b03" /><Relationship Type="http://schemas.openxmlformats.org/officeDocument/2006/relationships/notesSlide" Target="/ppt/notesSlides/notesSlide23.xml" Id="R011944075adf4ad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0d67f7e31476d" /><Relationship Type="http://schemas.openxmlformats.org/officeDocument/2006/relationships/notesSlide" Target="/ppt/notesSlides/notesSlide24.xml" Id="Rebbdeea99ea242a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46f741e164812" /><Relationship Type="http://schemas.openxmlformats.org/officeDocument/2006/relationships/notesSlide" Target="/ppt/notesSlides/notesSlide25.xml" Id="R6e33f5e7ef95474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0873d7c2a4cbd" /><Relationship Type="http://schemas.openxmlformats.org/officeDocument/2006/relationships/image" Target="/ppt/media/image8.png" Id="R1232a7c240064290" /><Relationship Type="http://schemas.openxmlformats.org/officeDocument/2006/relationships/notesSlide" Target="/ppt/notesSlides/notesSlide26.xml" Id="R654b80e330f7420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2b6bd6f5f438a" /><Relationship Type="http://schemas.openxmlformats.org/officeDocument/2006/relationships/image" Target="/ppt/media/image9.png" Id="R3ab5e3946bcf4814" /><Relationship Type="http://schemas.openxmlformats.org/officeDocument/2006/relationships/notesSlide" Target="/ppt/notesSlides/notesSlide27.xml" Id="R0d81621eb2bb4ca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f06bf062a4b94" /><Relationship Type="http://schemas.openxmlformats.org/officeDocument/2006/relationships/image" Target="/ppt/media/image10.png" Id="Ra409a18d867a435d" /><Relationship Type="http://schemas.openxmlformats.org/officeDocument/2006/relationships/notesSlide" Target="/ppt/notesSlides/notesSlide28.xml" Id="R533f8ae8cabe456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98001ade24a42" /><Relationship Type="http://schemas.openxmlformats.org/officeDocument/2006/relationships/image" Target="/ppt/media/image11.png" Id="R1bcbe123cc524146" /><Relationship Type="http://schemas.openxmlformats.org/officeDocument/2006/relationships/notesSlide" Target="/ppt/notesSlides/notesSlide29.xml" Id="R4c90a871e4b0454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ef268a86a410f" /><Relationship Type="http://schemas.openxmlformats.org/officeDocument/2006/relationships/image" Target="/ppt/media/image12.png" Id="R0a1d0bf18b72404a" /><Relationship Type="http://schemas.openxmlformats.org/officeDocument/2006/relationships/notesSlide" Target="/ppt/notesSlides/notesSlide30.xml" Id="R39f6e9564c2f4b5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dd4b625764d59" /><Relationship Type="http://schemas.openxmlformats.org/officeDocument/2006/relationships/image" Target="/ppt/media/image2.jpeg" Id="R53c22a4d9002431d" /><Relationship Type="http://schemas.openxmlformats.org/officeDocument/2006/relationships/image" Target="/ppt/media/image3.jpeg" Id="R785a6b88d96e49da" /><Relationship Type="http://schemas.openxmlformats.org/officeDocument/2006/relationships/image" Target="/ppt/media/image4.jpeg" Id="R66bc8955aa97447e" /><Relationship Type="http://schemas.openxmlformats.org/officeDocument/2006/relationships/image" Target="/ppt/media/image5.jpeg" Id="Rb602a6f43c0e4c7d" /><Relationship Type="http://schemas.openxmlformats.org/officeDocument/2006/relationships/image" Target="/ppt/media/image6.jpeg" Id="R23ebf0c5a08f4296" /><Relationship Type="http://schemas.openxmlformats.org/officeDocument/2006/relationships/notesSlide" Target="/ppt/notesSlides/notesSlide31.xml" Id="Rec151a3dffbe4e3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182c4b4904150" /><Relationship Type="http://schemas.openxmlformats.org/officeDocument/2006/relationships/image" Target="/ppt/media/image7.jpeg" Id="Re1dad827642f4327" /><Relationship Type="http://schemas.openxmlformats.org/officeDocument/2006/relationships/image" Target="/ppt/media/image8.jpeg" Id="Ra9854f4bf77748e8" /><Relationship Type="http://schemas.openxmlformats.org/officeDocument/2006/relationships/image" Target="/ppt/media/image9.jpeg" Id="R885af108cc864d3a" /><Relationship Type="http://schemas.openxmlformats.org/officeDocument/2006/relationships/image" Target="/ppt/media/image10.jpeg" Id="Re0749dcb114f451d" /><Relationship Type="http://schemas.openxmlformats.org/officeDocument/2006/relationships/notesSlide" Target="/ppt/notesSlides/notesSlide32.xml" Id="R5455c9735ef04cd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63cc439524dfe" /><Relationship Type="http://schemas.openxmlformats.org/officeDocument/2006/relationships/notesSlide" Target="/ppt/notesSlides/notesSlide33.xml" Id="R95a647d8cd9949a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88033929fb4487" /><Relationship Type="http://schemas.openxmlformats.org/officeDocument/2006/relationships/notesSlide" Target="/ppt/notesSlides/notesSlide34.xml" Id="R0eb5f0eadda2441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d20c76d574df7" /><Relationship Type="http://schemas.openxmlformats.org/officeDocument/2006/relationships/notesSlide" Target="/ppt/notesSlides/notesSlide35.xml" Id="Rb63ea58a0da94a1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bf552dde9f4274" /><Relationship Type="http://schemas.openxmlformats.org/officeDocument/2006/relationships/notesSlide" Target="/ppt/notesSlides/notesSlide36.xml" Id="R8558efa2ec6d49c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d62bb6f9043db" /><Relationship Type="http://schemas.openxmlformats.org/officeDocument/2006/relationships/notesSlide" Target="/ppt/notesSlides/notesSlide37.xml" Id="Raba1418e83e3478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81272a1364bc0" /><Relationship Type="http://schemas.openxmlformats.org/officeDocument/2006/relationships/notesSlide" Target="/ppt/notesSlides/notesSlide38.xml" Id="R1d873a99474342b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7cbd601614ce2" /><Relationship Type="http://schemas.openxmlformats.org/officeDocument/2006/relationships/notesSlide" Target="/ppt/notesSlides/notesSlide39.xml" Id="R7cabef26ec52434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9b88a4a60400b" /><Relationship Type="http://schemas.openxmlformats.org/officeDocument/2006/relationships/notesSlide" Target="/ppt/notesSlides/notesSlide40.xml" Id="R686c4ccf72db414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fdcc118d54c4e" /><Relationship Type="http://schemas.openxmlformats.org/officeDocument/2006/relationships/notesSlide" Target="/ppt/notesSlides/notesSlide41.xml" Id="R24f9fb3bd46243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0A81348-411B-40F2-A695-36420F8D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FASHION SCOPE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CC90BE1-228B-41CF-BF37-BF4234F0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商铺视觉数据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如何变成可交付结论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188E09C-6282-4715-BC33-D321BCBC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外部数据源 → 15维标准化 → 两种分析工作流 → 53页PDF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9B98CFFF-0788-4DE5-887A-8CC25E85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6545822-3199-4FD5-8147-9BC4DBB8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COLLECT  /  STANDARDIZE  /  ANALYZE  /  DELIVER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DADDBBD-243B-416C-B40C-AD3ED4A7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579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D91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D9198"/>
                </a:solidFill>
                <a:latin typeface="Arial"/>
                <a:ea typeface="Arial"/>
                <a:cs typeface="Arial"/>
              </a:rPr>
              <a:t>Discussion deck · 2026.08.26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79DC6C8-2045-4DCB-8D95-C3035042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0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9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9198"/>
                </a:solidFill>
                <a:latin typeface="Arial"/>
                <a:ea typeface="Arial"/>
                <a:cs typeface="Arial"/>
              </a:rPr>
              <a:t>FINAL DELIVERY / PAGE 53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697DDC59-280E-4DEB-84B8-D89F19FA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914400"/>
            <a:ext cx="6153150" cy="5219700"/>
          </a:xfrm>
          <a:prstGeom xmlns:a="http://schemas.openxmlformats.org/drawingml/2006/main" prst="roundRect">
            <a:avLst>
              <a:gd name="adj" fmla="val 146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1058ba605486e"/>
          <a:stretch xmlns:a="http://schemas.openxmlformats.org/drawingml/2006/main"/>
        </p:blipFill>
        <p:spPr>
          <a:xfrm xmlns:a="http://schemas.openxmlformats.org/drawingml/2006/main">
            <a:off x="5772150" y="1896070"/>
            <a:ext cx="5772150" cy="32468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53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65A3F5DC-3F1B-44D1-8DBC-69AE0059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55A8B9-0590-493E-A105-D650BE70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架构核心是“批量数据底座＋按需视觉推理”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4C05793-6A01-4412-964D-373D316D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高频浏览与筛选由本地数据层承担；只有需要语义判断时才调用视觉模型。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14BD57-C9EC-42EA-9EA1-4DF3B816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6F21BBBB-C370-40F6-B15D-09753208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arrow-1">
            <a:extLst xmlns:a="http://schemas.openxmlformats.org/drawingml/2006/main">
              <a:ext uri="{FF2B5EF4-FFF2-40B4-BE49-F238E27FC236}">
                <a16:creationId xmlns:a16="http://schemas.microsoft.com/office/drawing/2014/main" id="{D0931AAE-34D8-42BB-963D-BA7F1163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arrow-2">
            <a:extLst xmlns:a="http://schemas.openxmlformats.org/drawingml/2006/main">
              <a:ext uri="{FF2B5EF4-FFF2-40B4-BE49-F238E27FC236}">
                <a16:creationId xmlns:a16="http://schemas.microsoft.com/office/drawing/2014/main" id="{03B8E195-E3CD-4225-94A8-0B5F409C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stage-0">
            <a:extLst xmlns:a="http://schemas.openxmlformats.org/drawingml/2006/main">
              <a:ext uri="{FF2B5EF4-FFF2-40B4-BE49-F238E27FC236}">
                <a16:creationId xmlns:a16="http://schemas.microsoft.com/office/drawing/2014/main" id="{96CA35C1-0E33-41ED-8A66-E931EEE2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3BB68CE-0A02-4E13-AE58-4F13A691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B269DB2-3D9F-4404-BE0D-C6062701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外部数据源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F3F8164-7CF7-4B1A-B9D6-4C73719F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Shopify /products.json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Algolia browse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WooCommerce Store API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Use＋人工验证</a:t>
            </a:r>
          </a:p>
        </p:txBody>
      </p:sp>
      <p:sp>
        <p:nvSpPr>
          <p:cNvPr id="12" name="stage-1">
            <a:extLst xmlns:a="http://schemas.openxmlformats.org/drawingml/2006/main">
              <a:ext uri="{FF2B5EF4-FFF2-40B4-BE49-F238E27FC236}">
                <a16:creationId xmlns:a16="http://schemas.microsoft.com/office/drawing/2014/main" id="{1B10868F-A766-429B-AAFD-BEF1EE09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5AB1B4C-8CE0-4F5F-B1C2-6DBC7D6A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8AD6442-0C1B-4FD1-8442-A884EAB8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标准化数据层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0E3145C-8D69-484B-85EC-BB227736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统一商品/图片 JSONL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稳定商品与图片键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URL/内容哈希去重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15维标签＋SQLite</a:t>
            </a:r>
          </a:p>
        </p:txBody>
      </p:sp>
      <p:sp>
        <p:nvSpPr>
          <p:cNvPr id="16" name="stage-2">
            <a:extLst xmlns:a="http://schemas.openxmlformats.org/drawingml/2006/main">
              <a:ext uri="{FF2B5EF4-FFF2-40B4-BE49-F238E27FC236}">
                <a16:creationId xmlns:a16="http://schemas.microsoft.com/office/drawing/2014/main" id="{7E28C84E-6849-4D3D-A9AA-2C3CDA13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1004817-95F4-494A-9E87-76317B45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9613602-59FD-44C5-B745-20CDB0FF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分析与证据引擎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60E2861-3D48-4C3A-9F18-CECC6EFE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体验1：组合筛选＋精读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体验2：整体分析＋报告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Terra批量打标 / Sol精读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报告共享高清缓存与证据</a:t>
            </a:r>
          </a:p>
        </p:txBody>
      </p:sp>
      <p:sp>
        <p:nvSpPr>
          <p:cNvPr id="20" name="stage-3">
            <a:extLst xmlns:a="http://schemas.openxmlformats.org/drawingml/2006/main">
              <a:ext uri="{FF2B5EF4-FFF2-40B4-BE49-F238E27FC236}">
                <a16:creationId xmlns:a16="http://schemas.microsoft.com/office/drawing/2014/main" id="{3E3089CD-4EB2-4A4F-B919-802D6C8C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D7B791B9-A53D-4814-A4D1-41177E91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A25AED6-912C-41B3-94DC-8CC60BD9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产品与交付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CD263D1-A814-4495-856D-7F6927827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React 19 + Vite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Python HTTP API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五个Section逐章审核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ReportLab/Pillow 53页PDF</a:t>
            </a:r>
          </a:p>
        </p:txBody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11019A5D-B501-469A-B447-C39E5A75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352D5D5-7404-4E76-B175-F89855E1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生产运行：Nginx 反向代理 → Azure VM 上的 systemd 服务 → 127.0.0.1:8603 → 持久化任务与报告目录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EF08D120-27E8-435B-A4E5-6A2CC7DD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9C93D947-B6AA-4878-A1D1-01B44B77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8137802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eyebrow">
            <a:extLst xmlns:a="http://schemas.openxmlformats.org/drawingml/2006/main">
              <a:ext uri="{FF2B5EF4-FFF2-40B4-BE49-F238E27FC236}">
                <a16:creationId xmlns:a16="http://schemas.microsoft.com/office/drawing/2014/main" id="{65C07F4D-FAF7-46B1-A321-9FE6B64C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COLLECTION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64FE87-B4A6-4AB1-B778-D5D71494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外部数据源：每个站点采用最适合它的采集入口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DAC65C2-31BF-4615-9F93-7F0DE8A0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这一页只看四种采集入口与统一入库过程；Aloruh（SHEIN）的人机协作细节在第5页单独展开。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1DFA12-A55E-4F12-8084-718202AF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20E43BFB-7D70-459C-A534-2062FCBC6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5998D61-F4DA-4EAE-829D-F16E85FB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SHOPIFY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BF60867-4FF4-400D-9262-05F20656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Princess Polly / Motel Rocks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75F47ED-8CAD-445C-B1FF-4F5292A7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/products.json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250件/页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集合页补 new / best / sale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CC03F96-F421-4966-BCD6-DB4932AE3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 · 变体 · 价格 · 图片URL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261B1BC5-72AA-4B5D-B8E2-3F20759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5E4A08E-7B36-48AF-A8C3-3F627E2D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ALGOLIA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ABFEE27-9958-43A4-87A5-14B753ED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PrettyLittleThing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5457ECD-9F1A-42EA-BA16-56767A0F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 index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1,000件/批＋cursor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另查索引排名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D7781CB-32EF-4367-9E95-F89DDE61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 · 库存 · 图片 · 热销标记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9EFEA687-E7BC-4C14-B511-1F6BFDAA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1A524C8-0893-4208-B7F8-73032CE5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WOOCOMMERCE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C24ECAB-632E-4216-9ACD-24F957F3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local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48F307C-2D0B-44A3-A24E-D1995245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Store API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per_page=100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保留robots/sitemap快照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222B427-27A2-43BB-8FF5-958E5D32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本地商品 · 标签 · 图片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676CF903-D867-4287-B7A3-151528FC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180BA99-6E59-4BAC-9F68-01B87F85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BROWSER USE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06CBCCC-6A87-4562-B951-600C754B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SHEIN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4B23EA4-65A0-41A4-AD65-4FDB22F0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真实浏览器会话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目录与必要详情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完整流程见第5页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110CC98-A8A0-4B8A-B969-7DE0EA3F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品牌目录 · 商品详情 · 图片序列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77B9A9B5-6E44-430D-BC11-958C8CE8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111061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low-arrow">
            <a:extLst xmlns:a="http://schemas.openxmlformats.org/drawingml/2006/main">
              <a:ext uri="{FF2B5EF4-FFF2-40B4-BE49-F238E27FC236}">
                <a16:creationId xmlns:a16="http://schemas.microsoft.com/office/drawing/2014/main" id="{E205A3A7-1443-48A8-B724-69B65F73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flow-arrow">
            <a:extLst xmlns:a="http://schemas.openxmlformats.org/drawingml/2006/main">
              <a:ext uri="{FF2B5EF4-FFF2-40B4-BE49-F238E27FC236}">
                <a16:creationId xmlns:a16="http://schemas.microsoft.com/office/drawing/2014/main" id="{4A940CDE-1ADF-4ED8-B721-DAC0F7A0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flow-arrow">
            <a:extLst xmlns:a="http://schemas.openxmlformats.org/drawingml/2006/main">
              <a:ext uri="{FF2B5EF4-FFF2-40B4-BE49-F238E27FC236}">
                <a16:creationId xmlns:a16="http://schemas.microsoft.com/office/drawing/2014/main" id="{50D1706F-842C-48EF-8785-52DBAF3C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9" name="flow-arrow">
            <a:extLst xmlns:a="http://schemas.openxmlformats.org/drawingml/2006/main">
              <a:ext uri="{FF2B5EF4-FFF2-40B4-BE49-F238E27FC236}">
                <a16:creationId xmlns:a16="http://schemas.microsoft.com/office/drawing/2014/main" id="{6B96FC98-70E5-4B80-944F-0271BDA7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DB07D572-6424-42A1-A87D-7B59A835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ALL SOURCES / SHARED LANDING PIPELINE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FBB6E383-B392-4420-A628-BA41ED7E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D1FFACCA-AFBD-40B0-A185-522044C3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分页读取来源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D1FFDA91-31C7-4FA5-8E72-9678D3B4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88EA55D3-AF9A-4958-AC70-4A199BA3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保存原始响应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7D4EAD8A-D992-4E40-9A5E-059803C8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62CDDB40-DF2F-4B12-9AF0-6FA2AC1F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展开商品与图片URL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9FE44428-1A56-4A32-987B-CD00AEEF0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6C6361AD-0807-4CC0-A8E7-C09535C3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生成稳定键＋去重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A606683A-06B3-4232-8D9C-F5834580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85DFE902-8C14-4DC7-82F8-7585768D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写入SQLite供UI查询</a:t>
            </a:r>
          </a:p>
        </p:txBody>
      </p:sp>
      <p:sp>
        <p:nvSpPr>
          <p:cNvPr id="41" name="rule">
            <a:extLst xmlns:a="http://schemas.openxmlformats.org/drawingml/2006/main">
              <a:ext uri="{FF2B5EF4-FFF2-40B4-BE49-F238E27FC236}">
                <a16:creationId xmlns:a16="http://schemas.microsoft.com/office/drawing/2014/main" id="{80C8CD5E-23DB-489D-BE03-B003C556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footer">
            <a:extLst xmlns:a="http://schemas.openxmlformats.org/drawingml/2006/main">
              <a:ext uri="{FF2B5EF4-FFF2-40B4-BE49-F238E27FC236}">
                <a16:creationId xmlns:a16="http://schemas.microsoft.com/office/drawing/2014/main" id="{179F585F-CD28-4DB0-A435-7D47A0F6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0842759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eyebrow">
            <a:extLst xmlns:a="http://schemas.openxmlformats.org/drawingml/2006/main">
              <a:ext uri="{FF2B5EF4-FFF2-40B4-BE49-F238E27FC236}">
                <a16:creationId xmlns:a16="http://schemas.microsoft.com/office/drawing/2014/main" id="{FBB29164-CFC6-401E-B6D8-E1F9156A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COLLECTION INVENTORY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E0FEF4F-7587-428D-92E2-37CECBF6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60,260个商品对应288,831条图片地址，先建索引再按需下载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094F4AA-4216-4DE3-8820-9C38B443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一条图片索引 = 一个图片URL＋所属店铺、商品和图片位置；它记录“去哪里取图”，本身不是图片文件。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62F9D6E-97C7-4CD3-917F-FBEBC5E6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nventory-metric-0">
            <a:extLst xmlns:a="http://schemas.openxmlformats.org/drawingml/2006/main">
              <a:ext uri="{FF2B5EF4-FFF2-40B4-BE49-F238E27FC236}">
                <a16:creationId xmlns:a16="http://schemas.microsoft.com/office/drawing/2014/main" id="{3A553435-E16E-4A50-8B80-6E984A50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60,260</a:t>
            </a:r>
          </a:p>
        </p:txBody>
      </p:sp>
      <p:sp>
        <p:nvSpPr>
          <p:cNvPr id="6" name="inventory-metric-label-0">
            <a:extLst xmlns:a="http://schemas.openxmlformats.org/drawingml/2006/main">
              <a:ext uri="{FF2B5EF4-FFF2-40B4-BE49-F238E27FC236}">
                <a16:creationId xmlns:a16="http://schemas.microsoft.com/office/drawing/2014/main" id="{D9353262-421D-4C5D-835D-F00A036C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商品记录</a:t>
            </a:r>
          </a:p>
        </p:txBody>
      </p:sp>
      <p:sp>
        <p:nvSpPr>
          <p:cNvPr id="7" name="inventory-metric-1">
            <a:extLst xmlns:a="http://schemas.openxmlformats.org/drawingml/2006/main">
              <a:ext uri="{FF2B5EF4-FFF2-40B4-BE49-F238E27FC236}">
                <a16:creationId xmlns:a16="http://schemas.microsoft.com/office/drawing/2014/main" id="{1B1E51B2-5D23-4F42-8955-2E89703D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288,831</a:t>
            </a:r>
          </a:p>
        </p:txBody>
      </p:sp>
      <p:sp>
        <p:nvSpPr>
          <p:cNvPr id="8" name="inventory-metric-label-1">
            <a:extLst xmlns:a="http://schemas.openxmlformats.org/drawingml/2006/main">
              <a:ext uri="{FF2B5EF4-FFF2-40B4-BE49-F238E27FC236}">
                <a16:creationId xmlns:a16="http://schemas.microsoft.com/office/drawing/2014/main" id="{D4A948D5-0644-486F-80D2-96B8C7CD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图片URL索引（非文件）</a:t>
            </a:r>
          </a:p>
        </p:txBody>
      </p:sp>
      <p:sp>
        <p:nvSpPr>
          <p:cNvPr id="9" name="inventory-metric-2">
            <a:extLst xmlns:a="http://schemas.openxmlformats.org/drawingml/2006/main">
              <a:ext uri="{FF2B5EF4-FFF2-40B4-BE49-F238E27FC236}">
                <a16:creationId xmlns:a16="http://schemas.microsoft.com/office/drawing/2014/main" id="{893BADAC-768A-4E01-8A6A-92B26C14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25,916</a:t>
            </a:r>
          </a:p>
        </p:txBody>
      </p:sp>
      <p:sp>
        <p:nvSpPr>
          <p:cNvPr id="10" name="inventory-metric-label-2">
            <a:extLst xmlns:a="http://schemas.openxmlformats.org/drawingml/2006/main">
              <a:ext uri="{FF2B5EF4-FFF2-40B4-BE49-F238E27FC236}">
                <a16:creationId xmlns:a16="http://schemas.microsoft.com/office/drawing/2014/main" id="{FA516136-BD68-4898-8413-EEBC50C6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已完成15维分析图片</a:t>
            </a:r>
          </a:p>
        </p:txBody>
      </p:sp>
      <p:sp>
        <p:nvSpPr>
          <p:cNvPr id="11" name="inventory-metric-3">
            <a:extLst xmlns:a="http://schemas.openxmlformats.org/drawingml/2006/main">
              <a:ext uri="{FF2B5EF4-FFF2-40B4-BE49-F238E27FC236}">
                <a16:creationId xmlns:a16="http://schemas.microsoft.com/office/drawing/2014/main" id="{BED35F96-5770-4903-92B0-340E6B11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606,007</a:t>
            </a:r>
          </a:p>
        </p:txBody>
      </p:sp>
      <p:sp>
        <p:nvSpPr>
          <p:cNvPr id="12" name="inventory-metric-label-3">
            <a:extLst xmlns:a="http://schemas.openxmlformats.org/drawingml/2006/main">
              <a:ext uri="{FF2B5EF4-FFF2-40B4-BE49-F238E27FC236}">
                <a16:creationId xmlns:a16="http://schemas.microsoft.com/office/drawing/2014/main" id="{5510B00F-2232-4C8F-AF91-2947BC8C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累计分析标签</a:t>
            </a:r>
          </a:p>
        </p:txBody>
      </p:sp>
      <p:sp>
        <p:nvSpPr>
          <p:cNvPr id="13" name="inventory-table-header">
            <a:extLst xmlns:a="http://schemas.openxmlformats.org/drawingml/2006/main">
              <a:ext uri="{FF2B5EF4-FFF2-40B4-BE49-F238E27FC236}">
                <a16:creationId xmlns:a16="http://schemas.microsoft.com/office/drawing/2014/main" id="{686DD291-C5DC-4B8E-BA78-D1D00FF9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1106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ventory-header-0">
            <a:extLst xmlns:a="http://schemas.openxmlformats.org/drawingml/2006/main">
              <a:ext uri="{FF2B5EF4-FFF2-40B4-BE49-F238E27FC236}">
                <a16:creationId xmlns:a16="http://schemas.microsoft.com/office/drawing/2014/main" id="{946B5D68-7F83-4FC2-947F-29230C52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店铺</a:t>
            </a:r>
          </a:p>
        </p:txBody>
      </p:sp>
      <p:sp>
        <p:nvSpPr>
          <p:cNvPr id="15" name="inventory-header-1">
            <a:extLst xmlns:a="http://schemas.openxmlformats.org/drawingml/2006/main">
              <a:ext uri="{FF2B5EF4-FFF2-40B4-BE49-F238E27FC236}">
                <a16:creationId xmlns:a16="http://schemas.microsoft.com/office/drawing/2014/main" id="{9750326A-D5AF-4502-B51D-47AA9D7B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47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商品记录</a:t>
            </a:r>
          </a:p>
        </p:txBody>
      </p:sp>
      <p:sp>
        <p:nvSpPr>
          <p:cNvPr id="16" name="inventory-header-2">
            <a:extLst xmlns:a="http://schemas.openxmlformats.org/drawingml/2006/main">
              <a:ext uri="{FF2B5EF4-FFF2-40B4-BE49-F238E27FC236}">
                <a16:creationId xmlns:a16="http://schemas.microsoft.com/office/drawing/2014/main" id="{EC289CF5-6B4D-472C-95C0-5F39EACC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图片URL索引（条）</a:t>
            </a:r>
          </a:p>
        </p:txBody>
      </p:sp>
      <p:sp>
        <p:nvSpPr>
          <p:cNvPr id="17" name="inventory-header-3">
            <a:extLst xmlns:a="http://schemas.openxmlformats.org/drawingml/2006/main">
              <a:ext uri="{FF2B5EF4-FFF2-40B4-BE49-F238E27FC236}">
                <a16:creationId xmlns:a16="http://schemas.microsoft.com/office/drawing/2014/main" id="{79AE1992-A8AD-4801-AA6A-1DB68EF4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479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已分析图片</a:t>
            </a:r>
          </a:p>
        </p:txBody>
      </p:sp>
      <p:sp>
        <p:nvSpPr>
          <p:cNvPr id="18" name="inventory-store-0">
            <a:extLst xmlns:a="http://schemas.openxmlformats.org/drawingml/2006/main">
              <a:ext uri="{FF2B5EF4-FFF2-40B4-BE49-F238E27FC236}">
                <a16:creationId xmlns:a16="http://schemas.microsoft.com/office/drawing/2014/main" id="{7985D27A-D4AA-44C3-8BB1-BAB7CCED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Aloruh（SHEIN）</a:t>
            </a:r>
          </a:p>
        </p:txBody>
      </p:sp>
      <p:sp>
        <p:nvSpPr>
          <p:cNvPr id="19" name="inventory-products-0">
            <a:extLst xmlns:a="http://schemas.openxmlformats.org/drawingml/2006/main">
              <a:ext uri="{FF2B5EF4-FFF2-40B4-BE49-F238E27FC236}">
                <a16:creationId xmlns:a16="http://schemas.microsoft.com/office/drawing/2014/main" id="{9B7B89F9-1D38-4511-9AA3-CDACA56E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765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2,848</a:t>
            </a:r>
          </a:p>
        </p:txBody>
      </p:sp>
      <p:sp>
        <p:nvSpPr>
          <p:cNvPr id="20" name="inventory-images-0">
            <a:extLst xmlns:a="http://schemas.openxmlformats.org/drawingml/2006/main">
              <a:ext uri="{FF2B5EF4-FFF2-40B4-BE49-F238E27FC236}">
                <a16:creationId xmlns:a16="http://schemas.microsoft.com/office/drawing/2014/main" id="{8C8C2894-1B64-44F6-BE2C-B567989D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765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4,352</a:t>
            </a:r>
          </a:p>
        </p:txBody>
      </p:sp>
      <p:sp>
        <p:nvSpPr>
          <p:cNvPr id="21" name="inventory-analyzed-0">
            <a:extLst xmlns:a="http://schemas.openxmlformats.org/drawingml/2006/main">
              <a:ext uri="{FF2B5EF4-FFF2-40B4-BE49-F238E27FC236}">
                <a16:creationId xmlns:a16="http://schemas.microsoft.com/office/drawing/2014/main" id="{99CFC18E-013F-40B9-A3AA-D1C175F9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0765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343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15F85B19-0FB0-4195-AB78-5381E813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194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inventory-row-bg-1">
            <a:extLst xmlns:a="http://schemas.openxmlformats.org/drawingml/2006/main">
              <a:ext uri="{FF2B5EF4-FFF2-40B4-BE49-F238E27FC236}">
                <a16:creationId xmlns:a16="http://schemas.microsoft.com/office/drawing/2014/main" id="{CC7C5EE9-B91D-4708-BB41-823C2204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106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nventory-store-1">
            <a:extLst xmlns:a="http://schemas.openxmlformats.org/drawingml/2006/main">
              <a:ext uri="{FF2B5EF4-FFF2-40B4-BE49-F238E27FC236}">
                <a16:creationId xmlns:a16="http://schemas.microsoft.com/office/drawing/2014/main" id="{68CFED4C-43BA-4DF1-AF43-48F9E00F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local</a:t>
            </a:r>
          </a:p>
        </p:txBody>
      </p:sp>
      <p:sp>
        <p:nvSpPr>
          <p:cNvPr id="25" name="inventory-products-1">
            <a:extLst xmlns:a="http://schemas.openxmlformats.org/drawingml/2006/main">
              <a:ext uri="{FF2B5EF4-FFF2-40B4-BE49-F238E27FC236}">
                <a16:creationId xmlns:a16="http://schemas.microsoft.com/office/drawing/2014/main" id="{4B51A701-0D73-4167-85CD-5BCAC5CA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718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10,487</a:t>
            </a:r>
          </a:p>
        </p:txBody>
      </p:sp>
      <p:sp>
        <p:nvSpPr>
          <p:cNvPr id="26" name="inventory-images-1">
            <a:extLst xmlns:a="http://schemas.openxmlformats.org/drawingml/2006/main">
              <a:ext uri="{FF2B5EF4-FFF2-40B4-BE49-F238E27FC236}">
                <a16:creationId xmlns:a16="http://schemas.microsoft.com/office/drawing/2014/main" id="{D69366C5-3A7C-494D-AFF0-6E841104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718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10,771</a:t>
            </a:r>
          </a:p>
        </p:txBody>
      </p:sp>
      <p:sp>
        <p:nvSpPr>
          <p:cNvPr id="27" name="inventory-analyzed-1">
            <a:extLst xmlns:a="http://schemas.openxmlformats.org/drawingml/2006/main">
              <a:ext uri="{FF2B5EF4-FFF2-40B4-BE49-F238E27FC236}">
                <a16:creationId xmlns:a16="http://schemas.microsoft.com/office/drawing/2014/main" id="{5EA9437D-0158-4DBB-A04D-5B883026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718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10,466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F5992EE3-F081-42C6-9840-7F2469A6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147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inventory-store-2">
            <a:extLst xmlns:a="http://schemas.openxmlformats.org/drawingml/2006/main">
              <a:ext uri="{FF2B5EF4-FFF2-40B4-BE49-F238E27FC236}">
                <a16:creationId xmlns:a16="http://schemas.microsoft.com/office/drawing/2014/main" id="{5F70DB69-69D3-494F-9658-A8700E28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Princess Polly</a:t>
            </a:r>
          </a:p>
        </p:txBody>
      </p:sp>
      <p:sp>
        <p:nvSpPr>
          <p:cNvPr id="30" name="inventory-products-2">
            <a:extLst xmlns:a="http://schemas.openxmlformats.org/drawingml/2006/main">
              <a:ext uri="{FF2B5EF4-FFF2-40B4-BE49-F238E27FC236}">
                <a16:creationId xmlns:a16="http://schemas.microsoft.com/office/drawing/2014/main" id="{A0C90F1F-47EE-4716-A2AB-5AC88BA8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671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17,008</a:t>
            </a:r>
          </a:p>
        </p:txBody>
      </p:sp>
      <p:sp>
        <p:nvSpPr>
          <p:cNvPr id="31" name="inventory-images-2">
            <a:extLst xmlns:a="http://schemas.openxmlformats.org/drawingml/2006/main">
              <a:ext uri="{FF2B5EF4-FFF2-40B4-BE49-F238E27FC236}">
                <a16:creationId xmlns:a16="http://schemas.microsoft.com/office/drawing/2014/main" id="{4C20BFD2-C6DD-41CE-BC01-43FCF31E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671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119,205</a:t>
            </a:r>
          </a:p>
        </p:txBody>
      </p:sp>
      <p:sp>
        <p:nvSpPr>
          <p:cNvPr id="32" name="inventory-analyzed-2">
            <a:extLst xmlns:a="http://schemas.openxmlformats.org/drawingml/2006/main">
              <a:ext uri="{FF2B5EF4-FFF2-40B4-BE49-F238E27FC236}">
                <a16:creationId xmlns:a16="http://schemas.microsoft.com/office/drawing/2014/main" id="{6B5E788F-589F-4B83-9A7B-761B81E2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671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5,613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036922F2-61DF-4F8C-9ADC-F7F74C95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inventory-row-bg-3">
            <a:extLst xmlns:a="http://schemas.openxmlformats.org/drawingml/2006/main">
              <a:ext uri="{FF2B5EF4-FFF2-40B4-BE49-F238E27FC236}">
                <a16:creationId xmlns:a16="http://schemas.microsoft.com/office/drawing/2014/main" id="{9CDD8E35-D5D0-4D96-BE2D-3E831E6D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11106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inventory-store-3">
            <a:extLst xmlns:a="http://schemas.openxmlformats.org/drawingml/2006/main">
              <a:ext uri="{FF2B5EF4-FFF2-40B4-BE49-F238E27FC236}">
                <a16:creationId xmlns:a16="http://schemas.microsoft.com/office/drawing/2014/main" id="{EF493386-8A9A-40D0-8EBF-28EB9EE5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Motel Rocks</a:t>
            </a:r>
          </a:p>
        </p:txBody>
      </p:sp>
      <p:sp>
        <p:nvSpPr>
          <p:cNvPr id="36" name="inventory-products-3">
            <a:extLst xmlns:a="http://schemas.openxmlformats.org/drawingml/2006/main">
              <a:ext uri="{FF2B5EF4-FFF2-40B4-BE49-F238E27FC236}">
                <a16:creationId xmlns:a16="http://schemas.microsoft.com/office/drawing/2014/main" id="{7B791364-AA39-4EA1-B454-8629A7B3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62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4,422</a:t>
            </a:r>
          </a:p>
        </p:txBody>
      </p:sp>
      <p:sp>
        <p:nvSpPr>
          <p:cNvPr id="37" name="inventory-images-3">
            <a:extLst xmlns:a="http://schemas.openxmlformats.org/drawingml/2006/main">
              <a:ext uri="{FF2B5EF4-FFF2-40B4-BE49-F238E27FC236}">
                <a16:creationId xmlns:a16="http://schemas.microsoft.com/office/drawing/2014/main" id="{89486923-4797-4088-9452-2168915F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62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26,676</a:t>
            </a:r>
          </a:p>
        </p:txBody>
      </p:sp>
      <p:sp>
        <p:nvSpPr>
          <p:cNvPr id="38" name="inventory-analyzed-3">
            <a:extLst xmlns:a="http://schemas.openxmlformats.org/drawingml/2006/main">
              <a:ext uri="{FF2B5EF4-FFF2-40B4-BE49-F238E27FC236}">
                <a16:creationId xmlns:a16="http://schemas.microsoft.com/office/drawing/2014/main" id="{468D8E94-B2DE-483D-8183-306AABF1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5624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2,141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A851DFE4-82FF-4DBB-9356-D7154755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inventory-store-4">
            <a:extLst xmlns:a="http://schemas.openxmlformats.org/drawingml/2006/main">
              <a:ext uri="{FF2B5EF4-FFF2-40B4-BE49-F238E27FC236}">
                <a16:creationId xmlns:a16="http://schemas.microsoft.com/office/drawing/2014/main" id="{18B6C9B6-6764-4090-9835-1F17B8D3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PrettyLittleThing</a:t>
            </a:r>
          </a:p>
        </p:txBody>
      </p:sp>
      <p:sp>
        <p:nvSpPr>
          <p:cNvPr id="41" name="inventory-products-4">
            <a:extLst xmlns:a="http://schemas.openxmlformats.org/drawingml/2006/main">
              <a:ext uri="{FF2B5EF4-FFF2-40B4-BE49-F238E27FC236}">
                <a16:creationId xmlns:a16="http://schemas.microsoft.com/office/drawing/2014/main" id="{1583BD21-EE68-467E-A328-0E6B1D8E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57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25,495</a:t>
            </a:r>
          </a:p>
        </p:txBody>
      </p:sp>
      <p:sp>
        <p:nvSpPr>
          <p:cNvPr id="42" name="inventory-images-4">
            <a:extLst xmlns:a="http://schemas.openxmlformats.org/drawingml/2006/main">
              <a:ext uri="{FF2B5EF4-FFF2-40B4-BE49-F238E27FC236}">
                <a16:creationId xmlns:a16="http://schemas.microsoft.com/office/drawing/2014/main" id="{3A22AB3F-4CDA-42A4-88F6-18126B46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57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127,827</a:t>
            </a:r>
          </a:p>
        </p:txBody>
      </p:sp>
      <p:sp>
        <p:nvSpPr>
          <p:cNvPr id="43" name="inventory-analyzed-4">
            <a:extLst xmlns:a="http://schemas.openxmlformats.org/drawingml/2006/main">
              <a:ext uri="{FF2B5EF4-FFF2-40B4-BE49-F238E27FC236}">
                <a16:creationId xmlns:a16="http://schemas.microsoft.com/office/drawing/2014/main" id="{85AD8545-C58A-401D-9FAD-31A246DA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57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7,353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626504A6-CDBE-482A-B586-B72C174E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006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inventory-total">
            <a:extLst xmlns:a="http://schemas.openxmlformats.org/drawingml/2006/main">
              <a:ext uri="{FF2B5EF4-FFF2-40B4-BE49-F238E27FC236}">
                <a16:creationId xmlns:a16="http://schemas.microsoft.com/office/drawing/2014/main" id="{1DA0D666-D19D-49C9-A35E-F072F202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1106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inventory-total-label">
            <a:extLst xmlns:a="http://schemas.openxmlformats.org/drawingml/2006/main">
              <a:ext uri="{FF2B5EF4-FFF2-40B4-BE49-F238E27FC236}">
                <a16:creationId xmlns:a16="http://schemas.microsoft.com/office/drawing/2014/main" id="{A29D87B7-5C23-4F51-B8FC-AD7AE8AF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全站合计</a:t>
            </a:r>
          </a:p>
        </p:txBody>
      </p:sp>
      <p:sp>
        <p:nvSpPr>
          <p:cNvPr id="47" name="inventory-total-products">
            <a:extLst xmlns:a="http://schemas.openxmlformats.org/drawingml/2006/main">
              <a:ext uri="{FF2B5EF4-FFF2-40B4-BE49-F238E27FC236}">
                <a16:creationId xmlns:a16="http://schemas.microsoft.com/office/drawing/2014/main" id="{ED34E90F-48C5-4C77-B2AA-779575A3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695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60,260</a:t>
            </a:r>
          </a:p>
        </p:txBody>
      </p:sp>
      <p:sp>
        <p:nvSpPr>
          <p:cNvPr id="48" name="inventory-total-images">
            <a:extLst xmlns:a="http://schemas.openxmlformats.org/drawingml/2006/main">
              <a:ext uri="{FF2B5EF4-FFF2-40B4-BE49-F238E27FC236}">
                <a16:creationId xmlns:a16="http://schemas.microsoft.com/office/drawing/2014/main" id="{CEB8D082-E6BD-415A-9043-46399B78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95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288,831</a:t>
            </a:r>
          </a:p>
        </p:txBody>
      </p:sp>
      <p:sp>
        <p:nvSpPr>
          <p:cNvPr id="49" name="inventory-total-analyzed">
            <a:extLst xmlns:a="http://schemas.openxmlformats.org/drawingml/2006/main">
              <a:ext uri="{FF2B5EF4-FFF2-40B4-BE49-F238E27FC236}">
                <a16:creationId xmlns:a16="http://schemas.microsoft.com/office/drawing/2014/main" id="{880B5DCA-E238-443E-8DC3-B99E1CA3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695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25,916</a:t>
            </a:r>
          </a:p>
        </p:txBody>
      </p:sp>
      <p:sp>
        <p:nvSpPr>
          <p:cNvPr id="50" name="inventory-method-note">
            <a:extLst xmlns:a="http://schemas.openxmlformats.org/drawingml/2006/main">
              <a:ext uri="{FF2B5EF4-FFF2-40B4-BE49-F238E27FC236}">
                <a16:creationId xmlns:a16="http://schemas.microsoft.com/office/drawing/2014/main" id="{8DE6D452-1BE0-4D07-B783-DE65BF6B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110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读法：1个商品若有5张图，就产生5条图片URL索引；本页不统计本地实际下载文件数。</a:t>
            </a:r>
          </a:p>
        </p:txBody>
      </p:sp>
      <p:sp>
        <p:nvSpPr>
          <p:cNvPr id="51" name="rule">
            <a:extLst xmlns:a="http://schemas.openxmlformats.org/drawingml/2006/main">
              <a:ext uri="{FF2B5EF4-FFF2-40B4-BE49-F238E27FC236}">
                <a16:creationId xmlns:a16="http://schemas.microsoft.com/office/drawing/2014/main" id="{DCE873FB-6661-46BD-891F-ECED3277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footer">
            <a:extLst xmlns:a="http://schemas.openxmlformats.org/drawingml/2006/main">
              <a:ext uri="{FF2B5EF4-FFF2-40B4-BE49-F238E27FC236}">
                <a16:creationId xmlns:a16="http://schemas.microsoft.com/office/drawing/2014/main" id="{0BF47EA5-5BEB-40F9-B50E-990AC3D3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explorer.db live inventory · 2026-08-26</a:t>
            </a:r>
          </a:p>
        </p:txBody>
      </p:sp>
    </p:spTree>
    <p:extLst>
      <p:ext uri="{BB962C8B-B14F-4D97-AF65-F5344CB8AC3E}">
        <p14:creationId xmlns:p14="http://schemas.microsoft.com/office/powerpoint/2010/main" val="1767041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eyebrow">
            <a:extLst xmlns:a="http://schemas.openxmlformats.org/drawingml/2006/main">
              <a:ext uri="{FF2B5EF4-FFF2-40B4-BE49-F238E27FC236}">
                <a16:creationId xmlns:a16="http://schemas.microsoft.com/office/drawing/2014/main" id="{FD246671-BE7F-4185-B2AA-9C74299E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SHEIN DEEP DIVE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E4E202-6B6B-4E5B-BCE1-7680D127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Aloruh（SHEIN）的采集核心是可暂停、可恢复的人机协同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0203ED5-0E48-4E91-87C1-C5DB6035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Use负责操作真实浏览器；用户本人负责登录与验证码；采集器只导出公开商品卡片和必要详情。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CCC1DC-4378-4722-87D0-FCFABFF0E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metric-目录页完成">
            <a:extLst xmlns:a="http://schemas.openxmlformats.org/drawingml/2006/main">
              <a:ext uri="{FF2B5EF4-FFF2-40B4-BE49-F238E27FC236}">
                <a16:creationId xmlns:a16="http://schemas.microsoft.com/office/drawing/2014/main" id="{F83B7C7E-A546-4EEB-AA6F-E054347E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26/26</a:t>
            </a:r>
          </a:p>
        </p:txBody>
      </p:sp>
      <p:sp>
        <p:nvSpPr>
          <p:cNvPr id="6" name="metric-label-目录页完成">
            <a:extLst xmlns:a="http://schemas.openxmlformats.org/drawingml/2006/main">
              <a:ext uri="{FF2B5EF4-FFF2-40B4-BE49-F238E27FC236}">
                <a16:creationId xmlns:a16="http://schemas.microsoft.com/office/drawing/2014/main" id="{F8D6430B-DB86-4E6F-84D4-59351214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目录页完成</a:t>
            </a:r>
          </a:p>
        </p:txBody>
      </p:sp>
      <p:sp>
        <p:nvSpPr>
          <p:cNvPr id="7" name="metric-原始商品卡片">
            <a:extLst xmlns:a="http://schemas.openxmlformats.org/drawingml/2006/main">
              <a:ext uri="{FF2B5EF4-FFF2-40B4-BE49-F238E27FC236}">
                <a16:creationId xmlns:a16="http://schemas.microsoft.com/office/drawing/2014/main" id="{544E947C-9865-4FD8-9C48-1D458F47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4287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3,006</a:t>
            </a:r>
          </a:p>
        </p:txBody>
      </p:sp>
      <p:sp>
        <p:nvSpPr>
          <p:cNvPr id="8" name="metric-label-原始商品卡片">
            <a:extLst xmlns:a="http://schemas.openxmlformats.org/drawingml/2006/main">
              <a:ext uri="{FF2B5EF4-FFF2-40B4-BE49-F238E27FC236}">
                <a16:creationId xmlns:a16="http://schemas.microsoft.com/office/drawing/2014/main" id="{0B7D7EA3-30DF-4775-9A47-251B8BC6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原始商品卡片</a:t>
            </a:r>
          </a:p>
        </p:txBody>
      </p:sp>
      <p:sp>
        <p:nvSpPr>
          <p:cNvPr id="9" name="metric-抽样商品详情">
            <a:extLst xmlns:a="http://schemas.openxmlformats.org/drawingml/2006/main">
              <a:ext uri="{FF2B5EF4-FFF2-40B4-BE49-F238E27FC236}">
                <a16:creationId xmlns:a16="http://schemas.microsoft.com/office/drawing/2014/main" id="{D0D474C8-7581-41DE-AD4B-7C2C7115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287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10" name="metric-label-抽样商品详情">
            <a:extLst xmlns:a="http://schemas.openxmlformats.org/drawingml/2006/main">
              <a:ext uri="{FF2B5EF4-FFF2-40B4-BE49-F238E27FC236}">
                <a16:creationId xmlns:a16="http://schemas.microsoft.com/office/drawing/2014/main" id="{B7E6E72E-2C32-48F8-B300-A9D37E78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57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抽样商品详情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37DB0E8-E410-415A-A466-C1374262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638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导出文件明确不包含 cookies、tokens、headers、credentials 或风险参数。</a:t>
            </a:r>
          </a:p>
        </p:txBody>
      </p:sp>
      <p:sp>
        <p:nvSpPr>
          <p:cNvPr id="12" name="flow-arrow">
            <a:extLst xmlns:a="http://schemas.openxmlformats.org/drawingml/2006/main">
              <a:ext uri="{FF2B5EF4-FFF2-40B4-BE49-F238E27FC236}">
                <a16:creationId xmlns:a16="http://schemas.microsoft.com/office/drawing/2014/main" id="{BDDB8847-81D6-4708-B3D5-170D1E19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flow-arrow">
            <a:extLst xmlns:a="http://schemas.openxmlformats.org/drawingml/2006/main">
              <a:ext uri="{FF2B5EF4-FFF2-40B4-BE49-F238E27FC236}">
                <a16:creationId xmlns:a16="http://schemas.microsoft.com/office/drawing/2014/main" id="{99910495-928F-4984-A1E3-56C68BA9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flow-arrow">
            <a:extLst xmlns:a="http://schemas.openxmlformats.org/drawingml/2006/main">
              <a:ext uri="{FF2B5EF4-FFF2-40B4-BE49-F238E27FC236}">
                <a16:creationId xmlns:a16="http://schemas.microsoft.com/office/drawing/2014/main" id="{D154F181-EA67-433F-B4E0-9B6BC4DB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flow-arrow">
            <a:extLst xmlns:a="http://schemas.openxmlformats.org/drawingml/2006/main">
              <a:ext uri="{FF2B5EF4-FFF2-40B4-BE49-F238E27FC236}">
                <a16:creationId xmlns:a16="http://schemas.microsoft.com/office/drawing/2014/main" id="{04F67E6D-163A-4EF2-8EDC-B154AA0E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flow-arrow">
            <a:extLst xmlns:a="http://schemas.openxmlformats.org/drawingml/2006/main">
              <a:ext uri="{FF2B5EF4-FFF2-40B4-BE49-F238E27FC236}">
                <a16:creationId xmlns:a16="http://schemas.microsoft.com/office/drawing/2014/main" id="{2491324F-9CAA-4170-A730-95C78F45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shein-step-0">
            <a:extLst xmlns:a="http://schemas.openxmlformats.org/drawingml/2006/main">
              <a:ext uri="{FF2B5EF4-FFF2-40B4-BE49-F238E27FC236}">
                <a16:creationId xmlns:a16="http://schemas.microsoft.com/office/drawing/2014/main" id="{DD994DF5-7F40-4D93-BB16-5619B5D8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D74DFE0-4121-4CFB-9355-32F3BEEF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DB5C9FF-F6EC-4C10-B164-4C28F9B0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打开真实会话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AE9C35AC-B160-43EC-8D0C-B0FAC32C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Use进入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SHEIN SG Aloruh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品牌排序页</a:t>
            </a:r>
          </a:p>
        </p:txBody>
      </p:sp>
      <p:sp>
        <p:nvSpPr>
          <p:cNvPr id="21" name="shein-step-1">
            <a:extLst xmlns:a="http://schemas.openxmlformats.org/drawingml/2006/main">
              <a:ext uri="{FF2B5EF4-FFF2-40B4-BE49-F238E27FC236}">
                <a16:creationId xmlns:a16="http://schemas.microsoft.com/office/drawing/2014/main" id="{9CE61F6F-371F-4DEE-AC2C-8E79700F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BCAD519-12CF-490F-AC0D-14044F77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97DDDB7-357F-4258-AC7D-83C94EDD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人工过验证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ACC7E134-7581-4B02-9C7A-488E528D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用户本人登录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并处理验证码/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风险验证</a:t>
            </a:r>
          </a:p>
        </p:txBody>
      </p:sp>
      <p:sp>
        <p:nvSpPr>
          <p:cNvPr id="25" name="shein-step-2">
            <a:extLst xmlns:a="http://schemas.openxmlformats.org/drawingml/2006/main">
              <a:ext uri="{FF2B5EF4-FFF2-40B4-BE49-F238E27FC236}">
                <a16:creationId xmlns:a16="http://schemas.microsoft.com/office/drawing/2014/main" id="{0E8873DC-3134-4456-9640-CA9E1BE7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E5C9495-2A5C-4604-B2B8-2BC36EAC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A8DA283-52B3-466A-931A-ECCC3396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逐页取卡片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AA2A09B0-65E8-4A5E-8E3E-C757857D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page=1…26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提取商品ID、价格、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分类、销量文案、图片URL</a:t>
            </a:r>
          </a:p>
        </p:txBody>
      </p:sp>
      <p:sp>
        <p:nvSpPr>
          <p:cNvPr id="29" name="shein-step-3">
            <a:extLst xmlns:a="http://schemas.openxmlformats.org/drawingml/2006/main">
              <a:ext uri="{FF2B5EF4-FFF2-40B4-BE49-F238E27FC236}">
                <a16:creationId xmlns:a16="http://schemas.microsoft.com/office/drawing/2014/main" id="{EBDE8F89-A429-4C22-BCB4-C75EF8D0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EE01D6CD-4DA4-422E-808B-DA8B237B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12338558-8DFC-40B8-B91B-B2AD49D1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每页写检查点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9DF0F082-5F89-468A-A80A-0BD7654D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记录已完成页码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遇风险拦截即停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保留partial文件</a:t>
            </a:r>
          </a:p>
        </p:txBody>
      </p:sp>
      <p:sp>
        <p:nvSpPr>
          <p:cNvPr id="33" name="shein-step-4">
            <a:extLst xmlns:a="http://schemas.openxmlformats.org/drawingml/2006/main">
              <a:ext uri="{FF2B5EF4-FFF2-40B4-BE49-F238E27FC236}">
                <a16:creationId xmlns:a16="http://schemas.microsoft.com/office/drawing/2014/main" id="{CBDD7B01-7AB8-4808-9A2C-5F4819F4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144E6745-00AE-45D6-83FB-0FDC8BE0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B9BACC97-4871-498F-991D-880F08A9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补必要详情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42A079F9-4934-400F-A646-A74CC0B6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对150个目标商品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读取尺码、颜色、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更完整图片序列</a:t>
            </a:r>
          </a:p>
        </p:txBody>
      </p:sp>
      <p:sp>
        <p:nvSpPr>
          <p:cNvPr id="37" name="shein-step-5">
            <a:extLst xmlns:a="http://schemas.openxmlformats.org/drawingml/2006/main">
              <a:ext uri="{FF2B5EF4-FFF2-40B4-BE49-F238E27FC236}">
                <a16:creationId xmlns:a16="http://schemas.microsoft.com/office/drawing/2014/main" id="{505F6BE4-62BE-467E-BD28-4356F7BE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35477DEB-EE45-4A8A-A604-6A319ECE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ACC4F30E-9D7E-4025-869F-7A4EBA83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导出可审计原始层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02460B5E-2CEE-4E8B-865D-8C8B6EE6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目录页、商品组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失败记录、采集状态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全部保留</a:t>
            </a:r>
          </a:p>
        </p:txBody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3B0BA355-3305-4E5D-AAC4-CF4678E5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144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B60530B9-81A2-4F25-9CA6-12C46676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rPr>
              <a:t>恢复策略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AE2FC4BA-AA61-4486-97E5-23EB5781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864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风险拦截时不伪装成功：保留最后完成页、失败页和原因；人工解除验证后从检查点继续，再合并新旧卡片。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4394C4DF-8A76-4132-85D1-351830E5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footer">
            <a:extLst xmlns:a="http://schemas.openxmlformats.org/drawingml/2006/main">
              <a:ext uri="{FF2B5EF4-FFF2-40B4-BE49-F238E27FC236}">
                <a16:creationId xmlns:a16="http://schemas.microsoft.com/office/drawing/2014/main" id="{C4A84BF9-DC26-449D-88B4-86BE6A3F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8981794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BFB71A72-509D-4FD0-BB23-25851930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→ 2 · DATA MOVEMENT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19AF3A-CB44-40EC-A647-8E12A022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快的是URL索引；高清下载与AI推理只在需要时发生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02D9DB0-6E93-4023-BF9F-3CBC752D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把“商品元数据、图片URL、图片文件、AI结果”拆成不同层，才能快速更新、精确去重并控制费用。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8CCEAB-F5DA-4286-99BF-BDE427C4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34B66922-08F1-4836-8F4A-96828B92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E96B1440-14D9-4E36-9051-CAC0E500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62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data-lane-0">
            <a:extLst xmlns:a="http://schemas.openxmlformats.org/drawingml/2006/main">
              <a:ext uri="{FF2B5EF4-FFF2-40B4-BE49-F238E27FC236}">
                <a16:creationId xmlns:a16="http://schemas.microsoft.com/office/drawing/2014/main" id="{BEC8445F-606E-45AA-9BEB-1AAA3E7D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31FA7D7-9774-4B27-AE27-0EEFBE48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 / URL INDEX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9D3EA5C-9172-43A3-BEAA-F7D22FF6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官方响应已经带 image_urls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230DF62F-F2B8-4014-BFD1-EB6A3590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42DD7F0-1DBF-4486-B845-9892D3C2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本地展开为 images_*.jsonl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键：store_id＋product_id＋position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计算 url_sha256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不下载图片文件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因此可以快速形成全量索引</a:t>
            </a:r>
          </a:p>
        </p:txBody>
      </p:sp>
      <p:sp>
        <p:nvSpPr>
          <p:cNvPr id="12" name="data-lane-1">
            <a:extLst xmlns:a="http://schemas.openxmlformats.org/drawingml/2006/main">
              <a:ext uri="{FF2B5EF4-FFF2-40B4-BE49-F238E27FC236}">
                <a16:creationId xmlns:a16="http://schemas.microsoft.com/office/drawing/2014/main" id="{D6767C43-CC92-4DB9-B67C-6DBC6433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C68DE37-0931-41D3-8506-65137961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 / NORMALIZED DB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91EE759-68BF-4271-97B5-008C0DBB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去重后进入SQLite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5ABEB3FC-F999-40D3-9D38-39AE2661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0BB5C0C-01E2-40CD-9812-E54F4B85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商品ID去重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店铺内 source_url 唯一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同URL分析一次并复用结果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15维标签拆入查询表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UI只分页读取需要的行</a:t>
            </a:r>
          </a:p>
        </p:txBody>
      </p:sp>
      <p:sp>
        <p:nvSpPr>
          <p:cNvPr id="17" name="data-lane-2">
            <a:extLst xmlns:a="http://schemas.openxmlformats.org/drawingml/2006/main">
              <a:ext uri="{FF2B5EF4-FFF2-40B4-BE49-F238E27FC236}">
                <a16:creationId xmlns:a16="http://schemas.microsoft.com/office/drawing/2014/main" id="{806E2BF2-B246-4B14-A80E-7210FC4A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629EEFB-B5BF-4361-8C34-BBC79834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 / HD + AI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A686EB4-B4B9-4366-8DA2-DD04A9BC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付费分析才取高清字节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143E5786-EEA2-4512-9285-CF71665F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1957ABA-CAE7-4878-8AC3-9E8B7EB4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尝试去缩略图URL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校验公网主机、格式、尺寸和SHA256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整体报告任务共享 _image_cache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缓存损坏或不达高清门槛才重下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随后由Sol读取detail=high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D6A1AD06-EABB-4BF4-B141-1A646158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0515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51B2343-94DC-4142-BAD5-6B3B11A0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关键边界：url_sha256只证明“URL已索引”；content_sha256或缓存SHA256才证明“图片字节已下载并校验”。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1D220BD7-E344-48D9-BFB9-D146C07D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717B490E-5D2D-416A-9D08-9D93AE98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1880532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yebrow">
            <a:extLst xmlns:a="http://schemas.openxmlformats.org/drawingml/2006/main">
              <a:ext uri="{FF2B5EF4-FFF2-40B4-BE49-F238E27FC236}">
                <a16:creationId xmlns:a16="http://schemas.microsoft.com/office/drawing/2014/main" id="{BB2BBF65-3F5A-41C1-AD42-F070BE6A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NORMALIZATION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188434-E437-4A96-9640-0FC35E76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标准化数据层：不同来源被压成同一套商品、图片与15维标签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208B655-A28F-4EEC-AEAF-1DA55F35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每张图片保留 store_id / product_id / position / source_url；每个维度保存标签与置信度。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4242A5D-7C48-4DC5-A5AF-D74C24F5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A71DEB5A-7DFB-4B37-B1D3-698903B1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369FA89D-48CC-46B6-98A8-0F6B408F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96654C73-AB00-4BB4-BF73-7BAFFB2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BF70CF89-EF4A-44E6-BCBF-B94F7E1C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97CD770B-F352-486D-B8A6-0F474549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4279973-52B5-49FB-B096-D1414645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原始来源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FE3B1F53-0182-4757-99AB-FF21B20A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86D4DDA-A413-4A1D-A415-5DDD61CA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商品JSONL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1D491477-1A61-42A4-8A48-2D74651A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5C31D67-974C-4281-B5EB-985FBC9F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图片JSONL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1099F981-F5C0-4C43-89E5-DCB1CB76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9A74F68-19C1-4413-B0FD-1F946D64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URL/内容去重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C72D7ECF-6C13-4BDF-ACBB-869F7D98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B120B31-41C3-4D23-981C-1E89F815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SQLite索引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FCB5E6B-D4B8-439B-8FF4-6A3397CF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 DIMENSIONS / FASHION-IMAGE-V2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4CD86639-DBBF-4903-8F6A-50D64D1B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2373AF8-DFA4-4416-A496-F3CF1257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商品属性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53D1154-9367-4543-8320-33E9354D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01 商品类别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02 廓形与版型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03 设计元素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04 穿着场合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09 材质纹理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10 色彩图案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C761EEB0-1FE3-4F69-9088-5B2E2A0E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ECCEEB6-0CE8-430B-800F-C0A86008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镜头与呈现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6BAD627-7442-442E-B496-4B75D49C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05 构图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06 视角动作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07 卖点部位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08 拍摄场景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13 光线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14 模特状态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B97C71FE-4C7C-4B78-B8AD-2D847A04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056BABA5-E21A-4EA4-A67F-71B7C618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风格与版面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38B450C-D71F-4E0B-A9AC-75671ACC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11 视觉语言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12 搭配方式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 图文叠加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D6D4A530-CF1C-4985-B29C-D0DBDE0D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0877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873F698-449C-4153-9366-B88EF7C0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42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标签可多值 · 商品类别单值 · 每维都有 confidence · 新增图片可按固定字典增量分析</a:t>
            </a:r>
          </a:p>
        </p:txBody>
      </p:sp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872FB09F-AE8B-4D5F-ADDC-9E5C082B2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footer">
            <a:extLst xmlns:a="http://schemas.openxmlformats.org/drawingml/2006/main">
              <a:ext uri="{FF2B5EF4-FFF2-40B4-BE49-F238E27FC236}">
                <a16:creationId xmlns:a16="http://schemas.microsoft.com/office/drawing/2014/main" id="{A7148BEB-546F-4F3E-B291-650712A9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5119677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eyebrow">
            <a:extLst xmlns:a="http://schemas.openxmlformats.org/drawingml/2006/main">
              <a:ext uri="{FF2B5EF4-FFF2-40B4-BE49-F238E27FC236}">
                <a16:creationId xmlns:a16="http://schemas.microsoft.com/office/drawing/2014/main" id="{1C9C5C9F-DBC6-4631-81EC-A0D3BE1B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TAXONOMY EXAMPLES 1/2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4D4957-C09B-409B-8928-68EBC8ED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15维不是抽象概念：前8维把商品与镜头变成可组合条件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AE333D3-BF26-4EFB-8FFD-4A2663A7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每个例子都来自 fashion-image-v2 的受控标签字典；UI显示中文，数据库保存稳定英文代码。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5289F49-79AA-4D4A-AA3A-19501FEC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dimension-index-01">
            <a:extLst xmlns:a="http://schemas.openxmlformats.org/drawingml/2006/main">
              <a:ext uri="{FF2B5EF4-FFF2-40B4-BE49-F238E27FC236}">
                <a16:creationId xmlns:a16="http://schemas.microsoft.com/office/drawing/2014/main" id="{5B4404A7-CF80-48A4-8553-11016D38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dimension-title-01">
            <a:extLst xmlns:a="http://schemas.openxmlformats.org/drawingml/2006/main">
              <a:ext uri="{FF2B5EF4-FFF2-40B4-BE49-F238E27FC236}">
                <a16:creationId xmlns:a16="http://schemas.microsoft.com/office/drawing/2014/main" id="{E857DB69-D1DF-4E73-BAAE-170A4DD8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商品类别 / product_category</a:t>
            </a:r>
          </a:p>
        </p:txBody>
      </p:sp>
      <p:sp>
        <p:nvSpPr>
          <p:cNvPr id="7" name="dimension-tags-01">
            <a:extLst xmlns:a="http://schemas.openxmlformats.org/drawingml/2006/main">
              <a:ext uri="{FF2B5EF4-FFF2-40B4-BE49-F238E27FC236}">
                <a16:creationId xmlns:a16="http://schemas.microsoft.com/office/drawing/2014/main" id="{F531ECE6-985F-44A9-81F2-EEE7E1F9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上衣 · 半身裙 · 连衣裙 · 套装</a:t>
            </a:r>
          </a:p>
        </p:txBody>
      </p:sp>
      <p:sp>
        <p:nvSpPr>
          <p:cNvPr id="8" name="dimension-note-01">
            <a:extLst xmlns:a="http://schemas.openxmlformats.org/drawingml/2006/main">
              <a:ext uri="{FF2B5EF4-FFF2-40B4-BE49-F238E27FC236}">
                <a16:creationId xmlns:a16="http://schemas.microsoft.com/office/drawing/2014/main" id="{9C68F3D3-14DC-4442-A121-35D84A73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先回答主售商品是什么；这是唯一必须单值的维度。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C52014FF-CD2F-4B37-8A8B-AF28E2A7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mension-index-02">
            <a:extLst xmlns:a="http://schemas.openxmlformats.org/drawingml/2006/main">
              <a:ext uri="{FF2B5EF4-FFF2-40B4-BE49-F238E27FC236}">
                <a16:creationId xmlns:a16="http://schemas.microsoft.com/office/drawing/2014/main" id="{BAADBC42-69A6-417D-BD13-846BE5B3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dimension-title-02">
            <a:extLst xmlns:a="http://schemas.openxmlformats.org/drawingml/2006/main">
              <a:ext uri="{FF2B5EF4-FFF2-40B4-BE49-F238E27FC236}">
                <a16:creationId xmlns:a16="http://schemas.microsoft.com/office/drawing/2014/main" id="{FB3A2A6D-2A74-4B2B-AA26-60112B0D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廓形版型 / silhouette_fit</a:t>
            </a:r>
          </a:p>
        </p:txBody>
      </p:sp>
      <p:sp>
        <p:nvSpPr>
          <p:cNvPr id="12" name="dimension-tags-02">
            <a:extLst xmlns:a="http://schemas.openxmlformats.org/drawingml/2006/main">
              <a:ext uri="{FF2B5EF4-FFF2-40B4-BE49-F238E27FC236}">
                <a16:creationId xmlns:a16="http://schemas.microsoft.com/office/drawing/2014/main" id="{0103DFA5-F115-453D-B03D-6693761E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修身包体 · 宽松 · A字廓形 · 紧身胸衣式</a:t>
            </a:r>
          </a:p>
        </p:txBody>
      </p:sp>
      <p:sp>
        <p:nvSpPr>
          <p:cNvPr id="13" name="dimension-note-02">
            <a:extLst xmlns:a="http://schemas.openxmlformats.org/drawingml/2006/main">
              <a:ext uri="{FF2B5EF4-FFF2-40B4-BE49-F238E27FC236}">
                <a16:creationId xmlns:a16="http://schemas.microsoft.com/office/drawing/2014/main" id="{BA6E9257-0FB9-496F-8AE7-D7107C03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用于比较贴体、宽松、A字与结构塑形的展示差异。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6FD85633-15E8-4EAE-800D-A2630AFD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mension-index-03">
            <a:extLst xmlns:a="http://schemas.openxmlformats.org/drawingml/2006/main">
              <a:ext uri="{FF2B5EF4-FFF2-40B4-BE49-F238E27FC236}">
                <a16:creationId xmlns:a16="http://schemas.microsoft.com/office/drawing/2014/main" id="{1CE544DF-D218-42C3-8A4E-8972B38E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imension-title-03">
            <a:extLst xmlns:a="http://schemas.openxmlformats.org/drawingml/2006/main">
              <a:ext uri="{FF2B5EF4-FFF2-40B4-BE49-F238E27FC236}">
                <a16:creationId xmlns:a16="http://schemas.microsoft.com/office/drawing/2014/main" id="{48534B32-E808-4BEC-9DDF-CFEE7B32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设计元素 / design_elements</a:t>
            </a:r>
          </a:p>
        </p:txBody>
      </p:sp>
      <p:sp>
        <p:nvSpPr>
          <p:cNvPr id="17" name="dimension-tags-03">
            <a:extLst xmlns:a="http://schemas.openxmlformats.org/drawingml/2006/main">
              <a:ext uri="{FF2B5EF4-FFF2-40B4-BE49-F238E27FC236}">
                <a16:creationId xmlns:a16="http://schemas.microsoft.com/office/drawing/2014/main" id="{DD6DF191-9735-4AB5-A65B-E02A93C1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露背 · 镂空 · 褶皱 · 压褶</a:t>
            </a:r>
          </a:p>
        </p:txBody>
      </p:sp>
      <p:sp>
        <p:nvSpPr>
          <p:cNvPr id="18" name="dimension-note-03">
            <a:extLst xmlns:a="http://schemas.openxmlformats.org/drawingml/2006/main">
              <a:ext uri="{FF2B5EF4-FFF2-40B4-BE49-F238E27FC236}">
                <a16:creationId xmlns:a16="http://schemas.microsoft.com/office/drawing/2014/main" id="{CC6E1666-3C54-46F6-AD52-C4EE640F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把露背、挖空、褶皱、压褶等具体结构显式化。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70EA0CC1-AA2C-424E-837D-392E7175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imension-index-04">
            <a:extLst xmlns:a="http://schemas.openxmlformats.org/drawingml/2006/main">
              <a:ext uri="{FF2B5EF4-FFF2-40B4-BE49-F238E27FC236}">
                <a16:creationId xmlns:a16="http://schemas.microsoft.com/office/drawing/2014/main" id="{78E275A1-8384-4FEA-B75E-DA5485FF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dimension-title-04">
            <a:extLst xmlns:a="http://schemas.openxmlformats.org/drawingml/2006/main">
              <a:ext uri="{FF2B5EF4-FFF2-40B4-BE49-F238E27FC236}">
                <a16:creationId xmlns:a16="http://schemas.microsoft.com/office/drawing/2014/main" id="{046A88A1-2467-4751-AC52-C95467D3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穿着场合 / occasion</a:t>
            </a:r>
          </a:p>
        </p:txBody>
      </p:sp>
      <p:sp>
        <p:nvSpPr>
          <p:cNvPr id="22" name="dimension-tags-04">
            <a:extLst xmlns:a="http://schemas.openxmlformats.org/drawingml/2006/main">
              <a:ext uri="{FF2B5EF4-FFF2-40B4-BE49-F238E27FC236}">
                <a16:creationId xmlns:a16="http://schemas.microsoft.com/office/drawing/2014/main" id="{89D06EDA-BE94-4A27-B8C4-D132CC42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日常 · 外出聚会 · 度假 · 婚礼宾客</a:t>
            </a:r>
          </a:p>
        </p:txBody>
      </p:sp>
      <p:sp>
        <p:nvSpPr>
          <p:cNvPr id="23" name="dimension-note-04">
            <a:extLst xmlns:a="http://schemas.openxmlformats.org/drawingml/2006/main">
              <a:ext uri="{FF2B5EF4-FFF2-40B4-BE49-F238E27FC236}">
                <a16:creationId xmlns:a16="http://schemas.microsoft.com/office/drawing/2014/main" id="{879D57FA-1D36-4ED1-8975-86F63912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描述服装适用语境，不等于照片实际拍摄地点。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5496E044-9924-4EC1-9B1B-5A42383C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mension-index-05">
            <a:extLst xmlns:a="http://schemas.openxmlformats.org/drawingml/2006/main">
              <a:ext uri="{FF2B5EF4-FFF2-40B4-BE49-F238E27FC236}">
                <a16:creationId xmlns:a16="http://schemas.microsoft.com/office/drawing/2014/main" id="{B0A654EF-583F-44A5-A4B9-06584B14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dimension-title-05">
            <a:extLst xmlns:a="http://schemas.openxmlformats.org/drawingml/2006/main">
              <a:ext uri="{FF2B5EF4-FFF2-40B4-BE49-F238E27FC236}">
                <a16:creationId xmlns:a16="http://schemas.microsoft.com/office/drawing/2014/main" id="{2B8FB617-D317-44BB-A132-84B416A1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画面构图 / composition</a:t>
            </a:r>
          </a:p>
        </p:txBody>
      </p:sp>
      <p:sp>
        <p:nvSpPr>
          <p:cNvPr id="27" name="dimension-tags-05">
            <a:extLst xmlns:a="http://schemas.openxmlformats.org/drawingml/2006/main">
              <a:ext uri="{FF2B5EF4-FFF2-40B4-BE49-F238E27FC236}">
                <a16:creationId xmlns:a16="http://schemas.microsoft.com/office/drawing/2014/main" id="{8528D5F6-D4B4-46F1-8AF1-700867DB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全身 · 近景 · 细节特写 · 纯商品图</a:t>
            </a:r>
          </a:p>
        </p:txBody>
      </p:sp>
      <p:sp>
        <p:nvSpPr>
          <p:cNvPr id="28" name="dimension-note-05">
            <a:extLst xmlns:a="http://schemas.openxmlformats.org/drawingml/2006/main">
              <a:ext uri="{FF2B5EF4-FFF2-40B4-BE49-F238E27FC236}">
                <a16:creationId xmlns:a16="http://schemas.microsoft.com/office/drawing/2014/main" id="{53D056EF-53E2-499B-AFD9-A5F8A751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区分全身、近景、细节与无模特商品图。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DB68DC11-5073-4263-B45B-B2AC8D3F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imension-index-06">
            <a:extLst xmlns:a="http://schemas.openxmlformats.org/drawingml/2006/main">
              <a:ext uri="{FF2B5EF4-FFF2-40B4-BE49-F238E27FC236}">
                <a16:creationId xmlns:a16="http://schemas.microsoft.com/office/drawing/2014/main" id="{DA5AEE4A-F29F-4668-B936-0E56EDF1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dimension-title-06">
            <a:extLst xmlns:a="http://schemas.openxmlformats.org/drawingml/2006/main">
              <a:ext uri="{FF2B5EF4-FFF2-40B4-BE49-F238E27FC236}">
                <a16:creationId xmlns:a16="http://schemas.microsoft.com/office/drawing/2014/main" id="{FDBDB60F-0CD2-4349-B11C-4CD6E752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视角动作 / view_action</a:t>
            </a:r>
          </a:p>
        </p:txBody>
      </p:sp>
      <p:sp>
        <p:nvSpPr>
          <p:cNvPr id="32" name="dimension-tags-06">
            <a:extLst xmlns:a="http://schemas.openxmlformats.org/drawingml/2006/main">
              <a:ext uri="{FF2B5EF4-FFF2-40B4-BE49-F238E27FC236}">
                <a16:creationId xmlns:a16="http://schemas.microsoft.com/office/drawing/2014/main" id="{5C310660-C13B-424D-8765-E41C7EFD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正面 · 背面 · 行走 · 镜面自拍</a:t>
            </a:r>
          </a:p>
        </p:txBody>
      </p:sp>
      <p:sp>
        <p:nvSpPr>
          <p:cNvPr id="33" name="dimension-note-06">
            <a:extLst xmlns:a="http://schemas.openxmlformats.org/drawingml/2006/main">
              <a:ext uri="{FF2B5EF4-FFF2-40B4-BE49-F238E27FC236}">
                <a16:creationId xmlns:a16="http://schemas.microsoft.com/office/drawing/2014/main" id="{2162E8C9-4C97-4597-BB31-FBD1EA9D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把正面、背面、行走与自拍等观看方式固定下来。</a:t>
            </a:r>
          </a:p>
        </p:txBody>
      </p:sp>
      <p:sp>
        <p:nvSpPr>
          <p:cNvPr id="34" name="rule">
            <a:extLst xmlns:a="http://schemas.openxmlformats.org/drawingml/2006/main">
              <a:ext uri="{FF2B5EF4-FFF2-40B4-BE49-F238E27FC236}">
                <a16:creationId xmlns:a16="http://schemas.microsoft.com/office/drawing/2014/main" id="{848D8794-DDEF-4D9D-AD9D-E1B44606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imension-index-07">
            <a:extLst xmlns:a="http://schemas.openxmlformats.org/drawingml/2006/main">
              <a:ext uri="{FF2B5EF4-FFF2-40B4-BE49-F238E27FC236}">
                <a16:creationId xmlns:a16="http://schemas.microsoft.com/office/drawing/2014/main" id="{0A3680C9-86A9-4F78-A8DF-DE5AD769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6" name="dimension-title-07">
            <a:extLst xmlns:a="http://schemas.openxmlformats.org/drawingml/2006/main">
              <a:ext uri="{FF2B5EF4-FFF2-40B4-BE49-F238E27FC236}">
                <a16:creationId xmlns:a16="http://schemas.microsoft.com/office/drawing/2014/main" id="{95E44C9A-31F4-4139-AE3E-650EDFA9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卖点部位 / selling_points</a:t>
            </a:r>
          </a:p>
        </p:txBody>
      </p:sp>
      <p:sp>
        <p:nvSpPr>
          <p:cNvPr id="37" name="dimension-tags-07">
            <a:extLst xmlns:a="http://schemas.openxmlformats.org/drawingml/2006/main">
              <a:ext uri="{FF2B5EF4-FFF2-40B4-BE49-F238E27FC236}">
                <a16:creationId xmlns:a16="http://schemas.microsoft.com/office/drawing/2014/main" id="{AFCE4278-9609-4E7E-91C8-B717197F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领口 · 腰胯 · 面料纹理 · 整体造型</a:t>
            </a:r>
          </a:p>
        </p:txBody>
      </p:sp>
      <p:sp>
        <p:nvSpPr>
          <p:cNvPr id="38" name="dimension-note-07">
            <a:extLst xmlns:a="http://schemas.openxmlformats.org/drawingml/2006/main">
              <a:ext uri="{FF2B5EF4-FFF2-40B4-BE49-F238E27FC236}">
                <a16:creationId xmlns:a16="http://schemas.microsoft.com/office/drawing/2014/main" id="{EF616374-2694-40A8-AF91-493735C2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记录镜头主要在解释领口、腰胯、面料还是整套造型。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3A0BDE65-458D-4D31-A3C2-5CD28622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imension-index-08">
            <a:extLst xmlns:a="http://schemas.openxmlformats.org/drawingml/2006/main">
              <a:ext uri="{FF2B5EF4-FFF2-40B4-BE49-F238E27FC236}">
                <a16:creationId xmlns:a16="http://schemas.microsoft.com/office/drawing/2014/main" id="{2BAD01D9-453B-4370-B191-2B6794D6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1" name="dimension-title-08">
            <a:extLst xmlns:a="http://schemas.openxmlformats.org/drawingml/2006/main">
              <a:ext uri="{FF2B5EF4-FFF2-40B4-BE49-F238E27FC236}">
                <a16:creationId xmlns:a16="http://schemas.microsoft.com/office/drawing/2014/main" id="{D08AD5E9-FEC7-4153-9E9A-EC50077B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拍摄场景 / scene</a:t>
            </a:r>
          </a:p>
        </p:txBody>
      </p:sp>
      <p:sp>
        <p:nvSpPr>
          <p:cNvPr id="42" name="dimension-tags-08">
            <a:extLst xmlns:a="http://schemas.openxmlformats.org/drawingml/2006/main">
              <a:ext uri="{FF2B5EF4-FFF2-40B4-BE49-F238E27FC236}">
                <a16:creationId xmlns:a16="http://schemas.microsoft.com/office/drawing/2014/main" id="{3C4D5A0D-7FFA-48A7-A48E-DC605E5F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中性棚拍 · 街道 · 海滩 · 建筑空间</a:t>
            </a:r>
          </a:p>
        </p:txBody>
      </p:sp>
      <p:sp>
        <p:nvSpPr>
          <p:cNvPr id="43" name="dimension-note-08">
            <a:extLst xmlns:a="http://schemas.openxmlformats.org/drawingml/2006/main">
              <a:ext uri="{FF2B5EF4-FFF2-40B4-BE49-F238E27FC236}">
                <a16:creationId xmlns:a16="http://schemas.microsoft.com/office/drawing/2014/main" id="{289DE5BE-64E8-431E-9446-4C71A0E3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描述图片真实背景：棚拍、街道、海滩或建筑空间。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2C10FC9A-4531-458A-83EC-56A8F319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rule">
            <a:extLst xmlns:a="http://schemas.openxmlformats.org/drawingml/2006/main">
              <a:ext uri="{FF2B5EF4-FFF2-40B4-BE49-F238E27FC236}">
                <a16:creationId xmlns:a16="http://schemas.microsoft.com/office/drawing/2014/main" id="{D87EA6AF-EDD6-4060-8565-99E04029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footer">
            <a:extLst xmlns:a="http://schemas.openxmlformats.org/drawingml/2006/main">
              <a:ext uri="{FF2B5EF4-FFF2-40B4-BE49-F238E27FC236}">
                <a16:creationId xmlns:a16="http://schemas.microsoft.com/office/drawing/2014/main" id="{D0BE6D22-0B4D-4AD7-BFCE-C29C35A3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162649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eyebrow">
            <a:extLst xmlns:a="http://schemas.openxmlformats.org/drawingml/2006/main">
              <a:ext uri="{FF2B5EF4-FFF2-40B4-BE49-F238E27FC236}">
                <a16:creationId xmlns:a16="http://schemas.microsoft.com/office/drawing/2014/main" id="{43906E1C-8311-45FF-AE94-F8C5DD82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TAXONOMY EXAMPLES 2/2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C94A3E-F269-4DA6-BA44-E9BB3DC8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后7维补足材质、视觉语言与版面信号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C749BC9-958E-46E2-BC78-3C4CF87D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同一张图可在大多数维度返回多个标签，但每个维度都必须给出标签数组和0–1置信度。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2AA6087-992B-4C92-A028-2854D0E9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dimension-index-09">
            <a:extLst xmlns:a="http://schemas.openxmlformats.org/drawingml/2006/main">
              <a:ext uri="{FF2B5EF4-FFF2-40B4-BE49-F238E27FC236}">
                <a16:creationId xmlns:a16="http://schemas.microsoft.com/office/drawing/2014/main" id="{49B0D191-4B92-4EBD-B875-D00E7563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dimension-title-09">
            <a:extLst xmlns:a="http://schemas.openxmlformats.org/drawingml/2006/main">
              <a:ext uri="{FF2B5EF4-FFF2-40B4-BE49-F238E27FC236}">
                <a16:creationId xmlns:a16="http://schemas.microsoft.com/office/drawing/2014/main" id="{248C430A-851A-4EF6-954E-9EFEDB77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材质纹理 / material_texture</a:t>
            </a:r>
          </a:p>
        </p:txBody>
      </p:sp>
      <p:sp>
        <p:nvSpPr>
          <p:cNvPr id="7" name="dimension-tags-09">
            <a:extLst xmlns:a="http://schemas.openxmlformats.org/drawingml/2006/main">
              <a:ext uri="{FF2B5EF4-FFF2-40B4-BE49-F238E27FC236}">
                <a16:creationId xmlns:a16="http://schemas.microsoft.com/office/drawing/2014/main" id="{195EF6ED-C606-4D82-8C2B-2F47D524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针织 · 蕾丝 · 缎面感 · 牛仔</a:t>
            </a:r>
          </a:p>
        </p:txBody>
      </p:sp>
      <p:sp>
        <p:nvSpPr>
          <p:cNvPr id="8" name="dimension-note-09">
            <a:extLst xmlns:a="http://schemas.openxmlformats.org/drawingml/2006/main">
              <a:ext uri="{FF2B5EF4-FFF2-40B4-BE49-F238E27FC236}">
                <a16:creationId xmlns:a16="http://schemas.microsoft.com/office/drawing/2014/main" id="{059FA6E5-4ABF-4C0C-8A3F-3472CDFF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只标记肉眼可见或标题明确支持的纹理，不猜测纤维成分。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DB54B9EA-DC1B-4D48-8903-2691FA85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mension-index-10">
            <a:extLst xmlns:a="http://schemas.openxmlformats.org/drawingml/2006/main">
              <a:ext uri="{FF2B5EF4-FFF2-40B4-BE49-F238E27FC236}">
                <a16:creationId xmlns:a16="http://schemas.microsoft.com/office/drawing/2014/main" id="{195F0F11-7380-42E3-B44B-375F0EC0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1" name="dimension-title-10">
            <a:extLst xmlns:a="http://schemas.openxmlformats.org/drawingml/2006/main">
              <a:ext uri="{FF2B5EF4-FFF2-40B4-BE49-F238E27FC236}">
                <a16:creationId xmlns:a16="http://schemas.microsoft.com/office/drawing/2014/main" id="{50812B26-2BEB-4A29-BC0B-D9FB23F4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色彩图案 / color_pattern</a:t>
            </a:r>
          </a:p>
        </p:txBody>
      </p:sp>
      <p:sp>
        <p:nvSpPr>
          <p:cNvPr id="12" name="dimension-tags-10">
            <a:extLst xmlns:a="http://schemas.openxmlformats.org/drawingml/2006/main">
              <a:ext uri="{FF2B5EF4-FFF2-40B4-BE49-F238E27FC236}">
                <a16:creationId xmlns:a16="http://schemas.microsoft.com/office/drawing/2014/main" id="{0C759C8E-19E2-42B7-A547-68079971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黑色 · 红色 · 花卉图案 · 纯色</a:t>
            </a:r>
          </a:p>
        </p:txBody>
      </p:sp>
      <p:sp>
        <p:nvSpPr>
          <p:cNvPr id="13" name="dimension-note-10">
            <a:extLst xmlns:a="http://schemas.openxmlformats.org/drawingml/2006/main">
              <a:ext uri="{FF2B5EF4-FFF2-40B4-BE49-F238E27FC236}">
                <a16:creationId xmlns:a16="http://schemas.microsoft.com/office/drawing/2014/main" id="{954BF91C-B9A5-499D-96F3-CC93889D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颜色与图案可以并存，例如红色＋纯色。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468804A4-7880-4FFE-9CEA-C40CFEFC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mension-index-11">
            <a:extLst xmlns:a="http://schemas.openxmlformats.org/drawingml/2006/main">
              <a:ext uri="{FF2B5EF4-FFF2-40B4-BE49-F238E27FC236}">
                <a16:creationId xmlns:a16="http://schemas.microsoft.com/office/drawing/2014/main" id="{669B7F25-B528-460E-8DBB-078410A3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6" name="dimension-title-11">
            <a:extLst xmlns:a="http://schemas.openxmlformats.org/drawingml/2006/main">
              <a:ext uri="{FF2B5EF4-FFF2-40B4-BE49-F238E27FC236}">
                <a16:creationId xmlns:a16="http://schemas.microsoft.com/office/drawing/2014/main" id="{15E5553C-DC97-47CB-9675-D7D8E470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视觉语言 / visual_language</a:t>
            </a:r>
          </a:p>
        </p:txBody>
      </p:sp>
      <p:sp>
        <p:nvSpPr>
          <p:cNvPr id="17" name="dimension-tags-11">
            <a:extLst xmlns:a="http://schemas.openxmlformats.org/drawingml/2006/main">
              <a:ext uri="{FF2B5EF4-FFF2-40B4-BE49-F238E27FC236}">
                <a16:creationId xmlns:a16="http://schemas.microsoft.com/office/drawing/2014/main" id="{F588B200-A33A-4185-BFFA-4A229F44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干净电商风 · 编辑大片感 · 社交UGC · 直接闪光</a:t>
            </a:r>
          </a:p>
        </p:txBody>
      </p:sp>
      <p:sp>
        <p:nvSpPr>
          <p:cNvPr id="18" name="dimension-note-11">
            <a:extLst xmlns:a="http://schemas.openxmlformats.org/drawingml/2006/main">
              <a:ext uri="{FF2B5EF4-FFF2-40B4-BE49-F238E27FC236}">
                <a16:creationId xmlns:a16="http://schemas.microsoft.com/office/drawing/2014/main" id="{8830EA70-4B79-4D79-B5A0-10BCC44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描述商业棚拍、编辑感、社交UGC或直接闪光等表达。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0746A9C3-5271-4AC1-B0CF-122DF536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imension-index-12">
            <a:extLst xmlns:a="http://schemas.openxmlformats.org/drawingml/2006/main">
              <a:ext uri="{FF2B5EF4-FFF2-40B4-BE49-F238E27FC236}">
                <a16:creationId xmlns:a16="http://schemas.microsoft.com/office/drawing/2014/main" id="{02E7738B-A0A2-4871-94DB-E892C7B7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1" name="dimension-title-12">
            <a:extLst xmlns:a="http://schemas.openxmlformats.org/drawingml/2006/main">
              <a:ext uri="{FF2B5EF4-FFF2-40B4-BE49-F238E27FC236}">
                <a16:creationId xmlns:a16="http://schemas.microsoft.com/office/drawing/2014/main" id="{D2819DEB-6EB5-4D09-B9F6-6A2FE959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搭配方式 / styling</a:t>
            </a:r>
          </a:p>
        </p:txBody>
      </p:sp>
      <p:sp>
        <p:nvSpPr>
          <p:cNvPr id="22" name="dimension-tags-12">
            <a:extLst xmlns:a="http://schemas.openxmlformats.org/drawingml/2006/main">
              <a:ext uri="{FF2B5EF4-FFF2-40B4-BE49-F238E27FC236}">
                <a16:creationId xmlns:a16="http://schemas.microsoft.com/office/drawing/2014/main" id="{22038FDE-D6FF-4DE7-AF03-48F7E76C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单品展示 · 完整造型 · 叠穿 · 手袋</a:t>
            </a:r>
          </a:p>
        </p:txBody>
      </p:sp>
      <p:sp>
        <p:nvSpPr>
          <p:cNvPr id="23" name="dimension-note-12">
            <a:extLst xmlns:a="http://schemas.openxmlformats.org/drawingml/2006/main">
              <a:ext uri="{FF2B5EF4-FFF2-40B4-BE49-F238E27FC236}">
                <a16:creationId xmlns:a16="http://schemas.microsoft.com/office/drawing/2014/main" id="{BA1DD9BD-B281-4E76-9C52-3D3BAFD4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记录单品、整套、叠穿以及可见配饰如何参与画面。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0D4C8209-1DC2-4D74-991F-DEE55AC6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mension-index-13">
            <a:extLst xmlns:a="http://schemas.openxmlformats.org/drawingml/2006/main">
              <a:ext uri="{FF2B5EF4-FFF2-40B4-BE49-F238E27FC236}">
                <a16:creationId xmlns:a16="http://schemas.microsoft.com/office/drawing/2014/main" id="{E4738A53-8DEF-42C7-9A6A-F85D79DF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6" name="dimension-title-13">
            <a:extLst xmlns:a="http://schemas.openxmlformats.org/drawingml/2006/main">
              <a:ext uri="{FF2B5EF4-FFF2-40B4-BE49-F238E27FC236}">
                <a16:creationId xmlns:a16="http://schemas.microsoft.com/office/drawing/2014/main" id="{1E786AA4-959E-4513-95E4-A055E41E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光线 / lighting</a:t>
            </a:r>
          </a:p>
        </p:txBody>
      </p:sp>
      <p:sp>
        <p:nvSpPr>
          <p:cNvPr id="27" name="dimension-tags-13">
            <a:extLst xmlns:a="http://schemas.openxmlformats.org/drawingml/2006/main">
              <a:ext uri="{FF2B5EF4-FFF2-40B4-BE49-F238E27FC236}">
                <a16:creationId xmlns:a16="http://schemas.microsoft.com/office/drawing/2014/main" id="{CA44A20A-66CB-45AF-BDBF-F6575AB9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柔和漫射光 · 自然日光 · 直接闪光 · 低调暗光</a:t>
            </a:r>
          </a:p>
        </p:txBody>
      </p:sp>
      <p:sp>
        <p:nvSpPr>
          <p:cNvPr id="28" name="dimension-note-13">
            <a:extLst xmlns:a="http://schemas.openxmlformats.org/drawingml/2006/main">
              <a:ext uri="{FF2B5EF4-FFF2-40B4-BE49-F238E27FC236}">
                <a16:creationId xmlns:a16="http://schemas.microsoft.com/office/drawing/2014/main" id="{8CA22543-9150-4327-9179-E0C9EA02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把柔光、自然光、直闪和低调照明拆成独立可筛选信号。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9B76CE93-05F3-4D57-9F89-4374FCEA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imension-index-14">
            <a:extLst xmlns:a="http://schemas.openxmlformats.org/drawingml/2006/main">
              <a:ext uri="{FF2B5EF4-FFF2-40B4-BE49-F238E27FC236}">
                <a16:creationId xmlns:a16="http://schemas.microsoft.com/office/drawing/2014/main" id="{D967E3FE-EFA7-4F08-B55F-9A47BE40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1" name="dimension-title-14">
            <a:extLst xmlns:a="http://schemas.openxmlformats.org/drawingml/2006/main">
              <a:ext uri="{FF2B5EF4-FFF2-40B4-BE49-F238E27FC236}">
                <a16:creationId xmlns:a16="http://schemas.microsoft.com/office/drawing/2014/main" id="{824DD1A0-1045-43BC-AA83-72158F8D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模特状态 / model_state</a:t>
            </a:r>
          </a:p>
        </p:txBody>
      </p:sp>
      <p:sp>
        <p:nvSpPr>
          <p:cNvPr id="32" name="dimension-tags-14">
            <a:extLst xmlns:a="http://schemas.openxmlformats.org/drawingml/2006/main">
              <a:ext uri="{FF2B5EF4-FFF2-40B4-BE49-F238E27FC236}">
                <a16:creationId xmlns:a16="http://schemas.microsoft.com/office/drawing/2014/main" id="{9961135C-E860-4713-8494-126FD4E4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无模特 · 站立姿势 · 视线偏离镜头 · 面部裁切</a:t>
            </a:r>
          </a:p>
        </p:txBody>
      </p:sp>
      <p:sp>
        <p:nvSpPr>
          <p:cNvPr id="33" name="dimension-note-14">
            <a:extLst xmlns:a="http://schemas.openxmlformats.org/drawingml/2006/main">
              <a:ext uri="{FF2B5EF4-FFF2-40B4-BE49-F238E27FC236}">
                <a16:creationId xmlns:a16="http://schemas.microsoft.com/office/drawing/2014/main" id="{18541E4D-D67E-4272-8B0B-4AFA582C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只记录姿态与可见状态，不推断身份、健康或吸引力。</a:t>
            </a:r>
          </a:p>
        </p:txBody>
      </p:sp>
      <p:sp>
        <p:nvSpPr>
          <p:cNvPr id="34" name="rule">
            <a:extLst xmlns:a="http://schemas.openxmlformats.org/drawingml/2006/main">
              <a:ext uri="{FF2B5EF4-FFF2-40B4-BE49-F238E27FC236}">
                <a16:creationId xmlns:a16="http://schemas.microsoft.com/office/drawing/2014/main" id="{F0B28630-2405-461B-9C53-ACF6938D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imension-index-15">
            <a:extLst xmlns:a="http://schemas.openxmlformats.org/drawingml/2006/main">
              <a:ext uri="{FF2B5EF4-FFF2-40B4-BE49-F238E27FC236}">
                <a16:creationId xmlns:a16="http://schemas.microsoft.com/office/drawing/2014/main" id="{C1BBF46E-6ADA-44D5-B7A1-56818285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6" name="dimension-title-15">
            <a:extLst xmlns:a="http://schemas.openxmlformats.org/drawingml/2006/main">
              <a:ext uri="{FF2B5EF4-FFF2-40B4-BE49-F238E27FC236}">
                <a16:creationId xmlns:a16="http://schemas.microsoft.com/office/drawing/2014/main" id="{8494891A-F52D-49E3-BAC9-E65FB38C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图文叠加 / graphic_overlay</a:t>
            </a:r>
          </a:p>
        </p:txBody>
      </p:sp>
      <p:sp>
        <p:nvSpPr>
          <p:cNvPr id="37" name="dimension-tags-15">
            <a:extLst xmlns:a="http://schemas.openxmlformats.org/drawingml/2006/main">
              <a:ext uri="{FF2B5EF4-FFF2-40B4-BE49-F238E27FC236}">
                <a16:creationId xmlns:a16="http://schemas.microsoft.com/office/drawing/2014/main" id="{1E1EC414-ABFB-42D6-B1B0-D4751416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无叠加 · 文字叠加 · 拼贴 · Logo水印</a:t>
            </a:r>
          </a:p>
        </p:txBody>
      </p:sp>
      <p:sp>
        <p:nvSpPr>
          <p:cNvPr id="38" name="dimension-note-15">
            <a:extLst xmlns:a="http://schemas.openxmlformats.org/drawingml/2006/main">
              <a:ext uri="{FF2B5EF4-FFF2-40B4-BE49-F238E27FC236}">
                <a16:creationId xmlns:a16="http://schemas.microsoft.com/office/drawing/2014/main" id="{E2CA3159-1E9F-4CE5-AF6F-51AE51CD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识别纯图、文字、拼贴、Logo水印等版面处理。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436AB380-CF16-402E-920F-AC5C2243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A6C90638-1F85-4E06-B2FD-67CDEB939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05400"/>
            <a:ext cx="5276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25E3EA54-7EC4-4204-A616-468F8810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959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rPr>
              <a:t>“无法判断”规则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5CC64506-F4CE-410B-92A8-6DF5A190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007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看不清就返回“无法判断”（UNKNOWN），不再返回其他标签。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漏图、重复图或非法标签会被程序拒绝。</a:t>
            </a:r>
          </a:p>
        </p:txBody>
      </p:sp>
      <p:sp>
        <p:nvSpPr>
          <p:cNvPr id="43" name="rule">
            <a:extLst xmlns:a="http://schemas.openxmlformats.org/drawingml/2006/main">
              <a:ext uri="{FF2B5EF4-FFF2-40B4-BE49-F238E27FC236}">
                <a16:creationId xmlns:a16="http://schemas.microsoft.com/office/drawing/2014/main" id="{D56A0652-E576-4ACF-88A2-6A371070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footer">
            <a:extLst xmlns:a="http://schemas.openxmlformats.org/drawingml/2006/main">
              <a:ext uri="{FF2B5EF4-FFF2-40B4-BE49-F238E27FC236}">
                <a16:creationId xmlns:a16="http://schemas.microsoft.com/office/drawing/2014/main" id="{A0ABD67F-5955-43D9-84C7-02EAA89A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2006300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">
            <a:extLst xmlns:a="http://schemas.openxmlformats.org/drawingml/2006/main">
              <a:ext uri="{FF2B5EF4-FFF2-40B4-BE49-F238E27FC236}">
                <a16:creationId xmlns:a16="http://schemas.microsoft.com/office/drawing/2014/main" id="{167E83F9-6E7A-42D9-9C14-DBD423BA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→ 3 · AI ANALYSIS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26D1A4-94B3-4735-9254-34A02A8C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Terra负责“可查询标签”，Sol负责“可交付结论”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AD7A2A0-7DF9-4402-B207-D193B48E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两层模型共享图片键与证据上下文，但输入清晰度、触发时机、输出结构和成本完全不同。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F810F5-0691-4E61-BE3B-D389CA76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model-lane-0">
            <a:extLst xmlns:a="http://schemas.openxmlformats.org/drawingml/2006/main">
              <a:ext uri="{FF2B5EF4-FFF2-40B4-BE49-F238E27FC236}">
                <a16:creationId xmlns:a16="http://schemas.microsoft.com/office/drawing/2014/main" id="{9A13AB7F-35E5-4AD8-9CB8-AFDBF6F1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33400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1172308-BCA4-4C6F-9043-F009E25E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GPT-5.6-TERRA / BATCH TAGGING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2F4A546-0229-4B17-B928-E4B0E7FB0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批量15维分类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83E8274-4B58-447D-8078-A5521C77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890EFA3-85A3-414D-ACEC-16BC8A75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图片URL＋标题＋当前分类＋位置；detail=low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4761154-7A66-4D42-8222-BE709B78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调度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92EB8D4-8850-409C-8CA3-1EF2B9EE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909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默认8图/批、8个worker；只处理未分析且URL去重后的图片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446CC58-B9CD-4E48-A4B5-8155A8B1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FA37BFB-E736-468C-9819-241415C27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243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受控字典＋可见证据边界＋UNKNOWN＋主售商品规则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25CDAB4-E623-4D65-A25E-D3C2FC65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FDDE16D-84AB-46BF-A84D-3EF59038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15组tags＋15个confidence；strict JSON Schema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86F8F3F-BA6E-4474-816C-DF1D8C36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质控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4FC4B97-A968-4A2B-A952-670D8A3E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911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增量检查点、4次重试、策略拦截拆批、图片索引校验</a:t>
            </a:r>
          </a:p>
        </p:txBody>
      </p:sp>
      <p:sp>
        <p:nvSpPr>
          <p:cNvPr id="18" name="model-lane-1">
            <a:extLst xmlns:a="http://schemas.openxmlformats.org/drawingml/2006/main">
              <a:ext uri="{FF2B5EF4-FFF2-40B4-BE49-F238E27FC236}">
                <a16:creationId xmlns:a16="http://schemas.microsoft.com/office/drawing/2014/main" id="{87028848-AB44-4F7F-91C6-EF5BD926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33400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A09423C-0A55-4AC9-84D7-92BD5A46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GPT-5.6-SOL / PAID DEEP ANALYSIS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6C32E50-C91C-45F7-8FEC-C04054F1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按需高清精读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97B2737-E320-46A9-94A1-73F7BAD6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93F31FE-D494-4AC4-AE54-D2ABB6DE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575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高清文件＋店铺/商品/品类＋固定筛选条件；detail=high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E452A2F-B37A-48AD-B0C3-36B78E3A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9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D1C5FE7-6035-43EC-8C55-7758A110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909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体验1点击付费分析；体验2启动整体报告专项分析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C408B45-97CB-43AD-9D30-126FCB41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AEBAE107-9FC0-48C8-9E68-0E7FA5F9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243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先写可见事实，再解释；每个判断必须有visible_cue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E471F13-29A6-4B2E-936D-F6181DE6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0F5B5965-B668-40B0-B5AE-C44469E5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577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逐图观察、优缺点、建议、证据；再汇总店铺与Section结论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A941E28D-0BA0-49B4-AF81-15B97ADF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10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质控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FF6E05F6-1451-46FD-BCC0-5C5825BC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911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不写CTR/CVR因果；校验图片ID、品牌归属与Section数量</a:t>
            </a:r>
          </a:p>
        </p:txBody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6D3A1075-AD8F-4D85-9EB5-535B970F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8F8A945E-3A21-4D15-89D7-023B06C9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51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先用Terra把数万张图变成检索空间；只有用户明确付费时，才让Sol读取高清图并写结论。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D459835F-3264-470F-9A3A-73FF7F33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ooter">
            <a:extLst xmlns:a="http://schemas.openxmlformats.org/drawingml/2006/main">
              <a:ext uri="{FF2B5EF4-FFF2-40B4-BE49-F238E27FC236}">
                <a16:creationId xmlns:a16="http://schemas.microsoft.com/office/drawing/2014/main" id="{D3A2C332-3351-4CCB-808F-F4DA5AF8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337989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76DA9A22-BE6D-4752-8C48-94053A26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TERRA ACTUAL PROMPT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1FA27B-F7F9-4B98-BD90-E75B889F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第11页：维度相关部分是标签字典，不是15条判断Prompt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72BC91E-E385-4A3A-AC7A-10DD04A9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代码里只有一条统一判断规则；每个维度后面列出允许返回的受控代码。以下为真实维度行节选。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224FA25-6035-4DF8-9FD6-FA9FA8B9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1AC80C73-1BF3-4CFD-A385-A1F658EB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38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6F890BBA-4144-43A2-BCC3-860149FC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38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BE4EDA15-FBDC-4A8C-9944-D51E35AC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38350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01">
            <a:extLst xmlns:a="http://schemas.openxmlformats.org/drawingml/2006/main">
              <a:ext uri="{FF2B5EF4-FFF2-40B4-BE49-F238E27FC236}">
                <a16:creationId xmlns:a16="http://schemas.microsoft.com/office/drawing/2014/main" id="{13A5EC43-BA8C-4B3F-B895-B3A6C6DE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4003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8EFBFC0-6794-4E3D-94CE-0455BBF4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328ECBA-3D7F-4909-BC3E-9DF4957B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每批图片＋上下文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6786CFA-F2FF-4C6E-9896-D0413080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2057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URL · 标题 · 已有品类 · 位置</a:t>
            </a:r>
          </a:p>
        </p:txBody>
      </p:sp>
      <p:sp>
        <p:nvSpPr>
          <p:cNvPr id="12" name="flow-02">
            <a:extLst xmlns:a="http://schemas.openxmlformats.org/drawingml/2006/main">
              <a:ext uri="{FF2B5EF4-FFF2-40B4-BE49-F238E27FC236}">
                <a16:creationId xmlns:a16="http://schemas.microsoft.com/office/drawing/2014/main" id="{1ED5D4AE-200A-44DD-943A-1F413A0E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57350"/>
            <a:ext cx="26098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1AB9CE1-74C2-4F00-B283-4652589A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AEA2E64-FC3E-4967-A7E0-9E4103AC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统一可见证据规则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AEE08C1-4703-4983-9667-A3DC59BB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336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59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看不清=UNKNOWN · 主售商品优先</a:t>
            </a:r>
          </a:p>
        </p:txBody>
      </p:sp>
      <p:sp>
        <p:nvSpPr>
          <p:cNvPr id="16" name="flow-03">
            <a:extLst xmlns:a="http://schemas.openxmlformats.org/drawingml/2006/main">
              <a:ext uri="{FF2B5EF4-FFF2-40B4-BE49-F238E27FC236}">
                <a16:creationId xmlns:a16="http://schemas.microsoft.com/office/drawing/2014/main" id="{F56F58FD-FF4C-4E9D-A2A9-C09913EC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26098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D0917E5-9DDF-4920-8CF1-CB5213A4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4FA0205-573B-41A0-BFDC-1D95C377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15个受控字段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5BF5200-8519-41A6-936B-19C8FA26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3650"/>
            <a:ext cx="2266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同一次调用全部判断，不拆15次</a:t>
            </a:r>
          </a:p>
        </p:txBody>
      </p:sp>
      <p:sp>
        <p:nvSpPr>
          <p:cNvPr id="20" name="flow-04">
            <a:extLst xmlns:a="http://schemas.openxmlformats.org/drawingml/2006/main">
              <a:ext uri="{FF2B5EF4-FFF2-40B4-BE49-F238E27FC236}">
                <a16:creationId xmlns:a16="http://schemas.microsoft.com/office/drawing/2014/main" id="{1CC69FB1-BEC4-4F3B-8742-4D0AA0E0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57350"/>
            <a:ext cx="23431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F7C2A78-C554-4748-8EC0-8E9644EE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1017CBC-266C-4C17-9102-F08083F2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145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严格JSON返回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9D5D576-EA74-4B90-A9B5-54E27591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336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每维标签＋置信度 · 漏项失败</a:t>
            </a:r>
          </a:p>
        </p:txBody>
      </p:sp>
      <p:sp>
        <p:nvSpPr>
          <p:cNvPr id="24" name="code-统一规则节选">
            <a:extLst xmlns:a="http://schemas.openxmlformats.org/drawingml/2006/main">
              <a:ext uri="{FF2B5EF4-FFF2-40B4-BE49-F238E27FC236}">
                <a16:creationId xmlns:a16="http://schemas.microsoft.com/office/drawing/2014/main" id="{5B9AB166-38B8-4F48-A30B-86D9EA6E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409575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de-title-统一规则节选">
            <a:extLst xmlns:a="http://schemas.openxmlformats.org/drawingml/2006/main">
              <a:ext uri="{FF2B5EF4-FFF2-40B4-BE49-F238E27FC236}">
                <a16:creationId xmlns:a16="http://schemas.microsoft.com/office/drawing/2014/main" id="{9F625915-8447-48BB-9689-A26F3BEB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统一规则节选</a:t>
            </a:r>
          </a:p>
        </p:txBody>
      </p:sp>
      <p:sp>
        <p:nvSpPr>
          <p:cNvPr id="26" name="code-body-统一规则节选">
            <a:extLst xmlns:a="http://schemas.openxmlformats.org/drawingml/2006/main">
              <a:ext uri="{FF2B5EF4-FFF2-40B4-BE49-F238E27FC236}">
                <a16:creationId xmlns:a16="http://schemas.microsoft.com/office/drawing/2014/main" id="{BFCC685F-20B5-4CAD-BAE8-C417E4DE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37147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Use visible evidence and the supplied title/category only.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Select UNKNOWN when a dimension is not observable,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and never combine UNKNOWN with another code.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product_category must have exactly one value.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Other dimensions may have up to five values.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Focus on the primary item sold; accessories belong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in styling unless they are the primary product.</a:t>
            </a:r>
          </a:p>
        </p:txBody>
      </p:sp>
      <p:sp>
        <p:nvSpPr>
          <p:cNvPr id="27" name="code-5个真实维度行节选（受控标签，不是独立指令）">
            <a:extLst xmlns:a="http://schemas.openxmlformats.org/drawingml/2006/main">
              <a:ext uri="{FF2B5EF4-FFF2-40B4-BE49-F238E27FC236}">
                <a16:creationId xmlns:a16="http://schemas.microsoft.com/office/drawing/2014/main" id="{2C95E4FC-B8CF-4EFA-AAC7-E53BE271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105150"/>
            <a:ext cx="6705600" cy="2838450"/>
          </a:xfrm>
          <a:prstGeom xmlns:a="http://schemas.openxmlformats.org/drawingml/2006/main" prst="roundRect">
            <a:avLst>
              <a:gd name="adj" fmla="val 268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ode-title-5个真实维度行节选（受控标签，不是独立指令）">
            <a:extLst xmlns:a="http://schemas.openxmlformats.org/drawingml/2006/main">
              <a:ext uri="{FF2B5EF4-FFF2-40B4-BE49-F238E27FC236}">
                <a16:creationId xmlns:a16="http://schemas.microsoft.com/office/drawing/2014/main" id="{BF00D21B-0904-4C8B-9D13-F8A6C97C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76600"/>
            <a:ext cx="632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5个真实维度行节选（受控标签，不是独立指令）</a:t>
            </a:r>
          </a:p>
        </p:txBody>
      </p:sp>
      <p:sp>
        <p:nvSpPr>
          <p:cNvPr id="29" name="code-body-5个真实维度行节选（受控标签，不是独立指令）">
            <a:extLst xmlns:a="http://schemas.openxmlformats.org/drawingml/2006/main">
              <a:ext uri="{FF2B5EF4-FFF2-40B4-BE49-F238E27FC236}">
                <a16:creationId xmlns:a16="http://schemas.microsoft.com/office/drawing/2014/main" id="{D44407F6-4CF9-4627-AA29-AED94EE9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657600"/>
            <a:ext cx="63246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product_category: DRESSES, TOPS, SKIRTS, TROUSERS, ... , UNKNOWN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occasion: CASUAL, GOING_OUT, PARTY, DATE_NIGHT, VACATION, ... , UNKNOWN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composition: FULL_BODY, THREE_QUARTER, HALF_BODY, CLOSE_UP, ... , UNKNOWN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view_action: FRONT_VIEW, SIDE_VIEW, BACK_VIEW, TURNING_BACK, WALKING, ...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scene: STUDIO_NEUTRAL, HOME, MIRROR, BEDROOM, GARDEN, STREET, ... 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代码没有额外的“occasion判断句”或“scene判断句”；维度语义由字段名、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标签集合、统一可见证据规则与严格输出Schema共同限定。</a:t>
            </a:r>
          </a:p>
        </p:txBody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49B468E7-5998-457B-A0F3-88A98D6C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1104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15E9C444-BCA3-4D4D-B176-7A87FA29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59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完整通用规则＋15个标签字典逐字放在附录A1–A4；Sol主流程与修订Prompt见附录A5–A8。</a:t>
            </a:r>
          </a:p>
        </p:txBody>
      </p:sp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6FA360BC-A729-40F3-B588-6403708B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ooter">
            <a:extLst xmlns:a="http://schemas.openxmlformats.org/drawingml/2006/main">
              <a:ext uri="{FF2B5EF4-FFF2-40B4-BE49-F238E27FC236}">
                <a16:creationId xmlns:a16="http://schemas.microsoft.com/office/drawing/2014/main" id="{2AFCE149-41CF-4CA0-8E2E-25BFD8E6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7893273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311B89EC-67AC-4D55-B5C1-EBFEB8C8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 · SOL ACTUAL CALLS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A13763-2237-40B2-A922-FB86DC51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真实实现：两种体验调用Sol的方式不同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4586A60-557B-4B10-89BA-A6C1B957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体验1一次调用同时产出逐图观察和店铺比较；体验2先逐图观察，再进行第二次全量证据合成。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08351A4-4345-4840-BC0E-D179828A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prompt-体验1 / 单次高精度分析">
            <a:extLst xmlns:a="http://schemas.openxmlformats.org/drawingml/2006/main">
              <a:ext uri="{FF2B5EF4-FFF2-40B4-BE49-F238E27FC236}">
                <a16:creationId xmlns:a16="http://schemas.microsoft.com/office/drawing/2014/main" id="{35025E7B-612D-4AB3-B69A-26BF77ED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3340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AF2ADBB-B359-4124-8F41-3C8BDFB2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体验1 / 单次高精度分析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75A9A77-9F68-41D7-A5FE-8DBB5C80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4953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输入：固定筛选条件＋用户选中的高清图片（最多24张）。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真实Prompt要求：先写肉眼可见事实，再写解释；比较场景、景别、动作、光线、色彩、搭配、服装结构、视觉意图与店铺一致性。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同一次返回：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每张图的可见观察、优缺点、建议和证据线索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共同模式、店铺差异、各店总结、拍摄规则、A/B假设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边界：只代表本次选图，不代表各店全量分布。</a:t>
            </a:r>
          </a:p>
        </p:txBody>
      </p:sp>
      <p:sp>
        <p:nvSpPr>
          <p:cNvPr id="8" name="prompt-体验2 / 两阶段报告分析">
            <a:extLst xmlns:a="http://schemas.openxmlformats.org/drawingml/2006/main">
              <a:ext uri="{FF2B5EF4-FFF2-40B4-BE49-F238E27FC236}">
                <a16:creationId xmlns:a16="http://schemas.microsoft.com/office/drawing/2014/main" id="{E2FD0834-3685-4262-8768-A70E8E5E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6388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6081281-3C59-4E8E-8C9B-B5A28994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/ 两阶段报告分析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845DFAA-196E-4EDE-B606-3BBC0AF9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5257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阶段A：每8张高清图调用一次Sol，逐图输出10项可见观察、优缺点、证据线索和候选模式。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阶段B：把全部逐图观察、图片—店铺映射、竞品全量分布和分析范围交给Sol，再生成五个Section。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每条结论必须返回：推导、样本数、筛选条件、观察字段、支持图、反例图和代表图。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边界：比例来自全量分布；高清证据图只负责复核。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79527FE9-323E-457D-9293-3B9F0ED2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04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0F50315-EA0B-493F-BE35-111690DD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Terra先把图片变成可筛选标签；Sol再把指定范围内的图片证据变成解释、比较和建议。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C160890E-4C24-4DD0-942D-E87AD308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50D0FD9C-21CD-4913-BC30-E34265FF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6217038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B235CAF6-539B-4428-BD8D-0635692F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SELECTION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5BFF2A-C1AB-4143-89BF-C0C9C1A2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体验1流程①：AND筛选后，手动选图与自动选图走两条真实路径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AC5B630-A43E-4FF4-BDC6-85B3EAED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Terra标签只负责缩小候选范围；最终送入Sol的图片由用户明确选择，或由系统按店铺均衡随机选取。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F29DA78-0A81-4F34-853A-C17469AD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flow-01">
            <a:extLst xmlns:a="http://schemas.openxmlformats.org/drawingml/2006/main">
              <a:ext uri="{FF2B5EF4-FFF2-40B4-BE49-F238E27FC236}">
                <a16:creationId xmlns:a16="http://schemas.microsoft.com/office/drawing/2014/main" id="{21C98CEE-8941-435D-B490-C4BE2C06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152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35E6942-C84F-4C92-B178-D6A225F0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39C7701-D902-4570-A7B2-1B564C99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76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校验筛选条件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5660AE2-EF1E-41F2-BD28-6C9CFE70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维度必须属于15维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标签必须在受控字典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931B140E-9B49-432F-B2F7-A319494E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76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flow-02">
            <a:extLst xmlns:a="http://schemas.openxmlformats.org/drawingml/2006/main">
              <a:ext uri="{FF2B5EF4-FFF2-40B4-BE49-F238E27FC236}">
                <a16:creationId xmlns:a16="http://schemas.microsoft.com/office/drawing/2014/main" id="{2BC627C9-98A3-413B-A323-5F1128E0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19250"/>
            <a:ext cx="2152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E1D665F-9922-4D1D-821C-5AA40926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7716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B79A128-8D25-4A10-8711-ADB941F1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764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SQLite执行AND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19BAD22-DE40-41D2-A64E-015DE7EB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4955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每一维都必须命中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source_url全局去重</a:t>
            </a:r>
          </a:p>
        </p:txBody>
      </p:sp>
      <p:sp>
        <p:nvSpPr>
          <p:cNvPr id="14" name="flow-arrow">
            <a:extLst xmlns:a="http://schemas.openxmlformats.org/drawingml/2006/main">
              <a:ext uri="{FF2B5EF4-FFF2-40B4-BE49-F238E27FC236}">
                <a16:creationId xmlns:a16="http://schemas.microsoft.com/office/drawing/2014/main" id="{4F28B10D-E291-4C9F-AD5F-F2C75C1A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95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↗</a:t>
            </a:r>
          </a:p>
        </p:txBody>
      </p:sp>
      <p:sp>
        <p:nvSpPr>
          <p:cNvPr id="15" name="flow-arrow">
            <a:extLst xmlns:a="http://schemas.openxmlformats.org/drawingml/2006/main">
              <a:ext uri="{FF2B5EF4-FFF2-40B4-BE49-F238E27FC236}">
                <a16:creationId xmlns:a16="http://schemas.microsoft.com/office/drawing/2014/main" id="{1DC1FC1F-94A0-43C9-A15E-AA0A2C39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95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↘</a:t>
            </a:r>
          </a:p>
        </p:txBody>
      </p:sp>
      <p:sp>
        <p:nvSpPr>
          <p:cNvPr id="16" name="manual-lane">
            <a:extLst xmlns:a="http://schemas.openxmlformats.org/drawingml/2006/main">
              <a:ext uri="{FF2B5EF4-FFF2-40B4-BE49-F238E27FC236}">
                <a16:creationId xmlns:a16="http://schemas.microsoft.com/office/drawing/2014/main" id="{8EC01CDC-7711-4D95-94BF-892EDEDC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543050"/>
            <a:ext cx="58293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BCAB309-D3BE-4BFD-BF9F-0B9CD0DC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335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手动选图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1610C4D-8671-4EFE-ABE0-AF65539A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33600"/>
            <a:ext cx="5391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用户提交 store_id＋product_id＋position；后端再次检查：键唯一、店铺在范围内、图片存在、仍满足AND条件；保持用户选择顺序，最多24张。</a:t>
            </a:r>
          </a:p>
        </p:txBody>
      </p:sp>
      <p:sp>
        <p:nvSpPr>
          <p:cNvPr id="19" name="automatic-lane">
            <a:extLst xmlns:a="http://schemas.openxmlformats.org/drawingml/2006/main">
              <a:ext uri="{FF2B5EF4-FFF2-40B4-BE49-F238E27FC236}">
                <a16:creationId xmlns:a16="http://schemas.microsoft.com/office/drawing/2014/main" id="{F077A450-7B3D-46F7-8358-C7DB324E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29000"/>
            <a:ext cx="58293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D8045B7-C01B-42B8-90D3-FBFD9ED8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19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自动选图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7CB76E7-EC2D-4272-916C-12F2F954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19550"/>
            <a:ext cx="53911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先把每店候选池扩到目标数的8倍（单店12–32张、总池不超过160张），再用 SystemRandom 在各店内打乱；按店铺轮询取图，直到每店成功下载1–8张且总数≤24。</a:t>
            </a:r>
          </a:p>
        </p:txBody>
      </p:sp>
      <p:sp>
        <p:nvSpPr>
          <p:cNvPr id="22" name="flow-arrow">
            <a:extLst xmlns:a="http://schemas.openxmlformats.org/drawingml/2006/main">
              <a:ext uri="{FF2B5EF4-FFF2-40B4-BE49-F238E27FC236}">
                <a16:creationId xmlns:a16="http://schemas.microsoft.com/office/drawing/2014/main" id="{7F458586-110F-44E9-AB0C-929096C2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3" name="flow-03">
            <a:extLst xmlns:a="http://schemas.openxmlformats.org/drawingml/2006/main">
              <a:ext uri="{FF2B5EF4-FFF2-40B4-BE49-F238E27FC236}">
                <a16:creationId xmlns:a16="http://schemas.microsoft.com/office/drawing/2014/main" id="{4BD3CBE6-6BE3-4C94-AB73-38359041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47053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0DF71D3-8ECF-4FD4-9F26-F67B46A4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7EEFC1A-FA2D-4B22-AD4B-1FF21D18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下载高清图并明确记录失败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BE5FCCD-EDB2-4A9D-B93F-8D8ADF7F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4362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逐个尝试候选图；达到每店配额后停止。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阈值：≥80万像素、长边≥1000、短边≥600。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失败不会静默替代为低清图。</a:t>
            </a:r>
          </a:p>
        </p:txBody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77AA69C6-C75F-40B4-BD1A-D25B643F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104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2CCC6426-0046-421B-A628-5E452748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591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送入Sol的不是全部命中图，而是最终成功下载并通过高清门槛的1–24张。体验1目前仍按任务下载，尚未接入整体报告的共享高清缓存。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BCBA4232-8640-41AC-BB63-0698FC63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64EE8E5A-4E5C-4F92-894A-C1EE38A4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7933997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yebrow">
            <a:extLst xmlns:a="http://schemas.openxmlformats.org/drawingml/2006/main">
              <a:ext uri="{FF2B5EF4-FFF2-40B4-BE49-F238E27FC236}">
                <a16:creationId xmlns:a16="http://schemas.microsoft.com/office/drawing/2014/main" id="{5BBE37A4-9F13-44C0-8DEC-47711B5B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CONCLUSION 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EFBA8E-05B8-442E-979A-411E791F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体验1流程②：一次Sol调用同时返回逐图观察、跨店比较与建议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6F1C01E-69C7-4C0A-9244-38A8AD15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这不是先逐图调用、再额外汇总；1–24张高清图与筛选条件被放进同一个请求，由严格JSON一次返回完整结果。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51343E-B7A4-48BC-8225-19F51B1C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experience1-input">
            <a:extLst xmlns:a="http://schemas.openxmlformats.org/drawingml/2006/main">
              <a:ext uri="{FF2B5EF4-FFF2-40B4-BE49-F238E27FC236}">
                <a16:creationId xmlns:a16="http://schemas.microsoft.com/office/drawing/2014/main" id="{32306EA8-6C90-470F-A071-E770A4BA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3200400" cy="409575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B3FEB1F0-2E61-4683-91B2-8C964A89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C737DEB-D251-49AC-8837-10BD1510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固定筛选条件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522BE96-B8A7-45FA-B993-B84AF4BD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2724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例如 product_category=TOPS AND occasion=VACATION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56A12304-AA9D-4937-8814-B66F6545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2BD52A4-BD3E-4E55-9B4E-DB23DFC0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每张高清图上下文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F39582F-3EF6-4590-A5AF-39558111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67150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store · product · title · category · pixels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图片本体以 detail=high 发送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EA2F4EB-0AE9-4499-BF5A-466E1A8C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数量：1–24张</a:t>
            </a:r>
          </a:p>
        </p:txBody>
      </p:sp>
      <p:sp>
        <p:nvSpPr>
          <p:cNvPr id="13" name="flow-arrow">
            <a:extLst xmlns:a="http://schemas.openxmlformats.org/drawingml/2006/main">
              <a:ext uri="{FF2B5EF4-FFF2-40B4-BE49-F238E27FC236}">
                <a16:creationId xmlns:a16="http://schemas.microsoft.com/office/drawing/2014/main" id="{E354D828-8C07-4B94-8A5F-20C0616E5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19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experience1-reasoning">
            <a:extLst xmlns:a="http://schemas.openxmlformats.org/drawingml/2006/main">
              <a:ext uri="{FF2B5EF4-FFF2-40B4-BE49-F238E27FC236}">
                <a16:creationId xmlns:a16="http://schemas.microsoft.com/office/drawing/2014/main" id="{65468F16-5ED5-4170-963C-AAF0677D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581150"/>
            <a:ext cx="3390900" cy="409575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10ABE72-92C1-4BED-A319-C2BB9876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907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SOL PROMPT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E5CA058-1A13-4425-8006-57A44411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526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先事实，后解释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C4A1BBD-0464-45D0-8576-B664FBE2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71750"/>
            <a:ext cx="2952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逐图观察：场景、景别、动作、光线、色彩、搭配、服装结构、视觉意图。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每个判断都要 visible_cue；不得推断敏感属性；不得把构图写成CTR/CVR因果。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BD54C01F-2C6B-42DC-8678-D326CD0D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577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31C4366-E909-4704-BF1E-AF4AA83E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672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同一请求内跨图比较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ED63826D-8760-4DB3-B0D7-EF409CCE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6730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共同模式 · 店铺差异 · 各店视觉定位 · 可复用拍摄规则</a:t>
            </a:r>
          </a:p>
        </p:txBody>
      </p:sp>
      <p:sp>
        <p:nvSpPr>
          <p:cNvPr id="21" name="flow-arrow">
            <a:extLst xmlns:a="http://schemas.openxmlformats.org/drawingml/2006/main">
              <a:ext uri="{FF2B5EF4-FFF2-40B4-BE49-F238E27FC236}">
                <a16:creationId xmlns:a16="http://schemas.microsoft.com/office/drawing/2014/main" id="{5A522AFE-72E8-418A-B205-8A71174A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19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experience1-output">
            <a:extLst xmlns:a="http://schemas.openxmlformats.org/drawingml/2006/main">
              <a:ext uri="{FF2B5EF4-FFF2-40B4-BE49-F238E27FC236}">
                <a16:creationId xmlns:a16="http://schemas.microsoft.com/office/drawing/2014/main" id="{39C8AA45-7F91-4549-96BD-077394C6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81150"/>
            <a:ext cx="3505200" cy="409575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C638FB5-FF2D-4EC8-834D-C073424F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STRICT JSON OUTPUT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0FBD110-04D7-4431-A80E-E6B2B79B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52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逐图结果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C380962-5878-4F96-8F58-258E4039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7项可见字段 · visual_intent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strengths · weaknesses · changes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evidence claim＋visible_cue · confidence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EF8A24E-DEBC-4949-A3B7-420D2BB0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433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跨图结果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BDE6815-32E3-45C6-9B07-6E73ADD9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62450"/>
            <a:ext cx="304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selection thesis · shared patterns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cross-store differences · store summaries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shot system · A/B hypotheses</a:t>
            </a:r>
          </a:p>
        </p:txBody>
      </p:sp>
      <p:sp>
        <p:nvSpPr>
          <p:cNvPr id="28" name="box">
            <a:extLst xmlns:a="http://schemas.openxmlformats.org/drawingml/2006/main">
              <a:ext uri="{FF2B5EF4-FFF2-40B4-BE49-F238E27FC236}">
                <a16:creationId xmlns:a16="http://schemas.microsoft.com/office/drawing/2014/main" id="{B7F4B201-1A4E-4BF8-9D6B-429FC616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04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709672BD-CF7C-41EB-AB9D-97AA8BEC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59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结论只代表本次成功送入Sol的图片；没有全店分布，不得外推整店占比。图片索引和店铺摘要缺失或重复会直接失败。</a:t>
            </a:r>
          </a:p>
        </p:txBody>
      </p:sp>
      <p:sp>
        <p:nvSpPr>
          <p:cNvPr id="30" name="rule">
            <a:extLst xmlns:a="http://schemas.openxmlformats.org/drawingml/2006/main">
              <a:ext uri="{FF2B5EF4-FFF2-40B4-BE49-F238E27FC236}">
                <a16:creationId xmlns:a16="http://schemas.microsoft.com/office/drawing/2014/main" id="{536C1D3D-4E89-4395-98AF-2053D5A5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footer">
            <a:extLst xmlns:a="http://schemas.openxmlformats.org/drawingml/2006/main">
              <a:ext uri="{FF2B5EF4-FFF2-40B4-BE49-F238E27FC236}">
                <a16:creationId xmlns:a16="http://schemas.microsoft.com/office/drawing/2014/main" id="{CF19F2C9-8A14-4A11-A083-28EE97A9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5505620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38839426-7D11-44F9-BD12-AEA88C60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1/7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DD9511-9314-427F-9567-1A8A8B3B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Demo：进入维度分析，先看可用范围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B6BDB07-B6E7-4BC3-AED3-676AE2FC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入口先告诉用户已有25,916张分析图、15个维度，以及AND组合筛选规则。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D12612A-686A-4523-AFF3-6CC0418C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263C2685-7815-4ACE-983E-193C3CD4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1e2640b5a44ed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CF2CD9EE-AF95-49E6-A963-6BEB798A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B964ED45-E8A3-45DF-B276-9867C3B4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01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FBFF43CC-CC61-4557-AE85-BE0D2ADA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进入图片维度分析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2AC1130C-2AA6-457B-862F-E1D8B06A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F83DA027-4F4D-48BA-8045-A8F56B94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683E3467-98E9-45F6-B38C-96C6D1D5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确认已有分析图片规模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6E1EC015-185B-44AA-9178-87290465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B60354F4-13C7-48B0-8384-AFB5B6E4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查看15个维度与可用标签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56144DA6-5356-4E26-ACB6-ABA2E1E8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2C85FC30-FA6B-4C12-A3AD-8F2E9833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此时还没有筛选结果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7B119B55-9566-44F8-AAB8-A1D70907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66053A38-5149-4C8B-B896-62470C93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9345954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ABEBDE75-4753-41C4-9604-4D42CDBD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2/7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8259AB-7BAE-4CD7-B052-B5954E96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Demo：选择需要组合的分析维度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60D68FC-6E61-4056-9510-C9FE3010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示例选择“商品类别”和“穿着场景”，页面同步生成两个标签下拉框。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C8CD8C7-EEBC-4A2B-82D2-4BDBB3B1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7CEFFDA1-9C0A-4D61-BFFD-4551FE53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9cf1a02904b39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4619D0B3-5969-48F5-835F-F6FF2834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0B2550E4-AD7F-41A7-AB4B-FC9D106F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02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03CE0E6C-EA39-48F5-9715-AF2AFC13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勾选两个维度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0C15B250-3B1A-420A-B0D0-7EE781A6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498D3100-E9FB-49B1-A7DC-F2CA0307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2E4578B9-CBF7-4E05-8485-960318A8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商品类别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C1A7AFAD-A9AE-461C-B2EF-DA68EA16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C0DF1DAE-6B82-433B-A51E-1C9C5A63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穿着场景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76DDF6A4-F9A5-4D26-8D1E-41CEE0C3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FEF60D0E-DF88-4914-9D5E-FB6AC917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其余维度保持未选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E8959B9-47B6-4384-9626-47958542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EA5B218B-2B78-4A8B-AECA-E4E4E14C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2652758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ECB53D49-DCD5-464F-B7A7-7B7F573F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3/7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6FC8DB-9781-4C61-8CC7-2C3192C5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Demo：把标签组合成可解释的AND条件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1483283-1F3E-413C-837E-51909655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商品类别=上衣，穿着场景=度假；只有同时满足两个标签的图片才会命中。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A58D8BA-D207-4356-9ED2-3331E65F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6A2C0E43-D316-4E80-A126-1FD358ED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8733351ed4ff3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89C4D7C4-970E-47C7-8033-6B99A963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C93E4595-552D-4456-BFD1-F9C5E0A5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03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C2613D7B-AB4D-4483-9A7E-D245FF46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设定“上衣 AND 度假”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469D9383-8091-4B10-BF94-A3461CB0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F70A0C2B-D2C1-44E8-A38D-AAC0AC20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C2988C2E-ACA6-4A4F-9551-50B00CAA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每个维度只取一个标签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281F7174-FE27-4246-B0A8-C397C02A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2C5977AB-8E10-4737-9116-5EB9058D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条件之间使用AND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3CD7365E-5532-4F4E-97E7-13CD104A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F1B29326-FA0F-4117-8BB3-8DF7BCBA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生产结果即时刷新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4046F078-FB9B-429A-86F5-12FDE158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5699F300-D8F7-4849-B10E-024FD815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86496526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48AF8C54-0577-4621-862B-844505A5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4/7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5B7F7A-528A-4EB3-B059-078FB426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Demo：结果按店铺拆分，并保留商品证据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D814307-9FF6-424B-9B9C-6EA3D794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生产环境命中3,179张；每张卡片都保留店铺、商品ID、标签与原图。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CFFCB4-F627-4994-BC5E-5D53BE14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8556AAFE-F713-49BF-870E-955A87D2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dd0d496ee246c0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9428147D-F03D-4FD5-A600-CF9777A9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88305B2D-50A6-4538-BF3C-64E2BFF5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04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22EDC9D4-BF2A-43FC-B7D9-C11DDEFA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查看匹配结果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3BFF6935-6E25-4FC4-A124-E94D9732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648C7888-1DB5-47C6-A06E-3203B80B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2BD0AF60-7482-470D-B9A6-B35C741F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命中3,179张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F8EB40C2-F4F2-4363-AF69-7C40F173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9E80D3E5-5EF7-4A3F-A70D-F43A1EA9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按5家店分别展示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2C9B923D-66B4-4D54-9E67-25475867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47AC09E1-B520-42D5-8D31-46A10F7C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可继续打开单图证据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844B7F7C-86E1-4E2A-8FDE-767F7841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B225E4CE-7643-4CB8-BBE6-6C4AF345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1251060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87BB6281-FD53-40C5-B666-0BCE30D7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5/7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F71319D-41EE-429F-9403-023CDC32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Demo：手动选图，确认付费分析范围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1CB82B1-E0BF-4202-A666-45BE5D19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勾选2张图并切换为手动选图；界面明确显示将分析1家店、2张高清图。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4A5C87E-A2A0-4D9A-B946-20BB6365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41B7FE13-4F47-4D68-8181-8A4E5AFC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ca098a5304fb6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6ECC6BCC-831A-4A83-A45E-357386DA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27832A6A-83E2-4C3E-A0D7-C4AAAEAF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05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3BB3A58A-CB8C-4E2E-B51A-811D979F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选择精读样本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C515C8AE-7803-47BB-A0B3-02F3B692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D19069C9-23BF-4D58-B436-10D3CB79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B1DBCBC5-A84D-413C-893E-3B0BA2F5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手动勾选2张图片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95851CF5-09AD-4C84-9BE0-B2FFB77A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6C794217-9A45-49B5-BB6B-8BE4EB29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确认1家店、2张高清图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A39CEC31-6155-4B65-86E9-394A815F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F3A69758-2966-4405-A38E-5E2B1D02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费用提示在点击前可见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7DCFDAF6-C66D-469B-B225-A368EC9D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2CF2AA16-9BA2-4590-95A8-64D3816C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3342387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1DD3E34B-BCCE-4921-A0BA-BFBCF983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6/7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82F790-1EAD-4981-9B22-98CBAA23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Demo：点击付费分析，实时查看运行状态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203B74D-5BC8-4A81-AD40-A51AE9E7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点击一次“开始精细视觉分析（付费）”后，按钮锁定并持续显示GPT-5.6 Sol任务进度。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3977C71-6FBC-4149-93F7-9A6B25F5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2DB578D7-2E10-4CA3-886E-094ED5CE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4b82fb61f0421c"/>
          <a:srcRect xmlns:a="http://schemas.openxmlformats.org/drawingml/2006/main" l="0" t="35" r="0" b="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68A435E2-9C5C-4077-814A-FBFCF595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D3267898-F016-48CC-BD91-463A563C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06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EAFD6052-4C43-477F-8002-05CC31CD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启动付费分析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C8BE7869-2B82-4F67-BE52-109C36CA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B51266AA-AADD-401B-B735-4033F848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45F4D810-704B-4CCD-86BA-15632BCF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付费按钮只触发一次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41D0A9B7-B19A-49C1-AD7B-652829E6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51806127-DB18-4AED-99FD-3B43E8FA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运行中按钮自动锁定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F487C0A9-C7A9-48B4-968D-3B3DD302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D69EF726-24E3-4565-8EF4-F048B68B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实时进度显示为55%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718B43B6-0D7A-4FBC-8806-359C23F9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B282F16E-FF59-4684-BA9F-B306136C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6614257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B3374CE1-9A27-4D2F-A4CE-18E83336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7/7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479C4A-97E5-4785-BB55-FC334D15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Demo：结果同时给出结论、Token与费用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44EBB03-CE9B-4C5D-A079-C48EFB66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2张高清图在81.3秒内完成；页面返回总体结论、共同模式、店铺差异和逐图可验证建议。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ABA137-5182-4328-84CD-755B5A8B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4EC6C832-9063-44CD-901C-A139E535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888376c00c4208"/>
          <a:srcRect xmlns:a="http://schemas.openxmlformats.org/drawingml/2006/main" l="0" t="35" r="0" b="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4E469F47-7CFE-4CA6-B557-33CCB10D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43AAE67E-8D70-4674-81CB-DF82CA65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07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4DBE167A-764F-43D8-98F9-0AA4B69C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查看精细分析结果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2CB798EB-D7B2-4A81-A0BD-88E5A28C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4DB2E4E8-1411-4262-AB3F-F086E3FD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78330A88-026F-40E8-B9F2-8583CBF7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2/2图片成功、无失败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06DF09E8-114A-43BA-8C58-0C1BA413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4FC61A27-9DC0-488D-917A-47E206A3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总Token 8,343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5DDFBD2A-BDBA-49C0-BB96-1AA776C5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CC441837-01AA-470B-BCD8-FB2DC07A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预估费用 $0.1897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8C73DD63-7006-4CFB-AE17-EC8914C7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753973ED-89ED-4D4C-A9A4-1F4ED8F8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11128970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eyebrow">
            <a:extLst xmlns:a="http://schemas.openxmlformats.org/drawingml/2006/main">
              <a:ext uri="{FF2B5EF4-FFF2-40B4-BE49-F238E27FC236}">
                <a16:creationId xmlns:a16="http://schemas.microsoft.com/office/drawing/2014/main" id="{7C808076-BFA7-4295-93A8-8CBA2A83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EVIDENCE SELECTION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BA3A88-7204-4DC6-B075-04EB824D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体验2流程①：竞品按“店铺×品类”分层选证据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B474AFC-D94E-4BD3-88C5-27144A67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15,107张竞品首图负责计算分布；高清证据图只负责让视觉判断可复核，不能替代全量分母。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684AFEB-74D3-47A7-9AC3-F294D878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target-population">
            <a:extLst xmlns:a="http://schemas.openxmlformats.org/drawingml/2006/main">
              <a:ext uri="{FF2B5EF4-FFF2-40B4-BE49-F238E27FC236}">
                <a16:creationId xmlns:a16="http://schemas.microsoft.com/office/drawing/2014/main" id="{B44CD247-89D1-4A76-856D-D67750D1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514600" cy="42100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C7AC380-6ABB-4869-B20F-EF7AB0DF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目标店铺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D621BB7-3487-4EFD-86BD-E2026748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Aloruh · TOPS＋SKIRTS</a:t>
            </a:r>
          </a:p>
        </p:txBody>
      </p:sp>
      <p:sp>
        <p:nvSpPr>
          <p:cNvPr id="8" name="metric-计划进入下载的全量首图">
            <a:extLst xmlns:a="http://schemas.openxmlformats.org/drawingml/2006/main">
              <a:ext uri="{FF2B5EF4-FFF2-40B4-BE49-F238E27FC236}">
                <a16:creationId xmlns:a16="http://schemas.microsoft.com/office/drawing/2014/main" id="{D3C956D1-C257-4300-8766-777C7B88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80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415</a:t>
            </a:r>
          </a:p>
        </p:txBody>
      </p:sp>
      <p:sp>
        <p:nvSpPr>
          <p:cNvPr id="9" name="metric-label-计划进入下载的全量首图">
            <a:extLst xmlns:a="http://schemas.openxmlformats.org/drawingml/2006/main">
              <a:ext uri="{FF2B5EF4-FFF2-40B4-BE49-F238E27FC236}">
                <a16:creationId xmlns:a16="http://schemas.microsoft.com/office/drawing/2014/main" id="{2CC30EF7-F467-4D6B-8FC9-EB7295E3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计划进入下载的全量首图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0A7AB53C-C337-4D22-9535-0DE1693C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2057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0FDF2B3-1A46-40D0-BE0F-1273BE4F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C4E4AB9-D497-442F-87EB-C5CE0331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2057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范围内全部首图都进入下载队列，不使用标签筛掉目标店铺图片。成功下载386张。</a:t>
            </a:r>
          </a:p>
        </p:txBody>
      </p:sp>
      <p:sp>
        <p:nvSpPr>
          <p:cNvPr id="13" name="competitor-population">
            <a:extLst xmlns:a="http://schemas.openxmlformats.org/drawingml/2006/main">
              <a:ext uri="{FF2B5EF4-FFF2-40B4-BE49-F238E27FC236}">
                <a16:creationId xmlns:a16="http://schemas.microsoft.com/office/drawing/2014/main" id="{6BB34F29-30C9-46F3-ABBA-7F6D3176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581150"/>
            <a:ext cx="3486150" cy="42100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BD415D2-1CC4-4B63-8B6C-EC40870B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90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竞品全量分母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8A35B7C-FF45-416F-989F-D8B6F0C0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3家竞品 × 2个品类 = 6个独立池</a:t>
            </a:r>
          </a:p>
        </p:txBody>
      </p:sp>
      <p:sp>
        <p:nvSpPr>
          <p:cNvPr id="16" name="metric-张竞品首图参与分布统计">
            <a:extLst xmlns:a="http://schemas.openxmlformats.org/drawingml/2006/main">
              <a:ext uri="{FF2B5EF4-FFF2-40B4-BE49-F238E27FC236}">
                <a16:creationId xmlns:a16="http://schemas.microsoft.com/office/drawing/2014/main" id="{553528A7-172C-46A7-9E8E-0C6341A2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241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15,107</a:t>
            </a:r>
          </a:p>
        </p:txBody>
      </p:sp>
      <p:sp>
        <p:nvSpPr>
          <p:cNvPr id="17" name="metric-label-张竞品首图参与分布统计">
            <a:extLst xmlns:a="http://schemas.openxmlformats.org/drawingml/2006/main">
              <a:ext uri="{FF2B5EF4-FFF2-40B4-BE49-F238E27FC236}">
                <a16:creationId xmlns:a16="http://schemas.microsoft.com/office/drawing/2014/main" id="{BA1B43C0-0B2A-4FE1-9965-7E12276D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528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张竞品首图参与分布统计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739E74C2-306D-4270-9BF9-B8B4360E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48100"/>
            <a:ext cx="300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8E6A842-8C6C-4FBE-97B5-A70259D0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957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每个池都读取6维标签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E5D5A5F-5D9B-4215-87B6-D34674EB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95800"/>
            <a:ext cx="3009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穿着场合 · 拍摄场景 · 画面构图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视角动作 · 视觉语言 · 搭配方式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缺任一维标签，整个池直接失败。</a:t>
            </a:r>
          </a:p>
        </p:txBody>
      </p:sp>
      <p:sp>
        <p:nvSpPr>
          <p:cNvPr id="21" name="competitor-selection-algorithm">
            <a:extLst xmlns:a="http://schemas.openxmlformats.org/drawingml/2006/main">
              <a:ext uri="{FF2B5EF4-FFF2-40B4-BE49-F238E27FC236}">
                <a16:creationId xmlns:a16="http://schemas.microsoft.com/office/drawing/2014/main" id="{A91FA307-BBF5-430A-9990-B05E5165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581150"/>
            <a:ext cx="45910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4E550FC-6DD0-4198-9332-463DFCBB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907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每个竞品×品类池的选图算法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54B7A96-EF7E-4438-987C-899D13C2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241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E08F1A9-0F2E-45F9-8288-1FFCEFD7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0505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每一维按全量标签计数与占比排序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16E92F58-171C-4F94-B2E4-DB3E1C5B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337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FECB87D-A2ED-4630-A8B8-0FD300B9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1465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选最高频2个标签＋达到约0.5%门槛后最少见的1个边界标签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E4C3871-C0BA-4B27-9CD1-0441C682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433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1221CA82-A490-4FE4-883A-6A7A986D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2425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代表图按标签置信度最高 → catalog rank → product ID选出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FA4D92E7-0FE8-4E97-B8E3-54DB8C36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2985082F-0F92-46F0-875D-5FC6D1C8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3385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每图取6维最高置信度标签，形成六维组合签名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9249B59C-EE80-42BA-83A6-3FF3CCB5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625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9B71F739-2010-4409-9BAA-67C19DD2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743450"/>
            <a:ext cx="3657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组合簇再选Top 2＋有效边界1；最后跨维、理由、URL去重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D8AFDC8A-5F0C-4313-96B9-07481587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391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结果：计划107张竞品证据图；成功下载106张</a:t>
            </a:r>
          </a:p>
        </p:txBody>
      </p:sp>
      <p:sp>
        <p:nvSpPr>
          <p:cNvPr id="34" name="box">
            <a:extLst xmlns:a="http://schemas.openxmlformats.org/drawingml/2006/main">
              <a:ext uri="{FF2B5EF4-FFF2-40B4-BE49-F238E27FC236}">
                <a16:creationId xmlns:a16="http://schemas.microsoft.com/office/drawing/2014/main" id="{B3F50216-9051-4F92-9AC3-433127E7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1104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41EAA60D-1CBA-451E-9293-3403C337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38850"/>
            <a:ext cx="1062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目标=全量进入；竞品=全量算分布后选典型/边界证据。两者进入Sol前都保留 store、product、category、role 与 selection_reasons。</a:t>
            </a:r>
          </a:p>
        </p:txBody>
      </p:sp>
      <p:sp>
        <p:nvSpPr>
          <p:cNvPr id="36" name="rule">
            <a:extLst xmlns:a="http://schemas.openxmlformats.org/drawingml/2006/main">
              <a:ext uri="{FF2B5EF4-FFF2-40B4-BE49-F238E27FC236}">
                <a16:creationId xmlns:a16="http://schemas.microsoft.com/office/drawing/2014/main" id="{11F7E0FF-5E51-4965-84B8-5A8F35DF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ooter">
            <a:extLst xmlns:a="http://schemas.openxmlformats.org/drawingml/2006/main">
              <a:ext uri="{FF2B5EF4-FFF2-40B4-BE49-F238E27FC236}">
                <a16:creationId xmlns:a16="http://schemas.microsoft.com/office/drawing/2014/main" id="{36EEAFC5-72F3-44C8-A07F-751B9F60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6651177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eyebrow">
            <a:extLst xmlns:a="http://schemas.openxmlformats.org/drawingml/2006/main">
              <a:ext uri="{FF2B5EF4-FFF2-40B4-BE49-F238E27FC236}">
                <a16:creationId xmlns:a16="http://schemas.microsoft.com/office/drawing/2014/main" id="{4A9F426F-B347-4AC6-8512-036C251C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PER-IMAGE ANALYSIS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243E63-42E4-4FBF-BA16-BE9BC007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体验2流程②：成功下载的492张图片全部逐图分析，没有再抽一层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00EDF7F-DD16-4AF6-B593-C36AE3C8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计划选入522张；30张高清下载失败后，386张目标图＋106张竞品图全部进入Sol逐图观察。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570470-200C-4E90-AB04-F5055E5D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count-0">
            <a:extLst xmlns:a="http://schemas.openxmlformats.org/drawingml/2006/main">
              <a:ext uri="{FF2B5EF4-FFF2-40B4-BE49-F238E27FC236}">
                <a16:creationId xmlns:a16="http://schemas.microsoft.com/office/drawing/2014/main" id="{C420C258-6FC2-4EDA-A570-CF972545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2533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2B3A2AC-34F9-434F-8F6C-042318D0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计划范围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384A0BC-5282-4606-9EEC-75C19B1F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522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79B188B-E1AF-4C65-9B7D-B68454C5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336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415目标＋107竞品</a:t>
            </a:r>
          </a:p>
        </p:txBody>
      </p:sp>
      <p:sp>
        <p:nvSpPr>
          <p:cNvPr id="9" name="count-1">
            <a:extLst xmlns:a="http://schemas.openxmlformats.org/drawingml/2006/main">
              <a:ext uri="{FF2B5EF4-FFF2-40B4-BE49-F238E27FC236}">
                <a16:creationId xmlns:a16="http://schemas.microsoft.com/office/drawing/2014/main" id="{9A0CC627-B509-4CF5-A29B-A20598A1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581150"/>
            <a:ext cx="2533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76569E8-5AB4-4D3A-82EE-38C500D8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5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成功下载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09F74B8-BAB4-473F-9B4F-BC8D1461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764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492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B3CA07B-A35C-4925-9BBA-F1E76B31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336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386目标＋106竞品</a:t>
            </a:r>
          </a:p>
        </p:txBody>
      </p:sp>
      <p:sp>
        <p:nvSpPr>
          <p:cNvPr id="13" name="count-2">
            <a:extLst xmlns:a="http://schemas.openxmlformats.org/drawingml/2006/main">
              <a:ext uri="{FF2B5EF4-FFF2-40B4-BE49-F238E27FC236}">
                <a16:creationId xmlns:a16="http://schemas.microsoft.com/office/drawing/2014/main" id="{3406A1B2-A6D6-4376-B465-653F7882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81150"/>
            <a:ext cx="2533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858BBF6-E19E-4D71-8EA4-08092942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5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下载失败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B7D5C99-8DA2-42F8-ACA7-8B12A463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FCB88FE-9EE2-43CD-BEF3-9457B595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336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记录图片/店铺/商品/错误</a:t>
            </a:r>
          </a:p>
        </p:txBody>
      </p:sp>
      <p:sp>
        <p:nvSpPr>
          <p:cNvPr id="17" name="count-3">
            <a:extLst xmlns:a="http://schemas.openxmlformats.org/drawingml/2006/main">
              <a:ext uri="{FF2B5EF4-FFF2-40B4-BE49-F238E27FC236}">
                <a16:creationId xmlns:a16="http://schemas.microsoft.com/office/drawing/2014/main" id="{242963C0-D745-47BB-9882-FABCE784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81150"/>
            <a:ext cx="2533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EDED519-83B6-468D-9162-9E570E95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52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逐图批次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C3EE6EA2-1234-4F85-96E6-DF8CBC38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7645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62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884D4DE-E538-42CD-8856-0EE758A4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336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每批最多8张</a:t>
            </a:r>
          </a:p>
        </p:txBody>
      </p:sp>
      <p:sp>
        <p:nvSpPr>
          <p:cNvPr id="21" name="flow-arrow">
            <a:extLst xmlns:a="http://schemas.openxmlformats.org/drawingml/2006/main">
              <a:ext uri="{FF2B5EF4-FFF2-40B4-BE49-F238E27FC236}">
                <a16:creationId xmlns:a16="http://schemas.microsoft.com/office/drawing/2014/main" id="{F79E3DAB-309A-4070-B3BD-82A0E531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90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2" name="per-image-output">
            <a:extLst xmlns:a="http://schemas.openxmlformats.org/drawingml/2006/main">
              <a:ext uri="{FF2B5EF4-FFF2-40B4-BE49-F238E27FC236}">
                <a16:creationId xmlns:a16="http://schemas.microsoft.com/office/drawing/2014/main" id="{42853D75-EC04-4B52-8AA4-8BFA93DA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70485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1E1B762-F220-4A02-8BC4-861F5646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每张图必须返回的可见观察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5C7D499-3091-43F6-983C-4B702CA3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657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scene · framing · pose_action · lighting · palette</a:t>
            </a:r>
          </a:p>
          <a:p xmlns:a="http://schemas.openxmlformats.org/drawingml/2006/main">
            <a:pPr algn="l">
              <a:defRPr sz="1275" b="0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7D7D7"/>
                </a:solidFill>
                <a:latin typeface="Arial"/>
                <a:ea typeface="Arial"/>
                <a:cs typeface="Arial"/>
              </a:rPr>
              <a:t>styling · garment_display · first_image_type · brand_signal · text_overlay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D773A617-3D3B-482E-9C06-5695E85D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8FD4F2"/>
                </a:solidFill>
                <a:latin typeface="Arial"/>
                <a:ea typeface="Arial"/>
                <a:cs typeface="Arial"/>
              </a:rPr>
              <a:t>＋ visual_role · strengths · weaknesses · evidence_cues（至少2条）· confidence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4A6F09F-5D7A-4E9A-BBB8-EF810318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每批同时返回2–10个候选模式，并列支持图与反例图。批内图片ID缺失或重复，整批失败。</a:t>
            </a:r>
          </a:p>
        </p:txBody>
      </p:sp>
      <p:sp>
        <p:nvSpPr>
          <p:cNvPr id="27" name="merged-evidence">
            <a:extLst xmlns:a="http://schemas.openxmlformats.org/drawingml/2006/main">
              <a:ext uri="{FF2B5EF4-FFF2-40B4-BE49-F238E27FC236}">
                <a16:creationId xmlns:a16="http://schemas.microsoft.com/office/drawing/2014/main" id="{A30DE23C-20E7-4ED6-A833-7B110172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24250"/>
            <a:ext cx="37528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1D06DE19-5130-46FA-A9DF-EAED7943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汇总证据包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692CFBE8-DCB9-4CE9-83A0-DA3A9774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32956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492张逐图观察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全部批次候选模式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图片—店铺—商品—角色映射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15,107张竞品全量标签分布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竞品证据图的入选原因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报告范围与排除指标</a:t>
            </a:r>
          </a:p>
        </p:txBody>
      </p:sp>
      <p:sp>
        <p:nvSpPr>
          <p:cNvPr id="30" name="box">
            <a:extLst xmlns:a="http://schemas.openxmlformats.org/drawingml/2006/main">
              <a:ext uri="{FF2B5EF4-FFF2-40B4-BE49-F238E27FC236}">
                <a16:creationId xmlns:a16="http://schemas.microsoft.com/office/drawing/2014/main" id="{BEF6CF66-1914-428D-B5AE-93BB3F18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5790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02D0BFCC-81FA-4C2B-8F74-91430632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86475"/>
            <a:ext cx="1059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然后只进行1次Sol汇总调用，同时生成五个Section；总调用数=62次逐图批次＋1次汇总。</a:t>
            </a:r>
          </a:p>
        </p:txBody>
      </p:sp>
      <p:sp>
        <p:nvSpPr>
          <p:cNvPr id="32" name="rule">
            <a:extLst xmlns:a="http://schemas.openxmlformats.org/drawingml/2006/main">
              <a:ext uri="{FF2B5EF4-FFF2-40B4-BE49-F238E27FC236}">
                <a16:creationId xmlns:a16="http://schemas.microsoft.com/office/drawing/2014/main" id="{38DC5440-17A6-41C3-96B9-64ADA3EF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ooter">
            <a:extLst xmlns:a="http://schemas.openxmlformats.org/drawingml/2006/main">
              <a:ext uri="{FF2B5EF4-FFF2-40B4-BE49-F238E27FC236}">
                <a16:creationId xmlns:a16="http://schemas.microsoft.com/office/drawing/2014/main" id="{AB24F818-D34A-47BD-A7C1-6A9EA668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60502400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eyebrow">
            <a:extLst xmlns:a="http://schemas.openxmlformats.org/drawingml/2006/main">
              <a:ext uri="{FF2B5EF4-FFF2-40B4-BE49-F238E27FC236}">
                <a16:creationId xmlns:a16="http://schemas.microsoft.com/office/drawing/2014/main" id="{1FDEDC88-19B0-439E-9B0B-81D2E164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FIVE-SECTION LOGIC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CF7A64-8631-4041-9946-48A8330E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体验2流程③：五个Section共享同一证据包，不是五次独立分析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AD9D5AE-A1A0-422A-88CC-FA811594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一次Sol汇总响应同时返回五章。章节语义由section_id、中文标题和统一Prompt限定；观察字段分工不是程序硬编码。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1F2817C-E88E-4733-86EA-C203B862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925511CF-8629-453F-9A75-BAEF9C55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7EFB31F-DDF7-4DEE-B20A-2849C41B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SECTION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8EBFF0AF-3FCD-4E3C-9FA3-0F69F219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562100"/>
            <a:ext cx="2324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66F52C7-FB43-4AF7-ADFE-11313A31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764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主要证据范围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E02CD106-6C21-4C04-9BA5-5343DF59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62100"/>
            <a:ext cx="2876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6D9BDB3-9EBE-431B-9257-5B85BA8C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676400"/>
            <a:ext cx="2609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模型可用的判断视角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86E998CE-B51A-4F7F-BAE7-6BA4510F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62100"/>
            <a:ext cx="3009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596274C-A40D-4C7B-9D3F-D8BC830D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764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真实约束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1E753740-69BB-468A-BD71-A0EE2FBAA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5398622-EC2F-435F-9623-67FB75C4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品牌视觉定位校准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4D19064F-F247-4BE0-BCF8-5F95D3A9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5740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84BC31B-778B-4AFE-9892-F8C28631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717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目标店铺逐图观察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5924FB78-D705-42C2-81FE-A8B1041D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5740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F798C3D-D384-4EBF-920A-140682F8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717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常用：brand_signal · palette · styling · scene</a:t>
            </a:r>
          </a:p>
        </p:txBody>
      </p:sp>
      <p:sp>
        <p:nvSpPr>
          <p:cNvPr id="19" name="box">
            <a:extLst xmlns:a="http://schemas.openxmlformats.org/drawingml/2006/main">
              <a:ext uri="{FF2B5EF4-FFF2-40B4-BE49-F238E27FC236}">
                <a16:creationId xmlns:a16="http://schemas.microsoft.com/office/drawing/2014/main" id="{8265E5FE-3D9C-40CB-B1F0-3138DE48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5740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6D73C0D9-64BE-4DF2-AC66-ABEDA853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7170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Prompt语义约束；2–6条claim</a:t>
            </a:r>
          </a:p>
        </p:txBody>
      </p:sp>
      <p:sp>
        <p:nvSpPr>
          <p:cNvPr id="21" name="box">
            <a:extLst xmlns:a="http://schemas.openxmlformats.org/drawingml/2006/main">
              <a:ext uri="{FF2B5EF4-FFF2-40B4-BE49-F238E27FC236}">
                <a16:creationId xmlns:a16="http://schemas.microsoft.com/office/drawing/2014/main" id="{A474373C-CD7E-4338-93AE-40CFB5C3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BD89951-D0FF-41C4-95E1-A3B2F424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商品展示分析</a:t>
            </a:r>
          </a:p>
        </p:txBody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E92F124D-7A7B-4750-9079-CC0900D8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384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AB0D7A6-882C-4C4A-8D96-629E745B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527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目标店铺逐图观察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095E071E-FADB-421D-A66B-A91BC42C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3845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B23B5091-A4D8-4C57-B077-D835EFF8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9527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常用：garment_display · framing · first_image_type</a:t>
            </a:r>
          </a:p>
        </p:txBody>
      </p:sp>
      <p:sp>
        <p:nvSpPr>
          <p:cNvPr id="27" name="box">
            <a:extLst xmlns:a="http://schemas.openxmlformats.org/drawingml/2006/main">
              <a:ext uri="{FF2B5EF4-FFF2-40B4-BE49-F238E27FC236}">
                <a16:creationId xmlns:a16="http://schemas.microsoft.com/office/drawing/2014/main" id="{2FB0DC39-E2F5-49EB-9C80-32D2D5C5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3845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4649275-83F8-4F0C-88E1-98AFE345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5275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Prompt语义约束；2–6条claim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C32FA029-26A9-4570-B3CE-824E4121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40D7A0DD-C221-456B-9104-5563A5A6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店铺视觉审计</a:t>
            </a:r>
          </a:p>
        </p:txBody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DBFE6E83-8493-466C-8F63-CC6BDF4E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1950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DB2A9DAD-D525-44D0-A929-A53CB673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338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目标店铺跨图观察</a:t>
            </a:r>
          </a:p>
        </p:txBody>
      </p:sp>
      <p:sp>
        <p:nvSpPr>
          <p:cNvPr id="33" name="box">
            <a:extLst xmlns:a="http://schemas.openxmlformats.org/drawingml/2006/main">
              <a:ext uri="{FF2B5EF4-FFF2-40B4-BE49-F238E27FC236}">
                <a16:creationId xmlns:a16="http://schemas.microsoft.com/office/drawing/2014/main" id="{6B89589D-6C0F-4A88-88DD-37D7C29D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1950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6347457B-B26C-4CDC-92C3-8F5DDD82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7338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常用：scene · lighting · palette · 一致性</a:t>
            </a:r>
          </a:p>
        </p:txBody>
      </p:sp>
      <p:sp>
        <p:nvSpPr>
          <p:cNvPr id="35" name="box">
            <a:extLst xmlns:a="http://schemas.openxmlformats.org/drawingml/2006/main">
              <a:ext uri="{FF2B5EF4-FFF2-40B4-BE49-F238E27FC236}">
                <a16:creationId xmlns:a16="http://schemas.microsoft.com/office/drawing/2014/main" id="{3C18CDBD-C399-41FB-AB3D-3D40C4BA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1950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26B153D0-EBC7-401A-B2A0-329F6077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3380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Prompt语义约束；2–6条claim</a:t>
            </a:r>
          </a:p>
        </p:txBody>
      </p:sp>
      <p:sp>
        <p:nvSpPr>
          <p:cNvPr id="37" name="box">
            <a:extLst xmlns:a="http://schemas.openxmlformats.org/drawingml/2006/main">
              <a:ext uri="{FF2B5EF4-FFF2-40B4-BE49-F238E27FC236}">
                <a16:creationId xmlns:a16="http://schemas.microsoft.com/office/drawing/2014/main" id="{95FF210A-E81A-48C0-AEC8-1A5EC44D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9FCA7B0B-2B74-4FAF-9E7E-21F39E01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竞品视觉差距</a:t>
            </a:r>
          </a:p>
        </p:txBody>
      </p:sp>
      <p:sp>
        <p:nvSpPr>
          <p:cNvPr id="39" name="box">
            <a:extLst xmlns:a="http://schemas.openxmlformats.org/drawingml/2006/main">
              <a:ext uri="{FF2B5EF4-FFF2-40B4-BE49-F238E27FC236}">
                <a16:creationId xmlns:a16="http://schemas.microsoft.com/office/drawing/2014/main" id="{2BC1E866-8993-490C-9649-232BED13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0055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D3BEE329-CF02-4BFE-8374-C458334A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1485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目标观察＋竞品分布＋106图</a:t>
            </a:r>
          </a:p>
        </p:txBody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418C75E8-8DCB-41AD-A210-00888E6F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0055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558648A5-F19B-421D-8433-5DA64A08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148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6维全量占比＋10项高清观察</a:t>
            </a:r>
          </a:p>
        </p:txBody>
      </p:sp>
      <p:sp>
        <p:nvSpPr>
          <p:cNvPr id="43" name="box">
            <a:extLst xmlns:a="http://schemas.openxmlformats.org/drawingml/2006/main">
              <a:ext uri="{FF2B5EF4-FFF2-40B4-BE49-F238E27FC236}">
                <a16:creationId xmlns:a16="http://schemas.microsoft.com/office/drawing/2014/main" id="{7AC69273-360A-4C84-845F-4CD891F5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0055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0FB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EB69DFA1-7CE2-475F-B94B-DC50869C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1485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三品牌点名＋品牌证据硬校验</a:t>
            </a:r>
          </a:p>
        </p:txBody>
      </p:sp>
      <p:sp>
        <p:nvSpPr>
          <p:cNvPr id="45" name="box">
            <a:extLst xmlns:a="http://schemas.openxmlformats.org/drawingml/2006/main">
              <a:ext uri="{FF2B5EF4-FFF2-40B4-BE49-F238E27FC236}">
                <a16:creationId xmlns:a16="http://schemas.microsoft.com/office/drawing/2014/main" id="{4FBC29D0-76D3-4AE4-A687-DC020D53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84860C99-CFD0-454C-AB49-4FAB44D6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9590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视觉升级方向</a:t>
            </a:r>
          </a:p>
        </p:txBody>
      </p:sp>
      <p:sp>
        <p:nvSpPr>
          <p:cNvPr id="47" name="box">
            <a:extLst xmlns:a="http://schemas.openxmlformats.org/drawingml/2006/main">
              <a:ext uri="{FF2B5EF4-FFF2-40B4-BE49-F238E27FC236}">
                <a16:creationId xmlns:a16="http://schemas.microsoft.com/office/drawing/2014/main" id="{DB5963A1-D760-458E-8066-7F20268F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81600"/>
            <a:ext cx="2324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31E98A87-BEA1-48C5-A654-ADB047A8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95900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同一完整证据包</a:t>
            </a:r>
          </a:p>
        </p:txBody>
      </p:sp>
      <p:sp>
        <p:nvSpPr>
          <p:cNvPr id="49" name="box">
            <a:extLst xmlns:a="http://schemas.openxmlformats.org/drawingml/2006/main">
              <a:ext uri="{FF2B5EF4-FFF2-40B4-BE49-F238E27FC236}">
                <a16:creationId xmlns:a16="http://schemas.microsoft.com/office/drawing/2014/main" id="{7CD046BB-CA04-45BC-847B-34CEAE83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181600"/>
            <a:ext cx="28765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79540DAE-BB8E-4077-9069-FED56D3F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2959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把可见问题转成拍摄/图序/表达建议</a:t>
            </a:r>
          </a:p>
        </p:txBody>
      </p:sp>
      <p:sp>
        <p:nvSpPr>
          <p:cNvPr id="51" name="box">
            <a:extLst xmlns:a="http://schemas.openxmlformats.org/drawingml/2006/main">
              <a:ext uri="{FF2B5EF4-FFF2-40B4-BE49-F238E27FC236}">
                <a16:creationId xmlns:a16="http://schemas.microsoft.com/office/drawing/2014/main" id="{FB745021-9F57-4409-9D0D-5D0CEAFB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81600"/>
            <a:ext cx="30099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F839FC5C-05A9-4CF2-B6D1-2CE26CA8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295900"/>
            <a:ext cx="2743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与前四章同时生成；无顺序依赖</a:t>
            </a:r>
          </a:p>
        </p:txBody>
      </p:sp>
      <p:sp>
        <p:nvSpPr>
          <p:cNvPr id="53" name="box">
            <a:extLst xmlns:a="http://schemas.openxmlformats.org/drawingml/2006/main">
              <a:ext uri="{FF2B5EF4-FFF2-40B4-BE49-F238E27FC236}">
                <a16:creationId xmlns:a16="http://schemas.microsoft.com/office/drawing/2014/main" id="{02776617-4F70-4B64-92EA-CCD06262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76950"/>
            <a:ext cx="1104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55F7930D-14B1-4D64-BE46-2FEE6479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59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重要：第五章不是读取前四章成品后再计算；五章在同一JSON响应里同时形成。</a:t>
            </a:r>
          </a:p>
        </p:txBody>
      </p:sp>
      <p:sp>
        <p:nvSpPr>
          <p:cNvPr id="55" name="rule">
            <a:extLst xmlns:a="http://schemas.openxmlformats.org/drawingml/2006/main">
              <a:ext uri="{FF2B5EF4-FFF2-40B4-BE49-F238E27FC236}">
                <a16:creationId xmlns:a16="http://schemas.microsoft.com/office/drawing/2014/main" id="{37163BC7-C002-4581-AF81-F92C6397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footer">
            <a:extLst xmlns:a="http://schemas.openxmlformats.org/drawingml/2006/main">
              <a:ext uri="{FF2B5EF4-FFF2-40B4-BE49-F238E27FC236}">
                <a16:creationId xmlns:a16="http://schemas.microsoft.com/office/drawing/2014/main" id="{E80E4A95-2733-4205-9930-4C269A37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4580123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yebrow">
            <a:extLst xmlns:a="http://schemas.openxmlformats.org/drawingml/2006/main">
              <a:ext uri="{FF2B5EF4-FFF2-40B4-BE49-F238E27FC236}">
                <a16:creationId xmlns:a16="http://schemas.microsoft.com/office/drawing/2014/main" id="{256F4B02-3491-400A-80C3-96BB8C9B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CLAIM CONTRACT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768033-6184-4582-AAEB-56A8BB3C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体验2流程④：每条结论如何从观察进入可审核PDF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9B301F3-DAC8-4364-BE92-13CD1A5F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Sol写结论与推导；JSON Schema固定证据字段；程序阻断错误ID和竞品错配；用户逐章决定是否采用。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58149FC-4DF2-4FB2-956B-FF9BA035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1E4F461D-3A76-410D-930B-F5E339B7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1F5D6BB6-835B-4D64-86CE-17BEE7A0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B45369B9-0D21-45D4-8E47-C76BE57B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08B09108-1291-48EC-B7A7-1ECE201F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D1000019-8EA0-4031-A9FF-4C071AA5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flow-01">
            <a:extLst xmlns:a="http://schemas.openxmlformats.org/drawingml/2006/main">
              <a:ext uri="{FF2B5EF4-FFF2-40B4-BE49-F238E27FC236}">
                <a16:creationId xmlns:a16="http://schemas.microsoft.com/office/drawing/2014/main" id="{C016309A-6BD4-426D-ADA7-63491EE1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2650D7B-CFF3-486C-BD7C-D1E7E20F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58E815B-0DAD-4044-BE2D-CD258C1C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Sol生成结论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FA2F48E-8665-4C4B-8FA9-E1868AFD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结论＋推导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每章2–6条</a:t>
            </a:r>
          </a:p>
        </p:txBody>
      </p:sp>
      <p:sp>
        <p:nvSpPr>
          <p:cNvPr id="14" name="flow-02">
            <a:extLst xmlns:a="http://schemas.openxmlformats.org/drawingml/2006/main">
              <a:ext uri="{FF2B5EF4-FFF2-40B4-BE49-F238E27FC236}">
                <a16:creationId xmlns:a16="http://schemas.microsoft.com/office/drawing/2014/main" id="{9DC34A1E-7D71-4EC6-9EFC-C9FB9AC4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F3B6AE5-999A-4AAB-8233-81E1A92B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825D4C3-EC81-43F0-BE5D-3655D90E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证据范围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840B92E-AA25-4143-BB6A-02D66D18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样本数＋筛选条件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观察字段</a:t>
            </a:r>
          </a:p>
        </p:txBody>
      </p:sp>
      <p:sp>
        <p:nvSpPr>
          <p:cNvPr id="18" name="flow-03">
            <a:extLst xmlns:a="http://schemas.openxmlformats.org/drawingml/2006/main">
              <a:ext uri="{FF2B5EF4-FFF2-40B4-BE49-F238E27FC236}">
                <a16:creationId xmlns:a16="http://schemas.microsoft.com/office/drawing/2014/main" id="{39D0D585-7504-483A-8AF0-CC6C4099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359DD17-69F6-40AF-A991-653159D2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34C46A7-7D09-43C9-A141-9294B80C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图片证据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A4CB47D-B205-4838-ADE9-47101C03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支持图＋反例图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代表图</a:t>
            </a:r>
          </a:p>
        </p:txBody>
      </p:sp>
      <p:sp>
        <p:nvSpPr>
          <p:cNvPr id="22" name="flow-04">
            <a:extLst xmlns:a="http://schemas.openxmlformats.org/drawingml/2006/main">
              <a:ext uri="{FF2B5EF4-FFF2-40B4-BE49-F238E27FC236}">
                <a16:creationId xmlns:a16="http://schemas.microsoft.com/office/drawing/2014/main" id="{09FFC0BD-4998-4502-8B57-1C9DE6740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CE3DB06-3FC8-45C2-8BB9-EE842163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251F09B7-879C-46F0-A363-A6D2B3BB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程序硬校验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1BA927B-8667-4FFD-8699-5781322D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五章齐全且不重复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ID必须来自输入</a:t>
            </a:r>
          </a:p>
        </p:txBody>
      </p:sp>
      <p:sp>
        <p:nvSpPr>
          <p:cNvPr id="26" name="flow-05">
            <a:extLst xmlns:a="http://schemas.openxmlformats.org/drawingml/2006/main">
              <a:ext uri="{FF2B5EF4-FFF2-40B4-BE49-F238E27FC236}">
                <a16:creationId xmlns:a16="http://schemas.microsoft.com/office/drawing/2014/main" id="{8F05B631-44A6-477E-A608-F9770CB7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FE537AB1-D9C2-4E1D-AA8E-F449C839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51DA5D2A-A375-4E83-9318-03FA074C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人工审核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B3B75D43-86E9-4A97-B44B-5843731B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满意=通过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不满意=仅重跑该章</a:t>
            </a:r>
          </a:p>
        </p:txBody>
      </p:sp>
      <p:sp>
        <p:nvSpPr>
          <p:cNvPr id="30" name="flow-06">
            <a:extLst xmlns:a="http://schemas.openxmlformats.org/drawingml/2006/main">
              <a:ext uri="{FF2B5EF4-FFF2-40B4-BE49-F238E27FC236}">
                <a16:creationId xmlns:a16="http://schemas.microsoft.com/office/drawing/2014/main" id="{CE8E6D5F-A768-49C3-A460-5DA96E0B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95450"/>
            <a:ext cx="1676400" cy="18097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2DA078D5-C881-4EB9-9303-5FB8CE11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8478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D768CF8A-11C2-460D-B4D6-BA836C0C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52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本地排版PDF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04534B43-5164-464D-9B53-4A4AA4AB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71750"/>
            <a:ext cx="1333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五章全通过后生成</a:t>
            </a:r>
          </a:p>
          <a:p xmlns:a="http://schemas.openxmlformats.org/drawingml/2006/main">
            <a:pPr algn="l">
              <a:def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不再调用模型</a:t>
            </a:r>
          </a:p>
        </p:txBody>
      </p:sp>
      <p:sp>
        <p:nvSpPr>
          <p:cNvPr id="34" name="hard-validation">
            <a:extLst xmlns:a="http://schemas.openxmlformats.org/drawingml/2006/main">
              <a:ext uri="{FF2B5EF4-FFF2-40B4-BE49-F238E27FC236}">
                <a16:creationId xmlns:a16="http://schemas.microsoft.com/office/drawing/2014/main" id="{C2989A38-DAEB-461B-B7D0-BAD472D2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53340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D0A378CB-BD57-434F-9DFA-8F6C3FB29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程序硬校验（失败就不出报告）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AFD27DE1-2659-4508-9E95-0A88BD9C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54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每批逐图观察必须恰好覆盖输入图片ID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五个section_id必须各出现一次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每条claim引用的图片ID必须来自492张输入</a:t>
            </a:r>
          </a:p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• competitive_gap必须分别点名三家竞品，且支持/代表图属于对应品牌</a:t>
            </a:r>
          </a:p>
        </p:txBody>
      </p:sp>
      <p:sp>
        <p:nvSpPr>
          <p:cNvPr id="37" name="soft-validation">
            <a:extLst xmlns:a="http://schemas.openxmlformats.org/drawingml/2006/main">
              <a:ext uri="{FF2B5EF4-FFF2-40B4-BE49-F238E27FC236}">
                <a16:creationId xmlns:a16="http://schemas.microsoft.com/office/drawing/2014/main" id="{7B2A78B1-9D87-404E-85FD-20D03362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86200"/>
            <a:ext cx="54864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C98C2D3A-B125-4CAC-98F7-60EB2924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95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Prompt软约束＋人工审核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BE715C8A-0E64-43F7-A49D-A4FDBA3C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14850"/>
            <a:ext cx="5010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非竞品章节只用目标店铺证据，当前主要靠Prompt约束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五章具体语义没有五套独立字段公式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视觉升级章与前四章同时生成，不是程序串行推导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• 不满意时携带原章节、审核意见、scope和完整evidence单章重跑</a:t>
            </a:r>
          </a:p>
        </p:txBody>
      </p:sp>
      <p:sp>
        <p:nvSpPr>
          <p:cNvPr id="40" name="rule">
            <a:extLst xmlns:a="http://schemas.openxmlformats.org/drawingml/2006/main">
              <a:ext uri="{FF2B5EF4-FFF2-40B4-BE49-F238E27FC236}">
                <a16:creationId xmlns:a16="http://schemas.microsoft.com/office/drawing/2014/main" id="{A7226B5E-FAAC-4AF1-8E6E-32B77FE3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ooter">
            <a:extLst xmlns:a="http://schemas.openxmlformats.org/drawingml/2006/main">
              <a:ext uri="{FF2B5EF4-FFF2-40B4-BE49-F238E27FC236}">
                <a16:creationId xmlns:a16="http://schemas.microsoft.com/office/drawing/2014/main" id="{3AB245FB-6B50-477C-94BB-C0C07590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00681114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DB2DD674-3D7E-41E0-A5A7-AADF8415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1/5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B733D3-4B94-4A46-9EA1-C5AC1722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Demo：先确认报告范围与证据契约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BBE81BA-9D97-4690-9F1F-8B159534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用户主动启动专项分析；界面提前说明目标范围、竞品选证据规则、五个Section与费用边界。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B83AA1F-7B59-4F9F-BB1D-30AF584C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12289979-7EAA-49CE-ADAF-FEBFC7B4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2a7c240064290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20768FCE-4D75-47FC-AFC6-D21B3C2D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24A66C4C-C98D-4A0C-A7C6-37EF720A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01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E9EB6B0A-6792-4068-9DCB-40E96234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确认后再启动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101564E7-3DE3-45AE-B88F-9D259028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23EE5AE1-FEA1-48E0-A270-9497927C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F4D9E1B4-1056-4047-83BE-899D2CA6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目标：Aloruh Tops＋Skirts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2EE2C14E-55B6-4EE1-B805-C0762444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214D77D4-A5F7-4E20-85E0-37A474C8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竞品以全量分布为分母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181BBC53-8162-4306-8C9D-AC952BFB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F1832226-39B2-4409-B12B-016228F2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按钮明确提示会产生费用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C920850E-877A-4406-821B-90BCCC2D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58BA7F7A-6BC2-47A4-B8E0-FB1965C1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133516412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2A692192-19B0-4196-A15A-93954E35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2/5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43DEE6-CEEC-4F72-91D9-C3A975A9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Demo：分析完成后先看统计与草稿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CEEEDFD-B64E-4243-80CB-B11CB421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已完成任务展示386张目标图、15,107张竞品分母、106张高清证据及成本统计。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576E9E-9A0F-4057-95FD-B29AB66D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636A2847-4032-4025-8A7F-E322E613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5e3946bcf4814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AC36AEE4-731A-416D-BEFA-911DA976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4C9309EA-D637-4922-8A01-D2B1277A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02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210ADC19-0E5C-4622-AD0C-A56175A5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打开已完成任务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6D812C1E-2D1C-48FD-8F58-025BA08E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C15C61AA-F616-40BB-A6C5-4183343D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AF30910B-F596-47D3-9D68-295AD35F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目标店铺全量逐图分析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9EBA2255-89A8-4290-A287-E1143D4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CE60375E-79E5-4E67-A369-2B09FCA1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三家竞品分布＋高清证据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BA6AEDDA-B8A3-4710-AC57-EA5961F9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5EF20CDB-AAA6-4539-9ACE-C08AD2E2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PDF本地排版成本为0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3496A93B-02AE-47ED-B8AE-854BA3A4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CD81DC34-74D0-4757-AD29-553B3192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31833890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3057386A-C1F3-4CDC-AA37-A3DC2494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3/5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DBDF3D-FBD8-49BD-8CF5-0A5579C0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Demo：逐条检查结论、推导与图片证据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88CE9B9-0D9C-4689-94A4-AA28D27A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每个Section先展示结论，再展示怎么得到、样本范围、观察字段、支持图与反例图。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A9AD327-D3A6-4572-99D8-B72F63BA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502EEC1E-4F41-4DDD-B6E4-855E0848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9a18d867a435d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60CFE74E-01E9-496A-9B71-C8A7138D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1F4A4C19-E5C4-4BAB-8023-348DBDDC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03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850813BC-E8CF-4FB2-87A5-D1D05543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审核Section证据链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8CFA897D-9E5E-46E9-A338-83CFFE66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8FDD1E54-7220-48E3-B274-2C13CDD3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64D782F4-78EC-4873-AC4D-899CE930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结论与推导同屏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385DDB81-202F-4198-A90C-0827BA2F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574F7775-30A9-4684-B4D5-A14B3A2B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图片直接展示，不只显示ID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9ED00AD2-FCBF-44D7-B8F9-E146BB36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029E107E-18E8-4175-AF23-8DE27D58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店铺归属与样本范围可回查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EDEE8C1D-FE3A-41FD-AFDD-CC886E5B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0FF6DF20-1D86-40FB-82E8-2B6103E0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153278823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FDE30B5A-3F63-4E39-9F17-93D783DE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4/5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B53507-D3D3-47D6-9E6B-82A104DD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Demo：每个Section独立通过或退回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9823CCD-9718-465D-B35F-EE2619BD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审核区同时保留“满意 / 不满意”入口；当前章节显示已通过，下一章节继续审核。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284414F-B8D9-4088-922A-ACD3D14C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942C3761-0914-4CB1-A9A9-A427C6FD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be123cc524146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C79D0FFB-8F42-4D72-B149-414F93D0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30BB1567-7EB8-484E-98FD-3E3F34BD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04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7F3EC64E-74F3-4A03-BBA8-797AAE6E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逐章做人工判断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81587540-CDE5-4811-89F5-1F68C8FC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3B876D28-3C17-443A-9E9C-A92E1607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ECFDF3E4-B99E-49EB-B130-2845F349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支持图与反例图已展开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EA26AF6F-0091-4606-BAA6-56A9AAE5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7604EEBE-911D-4037-8CBA-9E1588C4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审核状态显示已通过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31843806-B73C-4189-8DEA-355F5B4E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651393BE-11BC-4D0D-8667-BA403128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未通过章节可单独修订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54D9793F-54BA-4813-B5A5-5844E087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7305A3E9-9BB0-478E-9FAD-E649D546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23618651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F9933BF6-CAF4-4188-86C0-E4DD81D3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5/5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CB9CA3-44FB-43C8-AE9B-81BAF72C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Demo：五章通过后生成或下载最终PDF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D30F772-C383-4005-94B1-151057CC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第二步只读取已通过草稿进行本地排版；可浏览或下载PDF，不再调用模型。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8E3898-F7F1-480B-BB81-0FB571D3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79DA4C0B-59C7-47BE-A642-8CD05C03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d0bf18b72404a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0DE0F991-35EE-44DE-A005-33DFD6BD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86C3B375-6456-42E6-BFD7-BF98E3B5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05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411CB401-6892-4806-B12B-23474F5F4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交付最终PDF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73E6B0DF-36D2-4693-B26E-285C8B49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9A6F0D85-0A4D-4B9D-9030-338042E7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D7E80B78-4968-4015-B270-B0FA0953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生成、浏览、下载三种动作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B5F27B6E-DFEA-4A3A-B29D-D5E3D38A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4045509B-1E76-4DB9-93B1-345EC35E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排版0 Token / 0模型费用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71F88F13-6FEF-4FAF-A3C5-0E8048EF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EA258DE4-7007-4183-A22A-2BD8878F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结论与证据进入固定版式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36E6A41F-C0FB-49A5-B0A1-D7EE09AD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8D668A0D-A987-4A02-AAAC-3024212E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11685648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FCC34192-2B4D-4AFB-8EBF-6F3D4E4F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PDF STRUCTURE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DEC5C6-41A8-4D4D-9856-26E8487E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53 页成品由五个 Section 逐层收敛到行动方案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17EF3E4-54F1-4F6C-9724-274F2940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每个章节都回答一个不同的问题，并保留代表图、支持图、反例图与推导方法。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529EE54-DA62-4404-8DCC-2AF2AFB2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22a4d9002431d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6EE23B4-9104-49BD-8622-E4ED6A28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P2–6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ECE0EB0-8191-4A13-A599-74E4661E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品牌视觉定位校准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3CA8A37-1B38-46FA-B6B2-4CED09C0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我们到底像什么？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a6b88d96e49da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2415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5728553-CFEC-4043-B54F-8A7627A4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P7–14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4C33947-6650-4A75-8DD1-474F726DB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商品展示分析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1D25B58-FCB8-46DD-873A-0D5F45D2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商品信息是否可读？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c8955aa97447e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11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ED3C7586-DE55-4138-90CB-3AB13039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P15–25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FA49AD2-5A71-4075-B90C-2F9738F7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店铺视觉审计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178E868-5A19-4B54-BBC3-E70A0B4A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浏览体验哪里失序？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02a6f43c0e4c7d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805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34C2734-F614-4D7E-8C02-873B39DB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P26–39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28FEECB-0B07-402E-AFF8-A6AE1795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竞品视觉差距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B855777-C20A-403A-B3AE-E7F92559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差距来自什么系统？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bf0c5a08f4296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144CE87-1A5A-407E-BADD-DDC71C0C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P40–53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8D6EA64-38A9-443B-B14F-93830568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视觉升级方向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26DB8AC-6AA7-4C99-8EFB-96743FA8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下一步怎么改？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F3955B8D-D134-4D27-A912-E9E4899E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972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440F3FAB-0835-460A-9E8A-4C1AF2F8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共同证据契约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6AD0246F-F739-4613-9C8B-C9A4506C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0545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范围与分母清楚 · 图片角色清楚 · 店铺归属清楚 · 结论能够回查到 image_id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D243AC58-CAC3-4623-9F07-C1195268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ooter">
            <a:extLst xmlns:a="http://schemas.openxmlformats.org/drawingml/2006/main">
              <a:ext uri="{FF2B5EF4-FFF2-40B4-BE49-F238E27FC236}">
                <a16:creationId xmlns:a16="http://schemas.microsoft.com/office/drawing/2014/main" id="{F9E29A83-B909-4FBD-814B-286F7B62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10646704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D3E249A0-A451-46EF-BE24-5028BBC6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FINISHED ARTIFACT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A2AB6F-6A66-4381-A198-CA7490A4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成品不是图册，而是一套可复用的视觉诊断语言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BCCF1D5-CC7F-4FFB-BA32-0AF5FE75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从品牌母题、品类图法、店铺秩序、竞品系统，最终落到可执行的视觉系列方案。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9A66D2D-2B58-44C3-824A-0609EA53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ad827642f4327"/>
          <a:srcRect xmlns:a="http://schemas.openxmlformats.org/drawingml/2006/main" l="46" t="0" r="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1485900"/>
            <a:ext cx="6953250" cy="391477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54f4bf77748e8"/>
          <a:srcRect xmlns:a="http://schemas.openxmlformats.org/drawingml/2006/main" l="0" t="105" r="0" b="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485900"/>
            <a:ext cx="2019300" cy="1133475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af108cc864d3a"/>
          <a:srcRect xmlns:a="http://schemas.openxmlformats.org/drawingml/2006/main" l="0" t="105" r="0" b="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28900" y="1485900"/>
            <a:ext cx="2019300" cy="113347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49dcb114f451d"/>
          <a:srcRect xmlns:a="http://schemas.openxmlformats.org/drawingml/2006/main" l="0" t="101" r="0" b="1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809875"/>
            <a:ext cx="4191000" cy="2352675"/>
          </a:xfrm>
          <a:prstGeom xmlns:a="http://schemas.openxmlformats.org/drawingml/2006/main" prst="rect">
            <a:avLst/>
          </a:prstGeom>
        </p:spPr>
      </p:pic>
      <p:sp>
        <p:nvSpPr>
          <p:cNvPr id="9" name="metric-页视觉诊断">
            <a:extLst xmlns:a="http://schemas.openxmlformats.org/drawingml/2006/main">
              <a:ext uri="{FF2B5EF4-FFF2-40B4-BE49-F238E27FC236}">
                <a16:creationId xmlns:a16="http://schemas.microsoft.com/office/drawing/2014/main" id="{5E93F2A3-DEDF-4A4B-BBF1-1BD434DB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10" name="metric-label-页视觉诊断">
            <a:extLst xmlns:a="http://schemas.openxmlformats.org/drawingml/2006/main">
              <a:ext uri="{FF2B5EF4-FFF2-40B4-BE49-F238E27FC236}">
                <a16:creationId xmlns:a16="http://schemas.microsoft.com/office/drawing/2014/main" id="{45773A0E-CDF8-4DF9-A12E-4FDBC38DE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页视觉诊断</a:t>
            </a:r>
          </a:p>
        </p:txBody>
      </p:sp>
      <p:sp>
        <p:nvSpPr>
          <p:cNvPr id="11" name="metric-个可审核 Section">
            <a:extLst xmlns:a="http://schemas.openxmlformats.org/drawingml/2006/main">
              <a:ext uri="{FF2B5EF4-FFF2-40B4-BE49-F238E27FC236}">
                <a16:creationId xmlns:a16="http://schemas.microsoft.com/office/drawing/2014/main" id="{9465B485-8C26-4213-B356-024EDB08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6735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metric-label-个可审核 Section">
            <a:extLst xmlns:a="http://schemas.openxmlformats.org/drawingml/2006/main">
              <a:ext uri="{FF2B5EF4-FFF2-40B4-BE49-F238E27FC236}">
                <a16:creationId xmlns:a16="http://schemas.microsoft.com/office/drawing/2014/main" id="{ADA8ACD7-5C4E-4981-9EA9-6096D065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096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个可审核 Section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246E740-05B1-4947-B7B7-E7E23770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5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成品文件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D14D96C-274D-4FC1-B5EF-CD610F8E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007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Aloruh纯视觉诊断－图片结论版.pdf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7A1B5257-70D8-48AD-8AF3-80E783A9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B6EF4FED-7098-47B5-BBC9-2B1E095E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final report rendered and visually checked page by page</a:t>
            </a:r>
          </a:p>
        </p:txBody>
      </p:sp>
    </p:spTree>
    <p:extLst>
      <p:ext uri="{BB962C8B-B14F-4D97-AF65-F5344CB8AC3E}">
        <p14:creationId xmlns:p14="http://schemas.microsoft.com/office/powerpoint/2010/main" val="191370958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1BE9DAAA-177A-452F-85A3-1B855693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CODE VERBATIM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5AA754-335C-4A5A-AB6B-52EF9B93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附录A1/8：Terra完整Prompt — 通用规则＋维度1–3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16023EF-DE49-4604-8186-ACCBEF0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以下文本来自_taxonomy_prompt()；仅为适配页面人工换行，单词与标签未改写。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EB3E164-949D-422E-B3F0-5E164191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5" name="code-统一规则（完整）">
            <a:extLst xmlns:a="http://schemas.openxmlformats.org/drawingml/2006/main">
              <a:ext uri="{FF2B5EF4-FFF2-40B4-BE49-F238E27FC236}">
                <a16:creationId xmlns:a16="http://schemas.microsoft.com/office/drawing/2014/main" id="{D139F3BB-BBAB-4EE7-AA6D-5FEE52F5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统一规则（完整）">
            <a:extLst xmlns:a="http://schemas.openxmlformats.org/drawingml/2006/main">
              <a:ext uri="{FF2B5EF4-FFF2-40B4-BE49-F238E27FC236}">
                <a16:creationId xmlns:a16="http://schemas.microsoft.com/office/drawing/2014/main" id="{BB4B7DF5-3FE4-4C2C-BDE7-355D3005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统一规则（完整）</a:t>
            </a:r>
          </a:p>
        </p:txBody>
      </p:sp>
      <p:sp>
        <p:nvSpPr>
          <p:cNvPr id="7" name="code-body-统一规则（完整）">
            <a:extLst xmlns:a="http://schemas.openxmlformats.org/drawingml/2006/main">
              <a:ext uri="{FF2B5EF4-FFF2-40B4-BE49-F238E27FC236}">
                <a16:creationId xmlns:a16="http://schemas.microsoft.com/office/drawing/2014/main" id="{FED71AA4-332A-4E8E-B54C-C296B234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Analyze every numbered fashion image using exactly the controlled codes below. Use visible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and the supplied title/category only. Select UNKNOWN when a dimension is not observable,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and never combine UNKNOWN with another code. Do not infer ethnicity, health, attractiveness or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other sensitive traits. product_category must have exactly one value. Other dimensions may have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up to five values. Focus on the primary item sold; accessories belong in styling unless they are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primary product. Return every image once.</a:t>
            </a:r>
          </a:p>
        </p:txBody>
      </p:sp>
      <p:sp>
        <p:nvSpPr>
          <p:cNvPr id="8" name="code-受控标签字典 01–03 / 15">
            <a:extLst xmlns:a="http://schemas.openxmlformats.org/drawingml/2006/main">
              <a:ext uri="{FF2B5EF4-FFF2-40B4-BE49-F238E27FC236}">
                <a16:creationId xmlns:a16="http://schemas.microsoft.com/office/drawing/2014/main" id="{F1393626-3D88-4E3B-8A29-E2BED744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14800"/>
            <a:ext cx="11049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受控标签字典 01–03 / 15">
            <a:extLst xmlns:a="http://schemas.openxmlformats.org/drawingml/2006/main">
              <a:ext uri="{FF2B5EF4-FFF2-40B4-BE49-F238E27FC236}">
                <a16:creationId xmlns:a16="http://schemas.microsoft.com/office/drawing/2014/main" id="{20CC6D2E-4297-49AA-A138-2CC945A4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受控标签字典 01–03 / 15</a:t>
            </a:r>
          </a:p>
        </p:txBody>
      </p:sp>
      <p:sp>
        <p:nvSpPr>
          <p:cNvPr id="10" name="code-body-受控标签字典 01–03 / 15">
            <a:extLst xmlns:a="http://schemas.openxmlformats.org/drawingml/2006/main">
              <a:ext uri="{FF2B5EF4-FFF2-40B4-BE49-F238E27FC236}">
                <a16:creationId xmlns:a16="http://schemas.microsoft.com/office/drawing/2014/main" id="{C7A9CDA1-EB63-41FE-BD4C-4874EA8B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10668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product_category: DRESSES, TOPS, SKIRTS, TROUSERS, SHORTS, SWIMWEAR, OUTERWEAR, JEANS, JUMPSUITS, PLAYSUITS, SETS, LINGERIE, ACCESSORIES, SHOES, OTHER, UNKNOWN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silhouette_fit: BODYCON, FITTED, SLIM, REGULAR, RELAXED, OVERSIZED, A_LINE, STRAIGHT, FLARED, DRAPED, CORSETED, UNKNOWN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design_elements: BACKLESS, CUTOUT, HALTER, OFF_SHOULDER, STRAPLESS, SPAGHETTI_STRAP, LACE_UP, SLIT, RUFFLE, TIE_DETAIL, RUCHED, ASYMMETRIC, SHEER_PANEL, EMBELLISHED, PLEATED, UNKNOWN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6A8151EE-AC7D-4978-91A7-4581DF60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836DF559-166A-4F98-ACD4-96BE2951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3084316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D2EF2CAB-D07D-4BF6-A69B-2FFB452F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CODE VERBATIM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571C3B-BB79-4B5B-9858-60EE78DA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附录A2/8：Terra完整Prompt — 维度4–8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24E4125-29C4-4882-93F1-F2D6A7BF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这些维度行紧接在统一规则后面；它们是允许返回的代码集合，不是五次独立请求。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B44460-BC82-433C-BA63-2D5BB9E7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5" name="code-受控标签字典 04–08 / 15">
            <a:extLst xmlns:a="http://schemas.openxmlformats.org/drawingml/2006/main">
              <a:ext uri="{FF2B5EF4-FFF2-40B4-BE49-F238E27FC236}">
                <a16:creationId xmlns:a16="http://schemas.microsoft.com/office/drawing/2014/main" id="{A334F533-6C3D-41EE-9A67-DDAC9203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受控标签字典 04–08 / 15">
            <a:extLst xmlns:a="http://schemas.openxmlformats.org/drawingml/2006/main">
              <a:ext uri="{FF2B5EF4-FFF2-40B4-BE49-F238E27FC236}">
                <a16:creationId xmlns:a16="http://schemas.microsoft.com/office/drawing/2014/main" id="{BE98398C-913A-41BE-B9BA-358ADB25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受控标签字典 04–08 / 15</a:t>
            </a:r>
          </a:p>
        </p:txBody>
      </p:sp>
      <p:sp>
        <p:nvSpPr>
          <p:cNvPr id="7" name="code-body-受控标签字典 04–08 / 15">
            <a:extLst xmlns:a="http://schemas.openxmlformats.org/drawingml/2006/main">
              <a:ext uri="{FF2B5EF4-FFF2-40B4-BE49-F238E27FC236}">
                <a16:creationId xmlns:a16="http://schemas.microsoft.com/office/drawing/2014/main" id="{1DC081EB-712B-442C-99A5-99EE36B4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occasion: CASUAL, GOING_OUT, PARTY, DATE_NIGHT, VACATION, BEACH, POOL, WEDDING_GUEST, FESTIVAL, COMMUTE, FORMAL, HOME,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composition: FULL_BODY, THREE_QUARTER, HALF_BODY, CLOSE_UP, DETAIL, FLAT_LAY, PRODUCT_ONLY,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view_action: FRONT_VIEW, SIDE_VIEW, BACK_VIEW, TURNING_BACK, WALKING, SITTING, STANDING, MIRROR_SELFIE, HAIR_MOVED, LOOKING_AWAY, INTERACTING_WITH_SCENE,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selling_points: NECKLINE, SHOULDERS, BACK, WAIST, WAIST_HIP, LEGS, HEMLINE, SLEEVES, FABRIC_TEXTURE, DRAPE, PRINT, FULL_OUTFIT,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scene: STUDIO_NEUTRAL, HOME, MIRROR, BEDROOM, GARDEN, STREET, BEACH, POOL, PARTY, NIGHT, ARCHITECTURE, NATURE, OTHER, UNKNOWN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6980C0FA-7272-4671-88F2-85F4CBED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F746ADFB-6F85-4469-8453-52BCDDD9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34864032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48EEC30-4211-4ABA-89CC-2A72EC7B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CODE VERBATIM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549488-48F1-4083-9676-1074F457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附录A3/8：Terra完整Prompt — 维度9–12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7EA1C85-E0AE-4701-9095-979B98FC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长标签行按页面宽度自动换行；标签拼写与代码完全一致。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A2B4EAE-3CC5-489F-8A2A-58DEA080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5" name="code-受控标签字典 09–12 / 15">
            <a:extLst xmlns:a="http://schemas.openxmlformats.org/drawingml/2006/main">
              <a:ext uri="{FF2B5EF4-FFF2-40B4-BE49-F238E27FC236}">
                <a16:creationId xmlns:a16="http://schemas.microsoft.com/office/drawing/2014/main" id="{4F770A20-3B82-418F-9F70-1ACA160D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受控标签字典 09–12 / 15">
            <a:extLst xmlns:a="http://schemas.openxmlformats.org/drawingml/2006/main">
              <a:ext uri="{FF2B5EF4-FFF2-40B4-BE49-F238E27FC236}">
                <a16:creationId xmlns:a16="http://schemas.microsoft.com/office/drawing/2014/main" id="{1E116BC3-5735-40C9-985D-F99F0D5C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受控标签字典 09–12 / 15</a:t>
            </a:r>
          </a:p>
        </p:txBody>
      </p:sp>
      <p:sp>
        <p:nvSpPr>
          <p:cNvPr id="7" name="code-body-受控标签字典 09–12 / 15">
            <a:extLst xmlns:a="http://schemas.openxmlformats.org/drawingml/2006/main">
              <a:ext uri="{FF2B5EF4-FFF2-40B4-BE49-F238E27FC236}">
                <a16:creationId xmlns:a16="http://schemas.microsoft.com/office/drawing/2014/main" id="{879A6293-7493-459F-A6D5-F9582BB9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material_texture: KNIT, LACE, SATIN_LIKE, SILK_LIKE, DENIM, COTTON_LIKE, CHIFFON, MESH, SEQUIN, LEATHER_LIKE, RIBBED, CROCHET, PLEATED,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color_pattern: COLOR_BLACK, COLOR_WHITE, COLOR_GREY, COLOR_BEIGE, COLOR_BROWN, COLOR_RED, COLOR_PINK, COLOR_ORANGE, COLOR_YELLOW, COLOR_GREEN, COLOR_BLUE, COLOR_PURPLE, COLOR_METALLIC, COLOR_MULTI, PATTERN_SOLID, PATTERN_FLORAL, PATTERN_STRIPE, PATTERN_CHECK, PATTERN_ANIMAL, PATTERN_ABSTRACT, PATTERN_GRAPHIC,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visual_language: ECOMMERCE_CLEAN, EDITORIAL, LIFESTYLE, SOCIAL_UGC, ROMANTIC, VINTAGE, Y2K, MINIMAL, GLAMOROUS, SOFT_LIGHT, NATURAL_LIGHT, DIRECT_FLASH, WARM_TONE, COOL_TONE,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styling: SINGLE_ITEM, FULL_LOOK, LAYERED, ACCESSORIES_VISIBLE, HANDBAG, SHOES_VISIBLE, JEWELRY, MATCHING_SET, SWIM_COVERUP, UNKNOWN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4C6B0CEC-4DA2-45E5-A298-4515D186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2D88AE80-0728-465A-8833-3917AA41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5002104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BADE525D-9B30-40F6-ABF5-EE684F10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COMPLETE REQUEST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6E4CCC-27F3-44CB-A9BB-B79C742E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附录A4/8：Terra完整Prompt — 维度13–15＋请求封装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A242A5D-FA3B-4F26-88FC-2909DC14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至此通用规则与15个维度已完整列出；同一请求还会为每张图片追加上下文，并使用严格JSON Schema。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B7815F-C8AB-487D-A351-E0A19918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5" name="code-受控标签字典 13–15 / 15">
            <a:extLst xmlns:a="http://schemas.openxmlformats.org/drawingml/2006/main">
              <a:ext uri="{FF2B5EF4-FFF2-40B4-BE49-F238E27FC236}">
                <a16:creationId xmlns:a16="http://schemas.microsoft.com/office/drawing/2014/main" id="{98A3D598-DFA2-4257-A3B7-91583EAF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251460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受控标签字典 13–15 / 15">
            <a:extLst xmlns:a="http://schemas.openxmlformats.org/drawingml/2006/main">
              <a:ext uri="{FF2B5EF4-FFF2-40B4-BE49-F238E27FC236}">
                <a16:creationId xmlns:a16="http://schemas.microsoft.com/office/drawing/2014/main" id="{76B3630A-D97B-49E7-A31D-DA39E9B3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受控标签字典 13–15 / 15</a:t>
            </a:r>
          </a:p>
        </p:txBody>
      </p:sp>
      <p:sp>
        <p:nvSpPr>
          <p:cNvPr id="7" name="code-body-受控标签字典 13–15 / 15">
            <a:extLst xmlns:a="http://schemas.openxmlformats.org/drawingml/2006/main">
              <a:ext uri="{FF2B5EF4-FFF2-40B4-BE49-F238E27FC236}">
                <a16:creationId xmlns:a16="http://schemas.microsoft.com/office/drawing/2014/main" id="{48DD41E5-410A-4107-9018-396B268B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lighting: SOFT_DIFFUSED, NATURAL_DAYLIGHT, HARD_DIRECT, DIRECT_FLASH, WARM_AMBIENT, COOL_AMBIENT, LOW_KEY, HIGH_KEY, MIXED_LIGHT,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model_state: NO_MODEL, STANDING_POSE, WALKING_MOTION, SITTING_POSE, LOOKING_CAMERA, LOOKING_AWAY, FACE_CROPPED, MIRROR_SELFIE, INTERACTING,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graphic_overlay: NONE, TEXT_OVERLAY, PRICE_PROMOTION, LOGO_WATERMARK, COLLAGE, FRAME_BORDER, STICKER_GRAPHIC, UI_SCREENSHOT, UNKNOWN</a:t>
            </a:r>
          </a:p>
        </p:txBody>
      </p:sp>
      <p:sp>
        <p:nvSpPr>
          <p:cNvPr id="8" name="code-每图追加的真实上下文格式">
            <a:extLst xmlns:a="http://schemas.openxmlformats.org/drawingml/2006/main">
              <a:ext uri="{FF2B5EF4-FFF2-40B4-BE49-F238E27FC236}">
                <a16:creationId xmlns:a16="http://schemas.microsoft.com/office/drawing/2014/main" id="{4F499FAF-6C42-486D-8053-B5B10100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53721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每图追加的真实上下文格式">
            <a:extLst xmlns:a="http://schemas.openxmlformats.org/drawingml/2006/main">
              <a:ext uri="{FF2B5EF4-FFF2-40B4-BE49-F238E27FC236}">
                <a16:creationId xmlns:a16="http://schemas.microsoft.com/office/drawing/2014/main" id="{C1144BC9-9BD5-40C0-80B9-F19A375F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499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每图追加的真实上下文格式</a:t>
            </a:r>
          </a:p>
        </p:txBody>
      </p:sp>
      <p:sp>
        <p:nvSpPr>
          <p:cNvPr id="10" name="code-body-每图追加的真实上下文格式">
            <a:extLst xmlns:a="http://schemas.openxmlformats.org/drawingml/2006/main">
              <a:ext uri="{FF2B5EF4-FFF2-40B4-BE49-F238E27FC236}">
                <a16:creationId xmlns:a16="http://schemas.microsoft.com/office/drawing/2014/main" id="{0735EBAD-50EA-4810-A633-C171EA58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4991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IMAGE {index}; key={item.key}; title={title|unknown};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current_category={category|unknown}; position={position}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＋ input_image(detail=low)</a:t>
            </a:r>
          </a:p>
        </p:txBody>
      </p:sp>
      <p:sp>
        <p:nvSpPr>
          <p:cNvPr id="11" name="code-严格输出契约">
            <a:extLst xmlns:a="http://schemas.openxmlformats.org/drawingml/2006/main">
              <a:ext uri="{FF2B5EF4-FFF2-40B4-BE49-F238E27FC236}">
                <a16:creationId xmlns:a16="http://schemas.microsoft.com/office/drawing/2014/main" id="{7DE31413-2FF4-4EB8-BA5D-E1139324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05300"/>
            <a:ext cx="54483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de-title-严格输出契约">
            <a:extLst xmlns:a="http://schemas.openxmlformats.org/drawingml/2006/main">
              <a:ext uri="{FF2B5EF4-FFF2-40B4-BE49-F238E27FC236}">
                <a16:creationId xmlns:a16="http://schemas.microsoft.com/office/drawing/2014/main" id="{172EEEE2-39BD-4BAC-9EBA-F4357ADF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76750"/>
            <a:ext cx="506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严格输出契约</a:t>
            </a:r>
          </a:p>
        </p:txBody>
      </p:sp>
      <p:sp>
        <p:nvSpPr>
          <p:cNvPr id="13" name="code-body-严格输出契约">
            <a:extLst xmlns:a="http://schemas.openxmlformats.org/drawingml/2006/main">
              <a:ext uri="{FF2B5EF4-FFF2-40B4-BE49-F238E27FC236}">
                <a16:creationId xmlns:a16="http://schemas.microsoft.com/office/drawing/2014/main" id="{EB167006-FE50-48E7-B479-7943A0FC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57750"/>
            <a:ext cx="50673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items[]: i + tags{15 dimensions} + confidence{15 dimensions}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product_category exactly 1; other dimensions 1–5 values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每张输入图必须恰好返回一次；漏图、重复图、漏维度均失败。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B2D57B9D-5ED0-4CFF-B38C-AABB9E19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02B2A962-7EF0-4018-AA69-54DD50D2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01970247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17B453E4-AD15-418E-A144-1A64D042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EXPERIENCE 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D5D630-BCC8-4EA6-B8F0-69A9D274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附录A5/8：体验1 Sol完整Prompt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E979110-2242-4A31-9195-4741FE75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代码原文来自detailed_visual_analysis.py；固定筛选条件在末尾以JSON拼接。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C59725A-F0EC-4EE0-8E51-CB5CB4DB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5" name="code-_prompt(filters) 完整文本">
            <a:extLst xmlns:a="http://schemas.openxmlformats.org/drawingml/2006/main">
              <a:ext uri="{FF2B5EF4-FFF2-40B4-BE49-F238E27FC236}">
                <a16:creationId xmlns:a16="http://schemas.microsoft.com/office/drawing/2014/main" id="{94CFDE9D-66E8-4C8C-81AE-78B60654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_prompt(filters) 完整文本">
            <a:extLst xmlns:a="http://schemas.openxmlformats.org/drawingml/2006/main">
              <a:ext uri="{FF2B5EF4-FFF2-40B4-BE49-F238E27FC236}">
                <a16:creationId xmlns:a16="http://schemas.microsoft.com/office/drawing/2014/main" id="{330BE7B7-0331-4187-8F54-1541F3C2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_prompt(filters) 完整文本</a:t>
            </a:r>
          </a:p>
        </p:txBody>
      </p:sp>
      <p:sp>
        <p:nvSpPr>
          <p:cNvPr id="7" name="code-body-_prompt(filters) 完整文本">
            <a:extLst xmlns:a="http://schemas.openxmlformats.org/drawingml/2006/main">
              <a:ext uri="{FF2B5EF4-FFF2-40B4-BE49-F238E27FC236}">
                <a16:creationId xmlns:a16="http://schemas.microsoft.com/office/drawing/2014/main" id="{8D112E2B-4232-4C60-9CD4-98A310D8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你是一名电商女装视觉策略负责人。请对同一固定维度组合下的多店铺高清商品图做精细视觉分析，输出中文。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先写肉眼可见事实，再写解释；每个判断都要给 visible_cue。不要推断种族、健康、吸引力等敏感属性。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不要把构图相关性写成 CTR/CVR 因果；经营影响只能写成待 A/B 验证的假设。重点比较：场景、景别、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模特动作、光线、色彩、搭配、服装结构呈现、视觉意图、店铺一致性，并沉淀可复用的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构图-动作-卖点-场景 规则。固定筛选条件：{filters JSON}</a:t>
            </a:r>
          </a:p>
        </p:txBody>
      </p:sp>
      <p:sp>
        <p:nvSpPr>
          <p:cNvPr id="8" name="cod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B1A55873-D9AF-4205-B271-CE12B5AA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11049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D2708347-1FD1-420D-8147-CFAB763D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每图追加上下文</a:t>
            </a:r>
          </a:p>
        </p:txBody>
      </p:sp>
      <p:sp>
        <p:nvSpPr>
          <p:cNvPr id="10" name="code-body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5AD120CC-1DFA-4C84-AA5F-2734FE34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864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IMAGE {index}; store={store_id}; product={product_id}; title={title}; category={category}; pixels={width}x{height} ＋ input_image(detail=high)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0D537983-AE93-46C6-888A-D22216EC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0A19DD3D-59EB-4FD8-8596-7160E7EE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54211639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3EE6535-F608-4D73-A46A-BAEF7A7D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EXPERIENCE 2 OBSERVATIONS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49E9C1-F6A9-44D0-90AB-6108DD94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附录A6/8：体验2逐图 Sol完整Prompt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6DABF35-E177-4A2B-9F08-8CE33D75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该Prompt在每个8图批次重复使用；图片上下文保留角色、品牌和竞品证据入选原因。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94723EE-6353-4672-BCA4-25EF3FA4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sp>
        <p:nvSpPr>
          <p:cNvPr id="5" name="code-_image_prompt() 完整文本">
            <a:extLst xmlns:a="http://schemas.openxmlformats.org/drawingml/2006/main">
              <a:ext uri="{FF2B5EF4-FFF2-40B4-BE49-F238E27FC236}">
                <a16:creationId xmlns:a16="http://schemas.microsoft.com/office/drawing/2014/main" id="{79B86523-CAF3-46EF-9C40-AA638E2A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_image_prompt() 完整文本">
            <a:extLst xmlns:a="http://schemas.openxmlformats.org/drawingml/2006/main">
              <a:ext uri="{FF2B5EF4-FFF2-40B4-BE49-F238E27FC236}">
                <a16:creationId xmlns:a16="http://schemas.microsoft.com/office/drawing/2014/main" id="{DC2825AD-DD7A-4EA6-AB61-087A4F63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_image_prompt() 完整文本</a:t>
            </a:r>
          </a:p>
        </p:txBody>
      </p:sp>
      <p:sp>
        <p:nvSpPr>
          <p:cNvPr id="7" name="code-body-_image_prompt() 完整文本">
            <a:extLst xmlns:a="http://schemas.openxmlformats.org/drawingml/2006/main">
              <a:ext uri="{FF2B5EF4-FFF2-40B4-BE49-F238E27FC236}">
                <a16:creationId xmlns:a16="http://schemas.microsoft.com/office/drawing/2014/main" id="{6B2A61F0-CBE7-42E0-B9FC-FD6DDE06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你是女装品牌视觉诊断分析师。逐张分析高清商品图，先记录肉眼可见事实，再写优缺点。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不得使用销量、曝光、点击、转化或ROI，不得推断敏感属性。旧分类标签仅是上下文，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不能替代本次观察。证据线索必须能在图片中复核。竞品图只用于对照，不代表目标店铺。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竞品图由全量视觉维度分布分层选出；selection_reasons说明其典型或边界证据角色。</a:t>
            </a:r>
          </a:p>
        </p:txBody>
      </p:sp>
      <p:sp>
        <p:nvSpPr>
          <p:cNvPr id="8" name="cod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7036270C-6C2C-4FB2-9F4F-C4043F21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9650"/>
            <a:ext cx="11049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de-title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E8441F6C-A3D5-439D-935B-AABCA09C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每图追加上下文</a:t>
            </a:r>
          </a:p>
        </p:txBody>
      </p:sp>
      <p:sp>
        <p:nvSpPr>
          <p:cNvPr id="10" name="code-body-每图追加上下文">
            <a:extLst xmlns:a="http://schemas.openxmlformats.org/drawingml/2006/main">
              <a:ext uri="{FF2B5EF4-FFF2-40B4-BE49-F238E27FC236}">
                <a16:creationId xmlns:a16="http://schemas.microsoft.com/office/drawing/2014/main" id="{2E12D152-917D-48CB-B921-957F4D14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721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{image_id, store_id, product_id, category, role, selection_reasons}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＋ input_image(detail=high)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严格Schema要求每张图返回10项observable、visual_role、strengths、weaknesses、evidence_cues、confidence。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8A26169E-1454-4E77-979E-72B0C3C0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ooter">
            <a:extLst xmlns:a="http://schemas.openxmlformats.org/drawingml/2006/main">
              <a:ext uri="{FF2B5EF4-FFF2-40B4-BE49-F238E27FC236}">
                <a16:creationId xmlns:a16="http://schemas.microsoft.com/office/drawing/2014/main" id="{FD99AE9A-C5D3-4B29-88B3-00FEEC6C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5890077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3CB821C7-9ADC-4564-8FD5-811ACB28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EXPERIENCE 2 SYNTHESIS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82EE42-360E-4104-BC7E-028E6CBB7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附录A7/8：体验2五章汇总 Sol完整Prompt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51BBDC7-CAD0-4EB0-A6BF-4364FD25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该Prompt只调用一次；末尾拼接scope JSON与完整EVIDENCE JSON，五章在同一响应中返回。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2990D9-21A1-473A-8046-409DE0A4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5" name="code-_synthesis_prompt(scope) 完整文本">
            <a:extLst xmlns:a="http://schemas.openxmlformats.org/drawingml/2006/main">
              <a:ext uri="{FF2B5EF4-FFF2-40B4-BE49-F238E27FC236}">
                <a16:creationId xmlns:a16="http://schemas.microsoft.com/office/drawing/2014/main" id="{142668C9-7BC4-49D1-AC72-658462CF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4591050"/>
          </a:xfrm>
          <a:prstGeom xmlns:a="http://schemas.openxmlformats.org/drawingml/2006/main" prst="roundRect">
            <a:avLst>
              <a:gd name="adj" fmla="val 166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_synthesis_prompt(scope) 完整文本">
            <a:extLst xmlns:a="http://schemas.openxmlformats.org/drawingml/2006/main">
              <a:ext uri="{FF2B5EF4-FFF2-40B4-BE49-F238E27FC236}">
                <a16:creationId xmlns:a16="http://schemas.microsoft.com/office/drawing/2014/main" id="{7D96BF42-114A-4136-84FA-112AE100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_synthesis_prompt(scope) 完整文本</a:t>
            </a:r>
          </a:p>
        </p:txBody>
      </p:sp>
      <p:sp>
        <p:nvSpPr>
          <p:cNvPr id="7" name="code-body-_synthesis_prompt(scope) 完整文本">
            <a:extLst xmlns:a="http://schemas.openxmlformats.org/drawingml/2006/main">
              <a:ext uri="{FF2B5EF4-FFF2-40B4-BE49-F238E27FC236}">
                <a16:creationId xmlns:a16="http://schemas.microsoft.com/office/drawing/2014/main" id="{2796D94A-38C3-44F6-9D1A-1E5E3ADA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386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基于逐图观察与批次模式，生成模仿品牌视觉诊断成品PDF结构的专项分析草稿。每条结论必须说明推导方法，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列支持图、反例图、代表图、样本数和观察字段；不得引用未提供的图片ID。目标店铺全量图片用于结论，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竞品高清分层证据集只用于视觉差距。竞品模式判断必须以competitor_evidence中的全量维度分布为分母，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高清代表图只用于复核典型模式与边界反例，不得把代表图数量冒充全量占比。competitive_gap必须分别包含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Princess Polly、Motel Rocks、PrettyLittleThing三家品牌，每家至少一条独立结论；结论或推导必须写出品牌名，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支持图或代表图必须来自该品牌。不得写销售、流量、点击、转化或ROI结论。五个章节必须各出现一次：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brand_positioning=品牌视觉定位校准；product_display=商品展示分析；store_visual_audit=店铺视觉审计；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competitive_gap=竞品视觉差距；visual_upgrade=视觉升级方向。范围：{scope JSON}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EVIDENCE:{complete evidence JSON}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350E61AA-1D2B-4F9A-99BA-70273CBF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80AD21D5-068E-43A5-82BC-78019132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08247420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15EA6813-385E-4AD5-98EC-72BC5DF4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PROMPT APPENDIX · SECTION REVISION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30F0F4-4A51-4650-94E1-0F41D808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附录A8/8：单章修订 Sol完整Prompt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97864E6-194D-463C-B01B-4FEE32F8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用户判定某章不满意时，只重跑该section；其他四章不重新分析，已完成逐图观察也不重做。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E96DDC7-769C-445B-8721-5CC880E7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5" name="code-revise(section, suggestion, evidence, scope) 完整文本">
            <a:extLst xmlns:a="http://schemas.openxmlformats.org/drawingml/2006/main">
              <a:ext uri="{FF2B5EF4-FFF2-40B4-BE49-F238E27FC236}">
                <a16:creationId xmlns:a16="http://schemas.microsoft.com/office/drawing/2014/main" id="{F62739C8-FFE4-412C-A0B2-9CE0286F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04900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de-title-revise(section, suggestion, evidence, scope) 完整文本">
            <a:extLst xmlns:a="http://schemas.openxmlformats.org/drawingml/2006/main">
              <a:ext uri="{FF2B5EF4-FFF2-40B4-BE49-F238E27FC236}">
                <a16:creationId xmlns:a16="http://schemas.microsoft.com/office/drawing/2014/main" id="{1746EA80-85C0-4AA5-B907-3CBB8B80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revise(section, suggestion, evidence, scope) 完整文本</a:t>
            </a:r>
          </a:p>
        </p:txBody>
      </p:sp>
      <p:sp>
        <p:nvSpPr>
          <p:cNvPr id="7" name="code-body-revise(section, suggestion, evidence, scope) 完整文本">
            <a:extLst xmlns:a="http://schemas.openxmlformats.org/drawingml/2006/main">
              <a:ext uri="{FF2B5EF4-FFF2-40B4-BE49-F238E27FC236}">
                <a16:creationId xmlns:a16="http://schemas.microsoft.com/office/drawing/2014/main" id="{4CFB3B31-3B48-4863-8238-7464E099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066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根据审核意见重新分析一个视觉诊断章节。只能使用给定证据，不得编造图片ID。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保留可支持的结论，修改证据不足或表达不清的部分。输出中文。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SECTION={current section JSON}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REVIEW={user suggestion}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SCOPE={scope JSON}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EVIDENCE={complete evidence JSON}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3CC04A54-6006-42E2-8224-F50C429D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1049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1B1FF24-2A22-45E8-9786-4DC6C3A4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修订仍使用单章严格Schema，并再次检查图片ID；若修订competitive_gap，还会再次执行三品牌点名与品牌证据归属校验。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B356EB73-A60B-42D1-9D6A-D60BB2F7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ooter">
            <a:extLst xmlns:a="http://schemas.openxmlformats.org/drawingml/2006/main">
              <a:ext uri="{FF2B5EF4-FFF2-40B4-BE49-F238E27FC236}">
                <a16:creationId xmlns:a16="http://schemas.microsoft.com/office/drawing/2014/main" id="{8332B45B-66D5-4FD8-9A92-5FF9DEDA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70756129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266E702-DCC1-4E8F-BE08-5E91972E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39E4F60-37A1-40E0-8835-596049E8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下一步，应该把它变成什么？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B7DCE6A-4522-4D56-AFC5-7089EAEE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AE90FCD-BAED-41E3-93AE-2FB3A839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240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采集边界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C8EE433-8CC8-44E8-BD69-E5001A7B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哪些站点继续自动化，哪些登录与验证码环节必须保留人工确认？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E179C7BA-AAA1-4A50-BD81-F604EC5C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98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83F3951-AC43-4897-85AC-4C51E45C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A3A7120-A88B-484D-AC13-A8858E0C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33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维度体系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4609DFB-7923-4CBB-BD67-62366CF9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现有15维是否足够支持视觉决策，还是需要新增品牌专属维度？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799622A8-5F1E-4713-82F9-966637F1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04BA333-831C-41FB-9BF7-4B5FDD72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38B7884-B247-4573-9D4C-A61A31EC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433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使用分工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C1FA680-B013-4D86-808F-49DE768A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探索型组合分析与报告型整体分析，分别应该由谁、在何时使用？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13536DD6-C86C-4ACD-9815-0C54A6A9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178AEE5-8C74-424E-866F-7BA5C313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E09D921-B240-4E7B-9801-CACADC0C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53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交付闭环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822C2BE-E50B-49C5-BC02-D0BCF2D9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339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PDF止于结论，还是继续连接拍摄brief、图序规范与效果KPI？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0CADD0F-02E7-42E8-A5C7-CC37EAB3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7A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7A82"/>
                </a:solidFill>
                <a:latin typeface="Arial"/>
                <a:ea typeface="Arial"/>
                <a:cs typeface="Arial"/>
              </a:rPr>
              <a:t>Fashion Scope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755D3B3-E730-40BB-866D-C684C4BE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67A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7A82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1986904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2026-08-26T07:13:04.9150000Z</dcterms:created>
  <dcterms:modified xsi:type="dcterms:W3CDTF">2026-08-26T07:13:04.9150000Z</dcterms:modified>
</coreProperties>
</file>